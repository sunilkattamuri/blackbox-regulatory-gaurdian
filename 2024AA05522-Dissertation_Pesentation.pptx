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4"/>
  </p:notesMasterIdLst>
  <p:sldIdLst>
    <p:sldId id="256" r:id="rId2"/>
    <p:sldId id="257" r:id="rId3"/>
    <p:sldId id="283" r:id="rId4"/>
    <p:sldId id="284" r:id="rId5"/>
    <p:sldId id="285" r:id="rId6"/>
    <p:sldId id="286" r:id="rId7"/>
    <p:sldId id="287" r:id="rId8"/>
    <p:sldId id="288" r:id="rId9"/>
    <p:sldId id="261" r:id="rId10"/>
    <p:sldId id="289" r:id="rId11"/>
    <p:sldId id="263" r:id="rId12"/>
    <p:sldId id="264" r:id="rId13"/>
    <p:sldId id="265" r:id="rId14"/>
    <p:sldId id="266" r:id="rId15"/>
    <p:sldId id="267" r:id="rId16"/>
    <p:sldId id="290" r:id="rId17"/>
    <p:sldId id="269" r:id="rId18"/>
    <p:sldId id="270" r:id="rId19"/>
    <p:sldId id="271" r:id="rId20"/>
    <p:sldId id="272" r:id="rId21"/>
    <p:sldId id="273" r:id="rId22"/>
    <p:sldId id="274" r:id="rId23"/>
    <p:sldId id="275" r:id="rId24"/>
    <p:sldId id="276" r:id="rId25"/>
    <p:sldId id="277" r:id="rId26"/>
    <p:sldId id="292" r:id="rId27"/>
    <p:sldId id="278" r:id="rId28"/>
    <p:sldId id="279" r:id="rId29"/>
    <p:sldId id="280" r:id="rId30"/>
    <p:sldId id="291" r:id="rId31"/>
    <p:sldId id="281" r:id="rId32"/>
    <p:sldId id="282" r:id="rId33"/>
  </p:sldIdLst>
  <p:sldSz cx="12192000" cy="6858000"/>
  <p:notesSz cx="6858000" cy="9144000"/>
  <p:embeddedFontLst>
    <p:embeddedFont>
      <p:font typeface="Urbanist ExtraBold" charset="0"/>
      <p:bold r:id="rId35"/>
      <p:boldItalic r:id="rId36"/>
    </p:embeddedFont>
    <p:embeddedFont>
      <p:font typeface="Urbanist Medium" charset="0"/>
      <p:regular r:id="rId37"/>
      <p:bold r:id="rId38"/>
      <p:italic r:id="rId39"/>
      <p:boldItalic r:id="rId40"/>
    </p:embeddedFont>
    <p:embeddedFont>
      <p:font typeface="Urbanist" charset="0"/>
      <p:bold r:id="rId41"/>
      <p:boldItalic r:id="rId42"/>
    </p:embeddedFont>
    <p:embeddedFont>
      <p:font typeface="Calibri" pitchFamily="34" charset="0"/>
      <p:regular r:id="rId43"/>
      <p:bold r:id="rId44"/>
      <p:italic r:id="rId45"/>
      <p:boldItalic r:id="rId46"/>
    </p:embeddedFont>
    <p:embeddedFont>
      <p:font typeface="Poppins" charset="0"/>
      <p:regular r:id="rId47"/>
      <p:bold r:id="rId48"/>
      <p:italic r:id="rId49"/>
      <p:boldItalic r:id="rId50"/>
    </p:embeddedFont>
    <p:embeddedFont>
      <p:font typeface="Inter SemiBold" charset="0"/>
      <p:regular r:id="rId51"/>
      <p:bold r:id="rId52"/>
      <p:italic r:id="rId53"/>
      <p:boldItalic r:id="rId54"/>
    </p:embeddedFont>
    <p:embeddedFont>
      <p:font typeface="Inter" charset="0"/>
      <p:regular r:id="rId55"/>
      <p:bold r:id="rId56"/>
      <p:italic r:id="rId57"/>
      <p:boldItalic r:id="rId58"/>
    </p:embeddedFont>
    <p:embeddedFont>
      <p:font typeface="Poppins SemiBold" charset="0"/>
      <p:regular r:id="rId59"/>
      <p:bold r:id="rId60"/>
      <p:italic r:id="rId61"/>
      <p:boldItalic r:id="rId62"/>
    </p:embeddedFont>
    <p:embeddedFont>
      <p:font typeface="Poppins ExtraBold" charset="0"/>
      <p:bold r:id="rId63"/>
      <p:boldItalic r:id="rId64"/>
    </p:embeddedFont>
    <p:embeddedFont>
      <p:font typeface="Inter Medium" charset="0"/>
      <p:regular r:id="rId65"/>
      <p:bold r:id="rId66"/>
      <p:italic r:id="rId67"/>
      <p:boldItalic r:id="rId68"/>
    </p:embeddedFont>
    <p:embeddedFont>
      <p:font typeface="Urbanist SemiBold" charset="0"/>
      <p:regular r:id="rId69"/>
      <p:bold r:id="rId70"/>
      <p:italic r:id="rId71"/>
      <p:boldItalic r:id="rId72"/>
    </p:embeddedFont>
    <p:embeddedFont>
      <p:font typeface="Fira Code Medium" charset="0"/>
      <p:regular r:id="rId73"/>
      <p:bold r:id="rId74"/>
    </p:embeddedFont>
    <p:embeddedFont>
      <p:font typeface="Fira Code" charset="0"/>
      <p:bold r:id="rId75"/>
    </p:embeddedFont>
    <p:embeddedFont>
      <p:font typeface="Fira Code SemiBold" charset="0"/>
      <p:regular r:id="rId76"/>
      <p:bold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C249B67-7DB8-415B-95D0-D5DF70AE9054}">
  <a:tblStyle styleId="{FC249B67-7DB8-415B-95D0-D5DF70AE905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29"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font" Target="fonts/font21.fntdata"/><Relationship Id="rId63" Type="http://schemas.openxmlformats.org/officeDocument/2006/relationships/font" Target="fonts/font29.fntdata"/><Relationship Id="rId68" Type="http://schemas.openxmlformats.org/officeDocument/2006/relationships/font" Target="fonts/font34.fntdata"/><Relationship Id="rId76" Type="http://schemas.openxmlformats.org/officeDocument/2006/relationships/font" Target="fonts/font42.fntdata"/><Relationship Id="rId7" Type="http://schemas.openxmlformats.org/officeDocument/2006/relationships/slide" Target="slides/slide6.xml"/><Relationship Id="rId71" Type="http://schemas.openxmlformats.org/officeDocument/2006/relationships/font" Target="fonts/font3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font" Target="fonts/font24.fntdata"/><Relationship Id="rId66" Type="http://schemas.openxmlformats.org/officeDocument/2006/relationships/font" Target="fonts/font32.fntdata"/><Relationship Id="rId74" Type="http://schemas.openxmlformats.org/officeDocument/2006/relationships/font" Target="fonts/font40.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2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 Id="rId60" Type="http://schemas.openxmlformats.org/officeDocument/2006/relationships/font" Target="fonts/font26.fntdata"/><Relationship Id="rId65" Type="http://schemas.openxmlformats.org/officeDocument/2006/relationships/font" Target="fonts/font31.fntdata"/><Relationship Id="rId73" Type="http://schemas.openxmlformats.org/officeDocument/2006/relationships/font" Target="fonts/font39.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font" Target="fonts/font22.fntdata"/><Relationship Id="rId64" Type="http://schemas.openxmlformats.org/officeDocument/2006/relationships/font" Target="fonts/font30.fntdata"/><Relationship Id="rId69" Type="http://schemas.openxmlformats.org/officeDocument/2006/relationships/font" Target="fonts/font35.fntdata"/><Relationship Id="rId77" Type="http://schemas.openxmlformats.org/officeDocument/2006/relationships/font" Target="fonts/font43.fntdata"/><Relationship Id="rId8" Type="http://schemas.openxmlformats.org/officeDocument/2006/relationships/slide" Target="slides/slide7.xml"/><Relationship Id="rId51" Type="http://schemas.openxmlformats.org/officeDocument/2006/relationships/font" Target="fonts/font17.fntdata"/><Relationship Id="rId72" Type="http://schemas.openxmlformats.org/officeDocument/2006/relationships/font" Target="fonts/font38.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font" Target="fonts/font25.fntdata"/><Relationship Id="rId67" Type="http://schemas.openxmlformats.org/officeDocument/2006/relationships/font" Target="fonts/font33.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font" Target="fonts/font20.fntdata"/><Relationship Id="rId62" Type="http://schemas.openxmlformats.org/officeDocument/2006/relationships/font" Target="fonts/font28.fntdata"/><Relationship Id="rId70" Type="http://schemas.openxmlformats.org/officeDocument/2006/relationships/font" Target="fonts/font36.fntdata"/><Relationship Id="rId75" Type="http://schemas.openxmlformats.org/officeDocument/2006/relationships/font" Target="fonts/font4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f0a033aed9_0_1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f0a033aed9_0_1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f965d69066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f965d69066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f0a033aed9_0_16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f0a033aed9_0_1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8" name="Google Shape;38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f0a033aed9_0_19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f0a033aed9_0_19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7" name="Google Shape;51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f964d7c846_0_88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3f964d7c846_0_8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f965d69066_0_5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3f965d69066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1" name="Google Shape;56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f965d69066_0_8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f965d69066_0_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8" name="Google Shape;628;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1" name="Google Shape;65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f0a033aed9_0_2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f0a033aed9_0_2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5" name="Google Shape;665;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5" name="Google Shape;675;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3f965d69066_0_66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3f965d69066_0_6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3f0a033aed9_0_3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3f0a033aed9_0_3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8" name="Google Shape;73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3" name="Google Shape;75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f965d69066_7_0)">
  <p:cSld name="Generated (g3f965d69066_7_0)">
    <p:spTree>
      <p:nvGrpSpPr>
        <p:cNvPr id="1" name="Shape 8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Generated (g3f0a033aed9_7_0)">
  <p:cSld name="Generated (g3f0a033aed9_7_0)">
    <p:spTree>
      <p:nvGrpSpPr>
        <p:cNvPr id="1"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6.jpe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png"/><Relationship Id="rId7"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24.png"/><Relationship Id="rId4" Type="http://schemas.openxmlformats.org/officeDocument/2006/relationships/image" Target="../media/image46.png"/><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4"/>
        <p:cNvGrpSpPr/>
        <p:nvPr/>
      </p:nvGrpSpPr>
      <p:grpSpPr>
        <a:xfrm>
          <a:off x="0" y="0"/>
          <a:ext cx="0" cy="0"/>
          <a:chOff x="0" y="0"/>
          <a:chExt cx="0" cy="0"/>
        </a:xfrm>
      </p:grpSpPr>
      <p:pic>
        <p:nvPicPr>
          <p:cNvPr id="85" name="Google Shape;85;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6" name="Google Shape;86;p14"/>
          <p:cNvGrpSpPr/>
          <p:nvPr/>
        </p:nvGrpSpPr>
        <p:grpSpPr>
          <a:xfrm>
            <a:off x="4667250" y="1000125"/>
            <a:ext cx="2857500" cy="362100"/>
            <a:chOff x="4667250" y="1000125"/>
            <a:chExt cx="2857500" cy="362100"/>
          </a:xfrm>
        </p:grpSpPr>
        <p:sp>
          <p:nvSpPr>
            <p:cNvPr id="87" name="Google Shape;87;p14"/>
            <p:cNvSpPr/>
            <p:nvPr/>
          </p:nvSpPr>
          <p:spPr>
            <a:xfrm>
              <a:off x="4667250" y="1000125"/>
              <a:ext cx="2857500" cy="362100"/>
            </a:xfrm>
            <a:prstGeom prst="roundRect">
              <a:avLst>
                <a:gd name="adj" fmla="val 50000"/>
              </a:avLst>
            </a:prstGeom>
            <a:solidFill>
              <a:srgbClr val="F0F9FF"/>
            </a:solidFill>
            <a:ln w="9525" cap="flat" cmpd="sng">
              <a:solidFill>
                <a:srgbClr val="BAE6FD"/>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8" name="Google Shape;88;p14"/>
            <p:cNvSpPr txBox="1"/>
            <p:nvPr/>
          </p:nvSpPr>
          <p:spPr>
            <a:xfrm>
              <a:off x="4667250" y="1000125"/>
              <a:ext cx="2857500" cy="362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0" dirty="0" smtClean="0">
                  <a:solidFill>
                    <a:srgbClr val="0369A1"/>
                  </a:solidFill>
                  <a:latin typeface="Urbanist ExtraBold"/>
                  <a:ea typeface="Urbanist ExtraBold"/>
                  <a:cs typeface="Urbanist ExtraBold"/>
                  <a:sym typeface="Urbanist ExtraBold"/>
                </a:rPr>
                <a:t>DISSERTATION</a:t>
              </a:r>
              <a:endParaRPr sz="1100" b="0" dirty="0">
                <a:solidFill>
                  <a:srgbClr val="0369A1"/>
                </a:solidFill>
                <a:latin typeface="Urbanist ExtraBold"/>
                <a:ea typeface="Urbanist ExtraBold"/>
                <a:cs typeface="Urbanist ExtraBold"/>
                <a:sym typeface="Urbanist ExtraBold"/>
              </a:endParaRPr>
            </a:p>
          </p:txBody>
        </p:sp>
      </p:grpSp>
      <p:sp>
        <p:nvSpPr>
          <p:cNvPr id="89" name="Google Shape;89;p14"/>
          <p:cNvSpPr txBox="1"/>
          <p:nvPr/>
        </p:nvSpPr>
        <p:spPr>
          <a:xfrm>
            <a:off x="762000" y="1619250"/>
            <a:ext cx="10668000" cy="646500"/>
          </a:xfrm>
          <a:prstGeom prst="rect">
            <a:avLst/>
          </a:prstGeom>
          <a:solidFill>
            <a:srgbClr val="000000">
              <a:alpha val="0"/>
            </a:srgbClr>
          </a:solidFill>
          <a:ln>
            <a:noFill/>
          </a:ln>
        </p:spPr>
        <p:txBody>
          <a:bodyPr spcFirstLastPara="1" wrap="square" lIns="0" tIns="0" rIns="0" bIns="0" anchor="t" anchorCtr="0">
            <a:spAutoFit/>
          </a:bodyPr>
          <a:lstStyle/>
          <a:p>
            <a:pPr marL="0" lvl="0" indent="0" algn="ctr" rtl="0">
              <a:spcBef>
                <a:spcPts val="0"/>
              </a:spcBef>
              <a:spcAft>
                <a:spcPts val="0"/>
              </a:spcAft>
              <a:buNone/>
            </a:pPr>
            <a:r>
              <a:rPr lang="en-US" sz="4200" b="0">
                <a:solidFill>
                  <a:srgbClr val="0F172A"/>
                </a:solidFill>
                <a:latin typeface="Urbanist ExtraBold"/>
                <a:ea typeface="Urbanist ExtraBold"/>
                <a:cs typeface="Urbanist ExtraBold"/>
                <a:sym typeface="Urbanist ExtraBold"/>
              </a:rPr>
              <a:t>From Black Box to Regulatory Guardian</a:t>
            </a:r>
            <a:endParaRPr sz="4200" b="0">
              <a:solidFill>
                <a:srgbClr val="0F172A"/>
              </a:solidFill>
              <a:latin typeface="Urbanist ExtraBold"/>
              <a:ea typeface="Urbanist ExtraBold"/>
              <a:cs typeface="Urbanist ExtraBold"/>
              <a:sym typeface="Urbanist ExtraBold"/>
            </a:endParaRPr>
          </a:p>
        </p:txBody>
      </p:sp>
      <p:sp>
        <p:nvSpPr>
          <p:cNvPr id="90" name="Google Shape;90;p14"/>
          <p:cNvSpPr txBox="1"/>
          <p:nvPr/>
        </p:nvSpPr>
        <p:spPr>
          <a:xfrm>
            <a:off x="952500" y="2428875"/>
            <a:ext cx="10287000" cy="492600"/>
          </a:xfrm>
          <a:prstGeom prst="rect">
            <a:avLst/>
          </a:prstGeom>
          <a:solidFill>
            <a:srgbClr val="000000">
              <a:alpha val="0"/>
            </a:srgbClr>
          </a:solidFill>
          <a:ln>
            <a:noFill/>
          </a:ln>
        </p:spPr>
        <p:txBody>
          <a:bodyPr spcFirstLastPara="1" wrap="square" lIns="0" tIns="0" rIns="0" bIns="0" anchor="t" anchorCtr="0">
            <a:spAutoFit/>
          </a:bodyPr>
          <a:lstStyle/>
          <a:p>
            <a:pPr marL="0" lvl="0" indent="0" algn="ctr" rtl="0">
              <a:spcBef>
                <a:spcPts val="0"/>
              </a:spcBef>
              <a:spcAft>
                <a:spcPts val="0"/>
              </a:spcAft>
              <a:buNone/>
            </a:pPr>
            <a:r>
              <a:rPr lang="en-US" sz="1600" b="0">
                <a:solidFill>
                  <a:srgbClr val="475569"/>
                </a:solidFill>
                <a:latin typeface="Urbanist Medium"/>
                <a:ea typeface="Urbanist Medium"/>
                <a:cs typeface="Urbanist Medium"/>
                <a:sym typeface="Urbanist Medium"/>
              </a:rPr>
              <a:t>An Explainable, Guardrailed Agentic AI Platform for Multi-Modal Banking Contract Review and Automated Regulatory Lifecycle Management (LRR)</a:t>
            </a:r>
            <a:endParaRPr sz="1600" b="0">
              <a:solidFill>
                <a:srgbClr val="475569"/>
              </a:solidFill>
              <a:latin typeface="Urbanist Medium"/>
              <a:ea typeface="Urbanist Medium"/>
              <a:cs typeface="Urbanist Medium"/>
              <a:sym typeface="Urbanist Medium"/>
            </a:endParaRPr>
          </a:p>
        </p:txBody>
      </p:sp>
      <p:grpSp>
        <p:nvGrpSpPr>
          <p:cNvPr id="91" name="Google Shape;91;p14"/>
          <p:cNvGrpSpPr/>
          <p:nvPr/>
        </p:nvGrpSpPr>
        <p:grpSpPr>
          <a:xfrm>
            <a:off x="2381250" y="3695700"/>
            <a:ext cx="7601100" cy="1905000"/>
            <a:chOff x="2381250" y="3695700"/>
            <a:chExt cx="7601100" cy="1905000"/>
          </a:xfrm>
        </p:grpSpPr>
        <p:cxnSp>
          <p:nvCxnSpPr>
            <p:cNvPr id="92" name="Google Shape;92;p14"/>
            <p:cNvCxnSpPr/>
            <p:nvPr/>
          </p:nvCxnSpPr>
          <p:spPr>
            <a:xfrm>
              <a:off x="2381250" y="3714750"/>
              <a:ext cx="0" cy="1809600"/>
            </a:xfrm>
            <a:prstGeom prst="straightConnector1">
              <a:avLst/>
            </a:prstGeom>
            <a:solidFill>
              <a:srgbClr val="FFFFFF"/>
            </a:solidFill>
            <a:ln w="28575" cap="rnd" cmpd="sng">
              <a:solidFill>
                <a:srgbClr val="0D9488"/>
              </a:solidFill>
              <a:prstDash val="solid"/>
              <a:round/>
              <a:headEnd type="none" w="sm" len="sm"/>
              <a:tailEnd type="none" w="sm" len="sm"/>
            </a:ln>
          </p:spPr>
        </p:cxnSp>
        <p:sp>
          <p:nvSpPr>
            <p:cNvPr id="93" name="Google Shape;93;p14"/>
            <p:cNvSpPr txBox="1"/>
            <p:nvPr/>
          </p:nvSpPr>
          <p:spPr>
            <a:xfrm>
              <a:off x="2552700" y="3695700"/>
              <a:ext cx="3333900" cy="1905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050" b="0">
                  <a:solidFill>
                    <a:srgbClr val="0D9488"/>
                  </a:solidFill>
                  <a:latin typeface="Urbanist ExtraBold"/>
                  <a:ea typeface="Urbanist ExtraBold"/>
                  <a:cs typeface="Urbanist ExtraBold"/>
                  <a:sym typeface="Urbanist ExtraBold"/>
                </a:rPr>
                <a:t>CANDIDATE INFORMATION</a:t>
              </a:r>
              <a:endParaRPr sz="1050" b="0">
                <a:solidFill>
                  <a:srgbClr val="0D9488"/>
                </a:solidFill>
                <a:latin typeface="Urbanist ExtraBold"/>
                <a:ea typeface="Urbanist ExtraBold"/>
                <a:cs typeface="Urbanist ExtraBold"/>
                <a:sym typeface="Urbanist ExtraBold"/>
              </a:endParaRPr>
            </a:p>
            <a:p>
              <a:pPr marL="0" lvl="0" indent="0" algn="l" rtl="0">
                <a:spcBef>
                  <a:spcPts val="750"/>
                </a:spcBef>
                <a:spcAft>
                  <a:spcPts val="0"/>
                </a:spcAft>
                <a:buNone/>
              </a:pPr>
              <a:r>
                <a:rPr lang="en-US" sz="1700" b="1">
                  <a:solidFill>
                    <a:srgbClr val="0F172A"/>
                  </a:solidFill>
                  <a:latin typeface="Urbanist"/>
                  <a:ea typeface="Urbanist"/>
                  <a:cs typeface="Urbanist"/>
                  <a:sym typeface="Urbanist"/>
                </a:rPr>
                <a:t>Kattamuri Sunil Kumar</a:t>
              </a:r>
              <a:endParaRPr sz="1050" b="0">
                <a:solidFill>
                  <a:srgbClr val="0D9488"/>
                </a:solidFill>
                <a:latin typeface="Urbanist ExtraBold"/>
                <a:ea typeface="Urbanist ExtraBold"/>
                <a:cs typeface="Urbanist ExtraBold"/>
                <a:sym typeface="Urbanist ExtraBold"/>
              </a:endParaRPr>
            </a:p>
            <a:p>
              <a:pPr marL="0" lvl="0" indent="0" algn="l" rtl="0">
                <a:spcBef>
                  <a:spcPts val="600"/>
                </a:spcBef>
                <a:spcAft>
                  <a:spcPts val="0"/>
                </a:spcAft>
                <a:buNone/>
              </a:pPr>
              <a:r>
                <a:rPr lang="en-US" sz="1250" b="0">
                  <a:solidFill>
                    <a:srgbClr val="475569"/>
                  </a:solidFill>
                  <a:latin typeface="Urbanist Medium"/>
                  <a:ea typeface="Urbanist Medium"/>
                  <a:cs typeface="Urbanist Medium"/>
                  <a:sym typeface="Urbanist Medium"/>
                </a:rPr>
                <a:t>BITS ID: 2024AA05522</a:t>
              </a:r>
              <a:endParaRPr sz="1050" b="0">
                <a:solidFill>
                  <a:srgbClr val="0D9488"/>
                </a:solidFill>
                <a:latin typeface="Urbanist ExtraBold"/>
                <a:ea typeface="Urbanist ExtraBold"/>
                <a:cs typeface="Urbanist ExtraBold"/>
                <a:sym typeface="Urbanist ExtraBold"/>
              </a:endParaRPr>
            </a:p>
            <a:p>
              <a:pPr marL="0" lvl="0" indent="0" algn="l" rtl="0">
                <a:spcBef>
                  <a:spcPts val="300"/>
                </a:spcBef>
                <a:spcAft>
                  <a:spcPts val="750"/>
                </a:spcAft>
                <a:buNone/>
              </a:pPr>
              <a:r>
                <a:rPr lang="en-US" sz="1250" b="0">
                  <a:solidFill>
                    <a:srgbClr val="475569"/>
                  </a:solidFill>
                  <a:latin typeface="Urbanist Medium"/>
                  <a:ea typeface="Urbanist Medium"/>
                  <a:cs typeface="Urbanist Medium"/>
                  <a:sym typeface="Urbanist Medium"/>
                </a:rPr>
                <a:t>MTech AIML WILP Program</a:t>
              </a:r>
              <a:endParaRPr sz="1050" b="0">
                <a:solidFill>
                  <a:srgbClr val="0D9488"/>
                </a:solidFill>
                <a:latin typeface="Urbanist ExtraBold"/>
                <a:ea typeface="Urbanist ExtraBold"/>
                <a:cs typeface="Urbanist ExtraBold"/>
                <a:sym typeface="Urbanist ExtraBold"/>
              </a:endParaRPr>
            </a:p>
          </p:txBody>
        </p:sp>
        <p:cxnSp>
          <p:nvCxnSpPr>
            <p:cNvPr id="94" name="Google Shape;94;p14"/>
            <p:cNvCxnSpPr/>
            <p:nvPr/>
          </p:nvCxnSpPr>
          <p:spPr>
            <a:xfrm>
              <a:off x="6477000" y="3714750"/>
              <a:ext cx="0" cy="1809600"/>
            </a:xfrm>
            <a:prstGeom prst="straightConnector1">
              <a:avLst/>
            </a:prstGeom>
            <a:solidFill>
              <a:srgbClr val="FFFFFF"/>
            </a:solidFill>
            <a:ln w="28575" cap="rnd" cmpd="sng">
              <a:solidFill>
                <a:srgbClr val="0284C7"/>
              </a:solidFill>
              <a:prstDash val="solid"/>
              <a:round/>
              <a:headEnd type="none" w="sm" len="sm"/>
              <a:tailEnd type="none" w="sm" len="sm"/>
            </a:ln>
          </p:spPr>
        </p:cxnSp>
        <p:sp>
          <p:nvSpPr>
            <p:cNvPr id="95" name="Google Shape;95;p14"/>
            <p:cNvSpPr txBox="1"/>
            <p:nvPr/>
          </p:nvSpPr>
          <p:spPr>
            <a:xfrm>
              <a:off x="6648450" y="3695700"/>
              <a:ext cx="3333900" cy="1905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050" b="0">
                  <a:solidFill>
                    <a:srgbClr val="0284C7"/>
                  </a:solidFill>
                  <a:latin typeface="Urbanist ExtraBold"/>
                  <a:ea typeface="Urbanist ExtraBold"/>
                  <a:cs typeface="Urbanist ExtraBold"/>
                  <a:sym typeface="Urbanist ExtraBold"/>
                </a:rPr>
                <a:t>INDUSTRY SUPERVISION</a:t>
              </a:r>
              <a:endParaRPr sz="1050" b="0">
                <a:solidFill>
                  <a:srgbClr val="0284C7"/>
                </a:solidFill>
                <a:latin typeface="Urbanist ExtraBold"/>
                <a:ea typeface="Urbanist ExtraBold"/>
                <a:cs typeface="Urbanist ExtraBold"/>
                <a:sym typeface="Urbanist ExtraBold"/>
              </a:endParaRPr>
            </a:p>
            <a:p>
              <a:pPr marL="0" lvl="0" indent="0" algn="l" rtl="0">
                <a:spcBef>
                  <a:spcPts val="750"/>
                </a:spcBef>
                <a:spcAft>
                  <a:spcPts val="0"/>
                </a:spcAft>
                <a:buNone/>
              </a:pPr>
              <a:r>
                <a:rPr lang="en-US" sz="1700" b="1">
                  <a:solidFill>
                    <a:srgbClr val="0F172A"/>
                  </a:solidFill>
                  <a:latin typeface="Urbanist"/>
                  <a:ea typeface="Urbanist"/>
                  <a:cs typeface="Urbanist"/>
                  <a:sym typeface="Urbanist"/>
                </a:rPr>
                <a:t>Yedluri Praveen</a:t>
              </a:r>
              <a:endParaRPr sz="1050" b="0">
                <a:solidFill>
                  <a:srgbClr val="0284C7"/>
                </a:solidFill>
                <a:latin typeface="Urbanist ExtraBold"/>
                <a:ea typeface="Urbanist ExtraBold"/>
                <a:cs typeface="Urbanist ExtraBold"/>
                <a:sym typeface="Urbanist ExtraBold"/>
              </a:endParaRPr>
            </a:p>
            <a:p>
              <a:pPr marL="0" lvl="0" indent="0" algn="l" rtl="0">
                <a:spcBef>
                  <a:spcPts val="450"/>
                </a:spcBef>
                <a:spcAft>
                  <a:spcPts val="0"/>
                </a:spcAft>
                <a:buNone/>
              </a:pPr>
              <a:r>
                <a:rPr lang="en-US" sz="1400" b="0">
                  <a:solidFill>
                    <a:srgbClr val="334155"/>
                  </a:solidFill>
                  <a:latin typeface="Urbanist Medium"/>
                  <a:ea typeface="Urbanist Medium"/>
                  <a:cs typeface="Urbanist Medium"/>
                  <a:sym typeface="Urbanist Medium"/>
                </a:rPr>
                <a:t>Kesani Krishna Chaitanya</a:t>
              </a:r>
              <a:endParaRPr sz="1050" b="0">
                <a:solidFill>
                  <a:srgbClr val="0284C7"/>
                </a:solidFill>
                <a:latin typeface="Urbanist ExtraBold"/>
                <a:ea typeface="Urbanist ExtraBold"/>
                <a:cs typeface="Urbanist ExtraBold"/>
                <a:sym typeface="Urbanist ExtraBold"/>
              </a:endParaRPr>
            </a:p>
            <a:p>
              <a:pPr marL="0" lvl="0" indent="0" algn="l" rtl="0">
                <a:spcBef>
                  <a:spcPts val="600"/>
                </a:spcBef>
                <a:spcAft>
                  <a:spcPts val="750"/>
                </a:spcAft>
                <a:buNone/>
              </a:pPr>
              <a:r>
                <a:rPr lang="en-US" sz="1250" b="0">
                  <a:solidFill>
                    <a:srgbClr val="475569"/>
                  </a:solidFill>
                  <a:latin typeface="Urbanist Medium"/>
                  <a:ea typeface="Urbanist Medium"/>
                  <a:cs typeface="Urbanist Medium"/>
                  <a:sym typeface="Urbanist Medium"/>
                </a:rPr>
                <a:t>Bank of America, Hyderabad</a:t>
              </a:r>
              <a:endParaRPr sz="1050" b="0">
                <a:solidFill>
                  <a:srgbClr val="0284C7"/>
                </a:solidFill>
                <a:latin typeface="Urbanist ExtraBold"/>
                <a:ea typeface="Urbanist ExtraBold"/>
                <a:cs typeface="Urbanist ExtraBold"/>
                <a:sym typeface="Urbanist Extra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9"/>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01" name="Google Shape;101;p15"/>
          <p:cNvGrpSpPr/>
          <p:nvPr/>
        </p:nvGrpSpPr>
        <p:grpSpPr>
          <a:xfrm>
            <a:off x="590550" y="1381125"/>
            <a:ext cx="11001450" cy="4800525"/>
            <a:chOff x="590550" y="1381125"/>
            <a:chExt cx="11001450" cy="4800525"/>
          </a:xfrm>
        </p:grpSpPr>
        <p:grpSp>
          <p:nvGrpSpPr>
            <p:cNvPr id="102" name="Google Shape;102;p15"/>
            <p:cNvGrpSpPr/>
            <p:nvPr/>
          </p:nvGrpSpPr>
          <p:grpSpPr>
            <a:xfrm>
              <a:off x="590550" y="1381125"/>
              <a:ext cx="3476700" cy="2276400"/>
              <a:chOff x="0" y="0"/>
              <a:chExt cx="3476700" cy="2276400"/>
            </a:xfrm>
          </p:grpSpPr>
          <p:sp>
            <p:nvSpPr>
              <p:cNvPr id="103" name="Google Shape;103;p15"/>
              <p:cNvSpPr/>
              <p:nvPr/>
            </p:nvSpPr>
            <p:spPr>
              <a:xfrm>
                <a:off x="0" y="38100"/>
                <a:ext cx="3476700" cy="2238300"/>
              </a:xfrm>
              <a:prstGeom prst="roundRect">
                <a:avLst>
                  <a:gd name="adj" fmla="val 6808"/>
                </a:avLst>
              </a:prstGeom>
              <a:solidFill>
                <a:srgbClr val="0F172A">
                  <a:alpha val="3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4" name="Google Shape;104;p15"/>
              <p:cNvSpPr/>
              <p:nvPr/>
            </p:nvSpPr>
            <p:spPr>
              <a:xfrm>
                <a:off x="0" y="0"/>
                <a:ext cx="3476700" cy="2238300"/>
              </a:xfrm>
              <a:prstGeom prst="roundRect">
                <a:avLst>
                  <a:gd name="adj" fmla="val 6808"/>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5" name="Google Shape;105;p15"/>
              <p:cNvSpPr/>
              <p:nvPr/>
            </p:nvSpPr>
            <p:spPr>
              <a:xfrm>
                <a:off x="0" y="0"/>
                <a:ext cx="3476700" cy="57300"/>
              </a:xfrm>
              <a:prstGeom prst="rect">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6" name="Google Shape;106;p15"/>
              <p:cNvSpPr txBox="1"/>
              <p:nvPr/>
            </p:nvSpPr>
            <p:spPr>
              <a:xfrm>
                <a:off x="228600" y="228600"/>
                <a:ext cx="30195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600" b="1">
                    <a:solidFill>
                      <a:srgbClr val="0D9488"/>
                    </a:solidFill>
                    <a:latin typeface="Urbanist"/>
                    <a:ea typeface="Urbanist"/>
                    <a:cs typeface="Urbanist"/>
                    <a:sym typeface="Urbanist"/>
                  </a:rPr>
                  <a:t>01</a:t>
                </a:r>
                <a:endParaRPr sz="2600" b="1">
                  <a:solidFill>
                    <a:srgbClr val="0D9488"/>
                  </a:solidFill>
                  <a:latin typeface="Urbanist"/>
                  <a:ea typeface="Urbanist"/>
                  <a:cs typeface="Urbanist"/>
                  <a:sym typeface="Urbanist"/>
                </a:endParaRPr>
              </a:p>
              <a:p>
                <a:pPr marL="0" lvl="0" indent="0" algn="l" rtl="0">
                  <a:spcBef>
                    <a:spcPts val="600"/>
                  </a:spcBef>
                  <a:spcAft>
                    <a:spcPts val="0"/>
                  </a:spcAft>
                  <a:buNone/>
                </a:pPr>
                <a:r>
                  <a:rPr lang="en-US" sz="1600" b="1">
                    <a:solidFill>
                      <a:srgbClr val="0F172A"/>
                    </a:solidFill>
                    <a:latin typeface="Urbanist"/>
                    <a:ea typeface="Urbanist"/>
                    <a:cs typeface="Urbanist"/>
                    <a:sym typeface="Urbanist"/>
                  </a:rPr>
                  <a:t>Problem &amp; Context</a:t>
                </a:r>
                <a:endParaRPr sz="16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250" b="0">
                    <a:solidFill>
                      <a:srgbClr val="475569"/>
                    </a:solidFill>
                    <a:latin typeface="Urbanist"/>
                    <a:ea typeface="Urbanist"/>
                    <a:cs typeface="Urbanist"/>
                    <a:sym typeface="Urbanist"/>
                  </a:rPr>
                  <a:t>Core operational pain points in banking compliance.</a:t>
                </a:r>
                <a:endParaRPr sz="1250" b="0">
                  <a:solidFill>
                    <a:srgbClr val="475569"/>
                  </a:solidFill>
                  <a:latin typeface="Urbanist"/>
                  <a:ea typeface="Urbanist"/>
                  <a:cs typeface="Urbanist"/>
                  <a:sym typeface="Urbanist"/>
                </a:endParaRPr>
              </a:p>
            </p:txBody>
          </p:sp>
        </p:grpSp>
        <p:grpSp>
          <p:nvGrpSpPr>
            <p:cNvPr id="107" name="Google Shape;107;p15"/>
            <p:cNvGrpSpPr/>
            <p:nvPr/>
          </p:nvGrpSpPr>
          <p:grpSpPr>
            <a:xfrm>
              <a:off x="4352925" y="1381125"/>
              <a:ext cx="3476700" cy="2276400"/>
              <a:chOff x="0" y="0"/>
              <a:chExt cx="3476700" cy="2276400"/>
            </a:xfrm>
          </p:grpSpPr>
          <p:sp>
            <p:nvSpPr>
              <p:cNvPr id="108" name="Google Shape;108;p15"/>
              <p:cNvSpPr/>
              <p:nvPr/>
            </p:nvSpPr>
            <p:spPr>
              <a:xfrm>
                <a:off x="0" y="38100"/>
                <a:ext cx="3476700" cy="2238300"/>
              </a:xfrm>
              <a:prstGeom prst="roundRect">
                <a:avLst>
                  <a:gd name="adj" fmla="val 6808"/>
                </a:avLst>
              </a:prstGeom>
              <a:solidFill>
                <a:srgbClr val="0F172A">
                  <a:alpha val="3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9" name="Google Shape;109;p15"/>
              <p:cNvSpPr/>
              <p:nvPr/>
            </p:nvSpPr>
            <p:spPr>
              <a:xfrm>
                <a:off x="0" y="0"/>
                <a:ext cx="3476700" cy="2238300"/>
              </a:xfrm>
              <a:prstGeom prst="roundRect">
                <a:avLst>
                  <a:gd name="adj" fmla="val 6808"/>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0" name="Google Shape;110;p15"/>
              <p:cNvSpPr/>
              <p:nvPr/>
            </p:nvSpPr>
            <p:spPr>
              <a:xfrm>
                <a:off x="0" y="0"/>
                <a:ext cx="3476700" cy="57300"/>
              </a:xfrm>
              <a:prstGeom prst="rect">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 name="Google Shape;111;p15"/>
              <p:cNvSpPr txBox="1"/>
              <p:nvPr/>
            </p:nvSpPr>
            <p:spPr>
              <a:xfrm>
                <a:off x="228600" y="228600"/>
                <a:ext cx="30195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600" b="1">
                    <a:solidFill>
                      <a:srgbClr val="16A34A"/>
                    </a:solidFill>
                    <a:latin typeface="Urbanist"/>
                    <a:ea typeface="Urbanist"/>
                    <a:cs typeface="Urbanist"/>
                    <a:sym typeface="Urbanist"/>
                  </a:rPr>
                  <a:t>02</a:t>
                </a:r>
                <a:endParaRPr sz="2600" b="1">
                  <a:solidFill>
                    <a:srgbClr val="16A34A"/>
                  </a:solidFill>
                  <a:latin typeface="Urbanist"/>
                  <a:ea typeface="Urbanist"/>
                  <a:cs typeface="Urbanist"/>
                  <a:sym typeface="Urbanist"/>
                </a:endParaRPr>
              </a:p>
              <a:p>
                <a:pPr marL="0" lvl="0" indent="0" algn="l" rtl="0">
                  <a:spcBef>
                    <a:spcPts val="600"/>
                  </a:spcBef>
                  <a:spcAft>
                    <a:spcPts val="0"/>
                  </a:spcAft>
                  <a:buNone/>
                </a:pPr>
                <a:r>
                  <a:rPr lang="en-US" sz="1600" b="1">
                    <a:solidFill>
                      <a:srgbClr val="0F172A"/>
                    </a:solidFill>
                    <a:latin typeface="Urbanist"/>
                    <a:ea typeface="Urbanist"/>
                    <a:cs typeface="Urbanist"/>
                    <a:sym typeface="Urbanist"/>
                  </a:rPr>
                  <a:t>Literature &amp; Gaps</a:t>
                </a:r>
                <a:endParaRPr sz="16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250" b="0">
                    <a:solidFill>
                      <a:srgbClr val="475569"/>
                    </a:solidFill>
                    <a:latin typeface="Urbanist"/>
                    <a:ea typeface="Urbanist"/>
                    <a:cs typeface="Urbanist"/>
                    <a:sym typeface="Urbanist"/>
                  </a:rPr>
                  <a:t>Limitations of existing standalone AI models.</a:t>
                </a:r>
                <a:endParaRPr sz="1250" b="0">
                  <a:solidFill>
                    <a:srgbClr val="475569"/>
                  </a:solidFill>
                  <a:latin typeface="Urbanist"/>
                  <a:ea typeface="Urbanist"/>
                  <a:cs typeface="Urbanist"/>
                  <a:sym typeface="Urbanist"/>
                </a:endParaRPr>
              </a:p>
            </p:txBody>
          </p:sp>
        </p:grpSp>
        <p:grpSp>
          <p:nvGrpSpPr>
            <p:cNvPr id="112" name="Google Shape;112;p15"/>
            <p:cNvGrpSpPr/>
            <p:nvPr/>
          </p:nvGrpSpPr>
          <p:grpSpPr>
            <a:xfrm>
              <a:off x="8115300" y="1381125"/>
              <a:ext cx="3476700" cy="2276400"/>
              <a:chOff x="0" y="0"/>
              <a:chExt cx="3476700" cy="2276400"/>
            </a:xfrm>
          </p:grpSpPr>
          <p:sp>
            <p:nvSpPr>
              <p:cNvPr id="113" name="Google Shape;113;p15"/>
              <p:cNvSpPr/>
              <p:nvPr/>
            </p:nvSpPr>
            <p:spPr>
              <a:xfrm>
                <a:off x="0" y="38100"/>
                <a:ext cx="3476700" cy="2238300"/>
              </a:xfrm>
              <a:prstGeom prst="roundRect">
                <a:avLst>
                  <a:gd name="adj" fmla="val 6808"/>
                </a:avLst>
              </a:prstGeom>
              <a:solidFill>
                <a:srgbClr val="0F172A">
                  <a:alpha val="3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4" name="Google Shape;114;p15"/>
              <p:cNvSpPr/>
              <p:nvPr/>
            </p:nvSpPr>
            <p:spPr>
              <a:xfrm>
                <a:off x="0" y="0"/>
                <a:ext cx="3476700" cy="2238300"/>
              </a:xfrm>
              <a:prstGeom prst="roundRect">
                <a:avLst>
                  <a:gd name="adj" fmla="val 6808"/>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5" name="Google Shape;115;p15"/>
              <p:cNvSpPr/>
              <p:nvPr/>
            </p:nvSpPr>
            <p:spPr>
              <a:xfrm>
                <a:off x="0" y="0"/>
                <a:ext cx="3476700" cy="57300"/>
              </a:xfrm>
              <a:prstGeom prst="rect">
                <a:avLst/>
              </a:prstGeom>
              <a:solidFill>
                <a:srgbClr val="CA8A0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6" name="Google Shape;116;p15"/>
              <p:cNvSpPr txBox="1"/>
              <p:nvPr/>
            </p:nvSpPr>
            <p:spPr>
              <a:xfrm>
                <a:off x="228600" y="228600"/>
                <a:ext cx="30195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600" b="1">
                    <a:solidFill>
                      <a:srgbClr val="CA8A04"/>
                    </a:solidFill>
                    <a:latin typeface="Urbanist"/>
                    <a:ea typeface="Urbanist"/>
                    <a:cs typeface="Urbanist"/>
                    <a:sym typeface="Urbanist"/>
                  </a:rPr>
                  <a:t>03</a:t>
                </a:r>
                <a:endParaRPr sz="2600" b="1">
                  <a:solidFill>
                    <a:srgbClr val="CA8A04"/>
                  </a:solidFill>
                  <a:latin typeface="Urbanist"/>
                  <a:ea typeface="Urbanist"/>
                  <a:cs typeface="Urbanist"/>
                  <a:sym typeface="Urbanist"/>
                </a:endParaRPr>
              </a:p>
              <a:p>
                <a:pPr marL="0" lvl="0" indent="0" algn="l" rtl="0">
                  <a:spcBef>
                    <a:spcPts val="600"/>
                  </a:spcBef>
                  <a:spcAft>
                    <a:spcPts val="0"/>
                  </a:spcAft>
                  <a:buNone/>
                </a:pPr>
                <a:r>
                  <a:rPr lang="en-US" sz="1600" b="1">
                    <a:solidFill>
                      <a:srgbClr val="0F172A"/>
                    </a:solidFill>
                    <a:latin typeface="Urbanist"/>
                    <a:ea typeface="Urbanist"/>
                    <a:cs typeface="Urbanist"/>
                    <a:sym typeface="Urbanist"/>
                  </a:rPr>
                  <a:t>System Architecture</a:t>
                </a:r>
                <a:endParaRPr sz="16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250" b="0">
                    <a:solidFill>
                      <a:srgbClr val="475569"/>
                    </a:solidFill>
                    <a:latin typeface="Urbanist"/>
                    <a:ea typeface="Urbanist"/>
                    <a:cs typeface="Urbanist"/>
                    <a:sym typeface="Urbanist"/>
                  </a:rPr>
                  <a:t>The 6-layer enterprise framework overview.</a:t>
                </a:r>
                <a:endParaRPr sz="1250" b="0">
                  <a:solidFill>
                    <a:srgbClr val="475569"/>
                  </a:solidFill>
                  <a:latin typeface="Urbanist"/>
                  <a:ea typeface="Urbanist"/>
                  <a:cs typeface="Urbanist"/>
                  <a:sym typeface="Urbanist"/>
                </a:endParaRPr>
              </a:p>
            </p:txBody>
          </p:sp>
        </p:grpSp>
        <p:grpSp>
          <p:nvGrpSpPr>
            <p:cNvPr id="117" name="Google Shape;117;p15"/>
            <p:cNvGrpSpPr/>
            <p:nvPr/>
          </p:nvGrpSpPr>
          <p:grpSpPr>
            <a:xfrm>
              <a:off x="590550" y="3905250"/>
              <a:ext cx="3476700" cy="2276400"/>
              <a:chOff x="0" y="0"/>
              <a:chExt cx="3476700" cy="2276400"/>
            </a:xfrm>
          </p:grpSpPr>
          <p:sp>
            <p:nvSpPr>
              <p:cNvPr id="118" name="Google Shape;118;p15"/>
              <p:cNvSpPr/>
              <p:nvPr/>
            </p:nvSpPr>
            <p:spPr>
              <a:xfrm>
                <a:off x="0" y="38100"/>
                <a:ext cx="3476700" cy="2238300"/>
              </a:xfrm>
              <a:prstGeom prst="roundRect">
                <a:avLst>
                  <a:gd name="adj" fmla="val 6808"/>
                </a:avLst>
              </a:prstGeom>
              <a:solidFill>
                <a:srgbClr val="0F172A">
                  <a:alpha val="3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9" name="Google Shape;119;p15"/>
              <p:cNvSpPr/>
              <p:nvPr/>
            </p:nvSpPr>
            <p:spPr>
              <a:xfrm>
                <a:off x="0" y="0"/>
                <a:ext cx="3476700" cy="2238300"/>
              </a:xfrm>
              <a:prstGeom prst="roundRect">
                <a:avLst>
                  <a:gd name="adj" fmla="val 6808"/>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0" name="Google Shape;120;p15"/>
              <p:cNvSpPr/>
              <p:nvPr/>
            </p:nvSpPr>
            <p:spPr>
              <a:xfrm>
                <a:off x="0" y="0"/>
                <a:ext cx="3476700" cy="57300"/>
              </a:xfrm>
              <a:prstGeom prst="rect">
                <a:avLst/>
              </a:prstGeom>
              <a:solidFill>
                <a:srgbClr val="EA580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1" name="Google Shape;121;p15"/>
              <p:cNvSpPr txBox="1"/>
              <p:nvPr/>
            </p:nvSpPr>
            <p:spPr>
              <a:xfrm>
                <a:off x="228600" y="228600"/>
                <a:ext cx="30195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600" b="1">
                    <a:solidFill>
                      <a:srgbClr val="EA580C"/>
                    </a:solidFill>
                    <a:latin typeface="Urbanist"/>
                    <a:ea typeface="Urbanist"/>
                    <a:cs typeface="Urbanist"/>
                    <a:sym typeface="Urbanist"/>
                  </a:rPr>
                  <a:t>04</a:t>
                </a:r>
                <a:endParaRPr sz="2600" b="1">
                  <a:solidFill>
                    <a:srgbClr val="EA580C"/>
                  </a:solidFill>
                  <a:latin typeface="Urbanist"/>
                  <a:ea typeface="Urbanist"/>
                  <a:cs typeface="Urbanist"/>
                  <a:sym typeface="Urbanist"/>
                </a:endParaRPr>
              </a:p>
              <a:p>
                <a:pPr marL="0" lvl="0" indent="0" algn="l" rtl="0">
                  <a:spcBef>
                    <a:spcPts val="600"/>
                  </a:spcBef>
                  <a:spcAft>
                    <a:spcPts val="0"/>
                  </a:spcAft>
                  <a:buNone/>
                </a:pPr>
                <a:r>
                  <a:rPr lang="en-US" sz="1600" b="1">
                    <a:solidFill>
                      <a:srgbClr val="0F172A"/>
                    </a:solidFill>
                    <a:latin typeface="Urbanist"/>
                    <a:ea typeface="Urbanist"/>
                    <a:cs typeface="Urbanist"/>
                    <a:sym typeface="Urbanist"/>
                  </a:rPr>
                  <a:t>Module Workflows</a:t>
                </a:r>
                <a:endParaRPr sz="16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250" b="0">
                    <a:solidFill>
                      <a:srgbClr val="475569"/>
                    </a:solidFill>
                    <a:latin typeface="Urbanist"/>
                    <a:ea typeface="Urbanist"/>
                    <a:cs typeface="Urbanist"/>
                    <a:sym typeface="Urbanist"/>
                  </a:rPr>
                  <a:t>Detailed component and agent flow diagrams.</a:t>
                </a:r>
                <a:endParaRPr sz="1250" b="0">
                  <a:solidFill>
                    <a:srgbClr val="475569"/>
                  </a:solidFill>
                  <a:latin typeface="Urbanist"/>
                  <a:ea typeface="Urbanist"/>
                  <a:cs typeface="Urbanist"/>
                  <a:sym typeface="Urbanist"/>
                </a:endParaRPr>
              </a:p>
            </p:txBody>
          </p:sp>
        </p:grpSp>
        <p:grpSp>
          <p:nvGrpSpPr>
            <p:cNvPr id="122" name="Google Shape;122;p15"/>
            <p:cNvGrpSpPr/>
            <p:nvPr/>
          </p:nvGrpSpPr>
          <p:grpSpPr>
            <a:xfrm>
              <a:off x="4352925" y="3905250"/>
              <a:ext cx="3476700" cy="2276400"/>
              <a:chOff x="0" y="0"/>
              <a:chExt cx="3476700" cy="2276400"/>
            </a:xfrm>
          </p:grpSpPr>
          <p:sp>
            <p:nvSpPr>
              <p:cNvPr id="123" name="Google Shape;123;p15"/>
              <p:cNvSpPr/>
              <p:nvPr/>
            </p:nvSpPr>
            <p:spPr>
              <a:xfrm>
                <a:off x="0" y="38100"/>
                <a:ext cx="3476700" cy="2238300"/>
              </a:xfrm>
              <a:prstGeom prst="roundRect">
                <a:avLst>
                  <a:gd name="adj" fmla="val 6808"/>
                </a:avLst>
              </a:prstGeom>
              <a:solidFill>
                <a:srgbClr val="0F172A">
                  <a:alpha val="3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4" name="Google Shape;124;p15"/>
              <p:cNvSpPr/>
              <p:nvPr/>
            </p:nvSpPr>
            <p:spPr>
              <a:xfrm>
                <a:off x="0" y="0"/>
                <a:ext cx="3476700" cy="2238300"/>
              </a:xfrm>
              <a:prstGeom prst="roundRect">
                <a:avLst>
                  <a:gd name="adj" fmla="val 6808"/>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5" name="Google Shape;125;p15"/>
              <p:cNvSpPr/>
              <p:nvPr/>
            </p:nvSpPr>
            <p:spPr>
              <a:xfrm>
                <a:off x="0" y="0"/>
                <a:ext cx="3476700" cy="57300"/>
              </a:xfrm>
              <a:prstGeom prst="rect">
                <a:avLst/>
              </a:prstGeom>
              <a:solidFill>
                <a:srgbClr val="0369A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6" name="Google Shape;126;p15"/>
              <p:cNvSpPr txBox="1"/>
              <p:nvPr/>
            </p:nvSpPr>
            <p:spPr>
              <a:xfrm>
                <a:off x="228600" y="228600"/>
                <a:ext cx="30195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600" b="1">
                    <a:solidFill>
                      <a:srgbClr val="0369A1"/>
                    </a:solidFill>
                    <a:latin typeface="Urbanist"/>
                    <a:ea typeface="Urbanist"/>
                    <a:cs typeface="Urbanist"/>
                    <a:sym typeface="Urbanist"/>
                  </a:rPr>
                  <a:t>05</a:t>
                </a:r>
                <a:endParaRPr sz="2600" b="1">
                  <a:solidFill>
                    <a:srgbClr val="0369A1"/>
                  </a:solidFill>
                  <a:latin typeface="Urbanist"/>
                  <a:ea typeface="Urbanist"/>
                  <a:cs typeface="Urbanist"/>
                  <a:sym typeface="Urbanist"/>
                </a:endParaRPr>
              </a:p>
              <a:p>
                <a:pPr marL="0" lvl="0" indent="0" algn="l" rtl="0">
                  <a:spcBef>
                    <a:spcPts val="600"/>
                  </a:spcBef>
                  <a:spcAft>
                    <a:spcPts val="0"/>
                  </a:spcAft>
                  <a:buNone/>
                </a:pPr>
                <a:r>
                  <a:rPr lang="en-US" sz="1600" b="1">
                    <a:solidFill>
                      <a:srgbClr val="0F172A"/>
                    </a:solidFill>
                    <a:latin typeface="Urbanist"/>
                    <a:ea typeface="Urbanist"/>
                    <a:cs typeface="Urbanist"/>
                    <a:sym typeface="Urbanist"/>
                  </a:rPr>
                  <a:t>Experimental Results</a:t>
                </a:r>
                <a:endParaRPr sz="16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250" b="0">
                    <a:solidFill>
                      <a:srgbClr val="475569"/>
                    </a:solidFill>
                    <a:latin typeface="Urbanist"/>
                    <a:ea typeface="Urbanist"/>
                    <a:cs typeface="Urbanist"/>
                    <a:sym typeface="Urbanist"/>
                  </a:rPr>
                  <a:t>Model evaluation, RAG metrics, and ablation.</a:t>
                </a:r>
                <a:endParaRPr sz="1250" b="0">
                  <a:solidFill>
                    <a:srgbClr val="475569"/>
                  </a:solidFill>
                  <a:latin typeface="Urbanist"/>
                  <a:ea typeface="Urbanist"/>
                  <a:cs typeface="Urbanist"/>
                  <a:sym typeface="Urbanist"/>
                </a:endParaRPr>
              </a:p>
            </p:txBody>
          </p:sp>
        </p:grpSp>
        <p:grpSp>
          <p:nvGrpSpPr>
            <p:cNvPr id="127" name="Google Shape;127;p15"/>
            <p:cNvGrpSpPr/>
            <p:nvPr/>
          </p:nvGrpSpPr>
          <p:grpSpPr>
            <a:xfrm>
              <a:off x="8115300" y="3905250"/>
              <a:ext cx="3476700" cy="2276400"/>
              <a:chOff x="0" y="0"/>
              <a:chExt cx="3476700" cy="2276400"/>
            </a:xfrm>
          </p:grpSpPr>
          <p:sp>
            <p:nvSpPr>
              <p:cNvPr id="128" name="Google Shape;128;p15"/>
              <p:cNvSpPr/>
              <p:nvPr/>
            </p:nvSpPr>
            <p:spPr>
              <a:xfrm>
                <a:off x="0" y="38100"/>
                <a:ext cx="3476700" cy="2238300"/>
              </a:xfrm>
              <a:prstGeom prst="roundRect">
                <a:avLst>
                  <a:gd name="adj" fmla="val 6808"/>
                </a:avLst>
              </a:prstGeom>
              <a:solidFill>
                <a:srgbClr val="0F172A">
                  <a:alpha val="3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9" name="Google Shape;129;p15"/>
              <p:cNvSpPr/>
              <p:nvPr/>
            </p:nvSpPr>
            <p:spPr>
              <a:xfrm>
                <a:off x="0" y="0"/>
                <a:ext cx="3476700" cy="2238300"/>
              </a:xfrm>
              <a:prstGeom prst="roundRect">
                <a:avLst>
                  <a:gd name="adj" fmla="val 6808"/>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0" name="Google Shape;130;p15"/>
              <p:cNvSpPr/>
              <p:nvPr/>
            </p:nvSpPr>
            <p:spPr>
              <a:xfrm>
                <a:off x="0" y="0"/>
                <a:ext cx="3476700" cy="57300"/>
              </a:xfrm>
              <a:prstGeom prst="rect">
                <a:avLst/>
              </a:prstGeom>
              <a:solidFill>
                <a:srgbClr val="7C3AE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1" name="Google Shape;131;p15"/>
              <p:cNvSpPr txBox="1"/>
              <p:nvPr/>
            </p:nvSpPr>
            <p:spPr>
              <a:xfrm>
                <a:off x="228600" y="228600"/>
                <a:ext cx="30195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600" b="1">
                    <a:solidFill>
                      <a:srgbClr val="7C3AED"/>
                    </a:solidFill>
                    <a:latin typeface="Urbanist"/>
                    <a:ea typeface="Urbanist"/>
                    <a:cs typeface="Urbanist"/>
                    <a:sym typeface="Urbanist"/>
                  </a:rPr>
                  <a:t>06</a:t>
                </a:r>
                <a:endParaRPr sz="2600" b="1">
                  <a:solidFill>
                    <a:srgbClr val="7C3AED"/>
                  </a:solidFill>
                  <a:latin typeface="Urbanist"/>
                  <a:ea typeface="Urbanist"/>
                  <a:cs typeface="Urbanist"/>
                  <a:sym typeface="Urbanist"/>
                </a:endParaRPr>
              </a:p>
              <a:p>
                <a:pPr marL="0" lvl="0" indent="0" algn="l" rtl="0">
                  <a:spcBef>
                    <a:spcPts val="600"/>
                  </a:spcBef>
                  <a:spcAft>
                    <a:spcPts val="0"/>
                  </a:spcAft>
                  <a:buNone/>
                </a:pPr>
                <a:r>
                  <a:rPr lang="en-US" sz="1600" b="1">
                    <a:solidFill>
                      <a:srgbClr val="0F172A"/>
                    </a:solidFill>
                    <a:latin typeface="Urbanist"/>
                    <a:ea typeface="Urbanist"/>
                    <a:cs typeface="Urbanist"/>
                    <a:sym typeface="Urbanist"/>
                  </a:rPr>
                  <a:t>Conclusion</a:t>
                </a:r>
                <a:endParaRPr sz="16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250" b="0">
                    <a:solidFill>
                      <a:srgbClr val="475569"/>
                    </a:solidFill>
                    <a:latin typeface="Urbanist"/>
                    <a:ea typeface="Urbanist"/>
                    <a:cs typeface="Urbanist"/>
                    <a:sym typeface="Urbanist"/>
                  </a:rPr>
                  <a:t>Research impact and future scope.</a:t>
                </a:r>
                <a:endParaRPr sz="1250" b="0">
                  <a:solidFill>
                    <a:srgbClr val="475569"/>
                  </a:solidFill>
                  <a:latin typeface="Urbanist"/>
                  <a:ea typeface="Urbanist"/>
                  <a:cs typeface="Urbanist"/>
                  <a:sym typeface="Urbanist"/>
                </a:endParaRPr>
              </a:p>
            </p:txBody>
          </p:sp>
        </p:grpSp>
      </p:grpSp>
      <p:sp>
        <p:nvSpPr>
          <p:cNvPr id="132" name="Google Shape;132;p15"/>
          <p:cNvSpPr txBox="1"/>
          <p:nvPr/>
        </p:nvSpPr>
        <p:spPr>
          <a:xfrm>
            <a:off x="8369200" y="4919646"/>
            <a:ext cx="2343300" cy="48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sz="1200" b="0" i="0" u="none" strike="noStrike" cap="none">
              <a:solidFill>
                <a:srgbClr val="334155"/>
              </a:solidFill>
              <a:latin typeface="Urbanist"/>
              <a:ea typeface="Urbanist"/>
              <a:cs typeface="Urbanist"/>
              <a:sym typeface="Urbanist"/>
            </a:endParaRPr>
          </a:p>
          <a:p>
            <a:pPr marL="0" marR="0" lvl="0" indent="0" algn="l" rtl="0">
              <a:lnSpc>
                <a:spcPct val="160000"/>
              </a:lnSpc>
              <a:spcBef>
                <a:spcPts val="0"/>
              </a:spcBef>
              <a:spcAft>
                <a:spcPts val="0"/>
              </a:spcAft>
              <a:buNone/>
            </a:pPr>
            <a:r>
              <a:rPr lang="en-US" sz="1200" b="0" i="0" u="none" strike="noStrike" cap="none">
                <a:solidFill>
                  <a:srgbClr val="334155"/>
                </a:solidFill>
                <a:latin typeface="Urbanist"/>
                <a:ea typeface="Urbanist"/>
                <a:cs typeface="Urbanist"/>
                <a:sym typeface="Urbanist"/>
              </a:rPr>
              <a:t>h impact and future scope.</a:t>
            </a:r>
            <a:endParaRPr/>
          </a:p>
        </p:txBody>
      </p:sp>
      <p:sp>
        <p:nvSpPr>
          <p:cNvPr id="133" name="Google Shape;133;p15"/>
          <p:cNvSpPr txBox="1"/>
          <p:nvPr/>
        </p:nvSpPr>
        <p:spPr>
          <a:xfrm>
            <a:off x="590550" y="495300"/>
            <a:ext cx="11561400" cy="461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Defense Agenda</a:t>
            </a:r>
            <a:endParaRPr/>
          </a:p>
        </p:txBody>
      </p:sp>
      <p:sp>
        <p:nvSpPr>
          <p:cNvPr id="134" name="Google Shape;134;p15"/>
          <p:cNvSpPr/>
          <p:nvPr/>
        </p:nvSpPr>
        <p:spPr>
          <a:xfrm>
            <a:off x="590550" y="1095375"/>
            <a:ext cx="11010900" cy="192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2" name="Google Shape;150;p16"/>
          <p:cNvGrpSpPr/>
          <p:nvPr/>
        </p:nvGrpSpPr>
        <p:grpSpPr>
          <a:xfrm>
            <a:off x="676275" y="1333500"/>
            <a:ext cx="10839525" cy="3571800"/>
            <a:chOff x="676275" y="1333500"/>
            <a:chExt cx="10839525" cy="3571800"/>
          </a:xfrm>
        </p:grpSpPr>
        <p:sp>
          <p:nvSpPr>
            <p:cNvPr id="151" name="Google Shape;151;p16"/>
            <p:cNvSpPr/>
            <p:nvPr/>
          </p:nvSpPr>
          <p:spPr>
            <a:xfrm>
              <a:off x="676275" y="1333500"/>
              <a:ext cx="5229300" cy="3571800"/>
            </a:xfrm>
            <a:prstGeom prst="roundRect">
              <a:avLst>
                <a:gd name="adj" fmla="val 32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2" name="Google Shape;152;p16"/>
            <p:cNvSpPr/>
            <p:nvPr/>
          </p:nvSpPr>
          <p:spPr>
            <a:xfrm>
              <a:off x="6286500" y="1333500"/>
              <a:ext cx="5229300" cy="3571800"/>
            </a:xfrm>
            <a:prstGeom prst="roundRect">
              <a:avLst>
                <a:gd name="adj" fmla="val 32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3" name="Google Shape;153;p16"/>
          <p:cNvGrpSpPr/>
          <p:nvPr/>
        </p:nvGrpSpPr>
        <p:grpSpPr>
          <a:xfrm>
            <a:off x="952500" y="1524000"/>
            <a:ext cx="4676700" cy="333375"/>
            <a:chOff x="952500" y="1524000"/>
            <a:chExt cx="4676700" cy="333375"/>
          </a:xfrm>
        </p:grpSpPr>
        <p:sp>
          <p:nvSpPr>
            <p:cNvPr id="154" name="Google Shape;154;p16"/>
            <p:cNvSpPr txBox="1"/>
            <p:nvPr/>
          </p:nvSpPr>
          <p:spPr>
            <a:xfrm>
              <a:off x="952500" y="1524000"/>
              <a:ext cx="46767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0F172A"/>
                  </a:solidFill>
                  <a:latin typeface="Poppins"/>
                  <a:ea typeface="Poppins"/>
                  <a:cs typeface="Poppins"/>
                  <a:sym typeface="Poppins"/>
                </a:rPr>
                <a:t>Banking Compliance Workflow</a:t>
              </a:r>
              <a:endParaRPr sz="1400" b="1">
                <a:solidFill>
                  <a:srgbClr val="0F172A"/>
                </a:solidFill>
                <a:latin typeface="Poppins"/>
                <a:ea typeface="Poppins"/>
                <a:cs typeface="Poppins"/>
                <a:sym typeface="Poppins"/>
              </a:endParaRPr>
            </a:p>
          </p:txBody>
        </p:sp>
        <p:cxnSp>
          <p:nvCxnSpPr>
            <p:cNvPr id="155" name="Google Shape;155;p16"/>
            <p:cNvCxnSpPr/>
            <p:nvPr/>
          </p:nvCxnSpPr>
          <p:spPr>
            <a:xfrm>
              <a:off x="952500" y="1857375"/>
              <a:ext cx="46767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4" name="Google Shape;156;p16"/>
          <p:cNvGrpSpPr/>
          <p:nvPr/>
        </p:nvGrpSpPr>
        <p:grpSpPr>
          <a:xfrm>
            <a:off x="1476375" y="2000250"/>
            <a:ext cx="3619500" cy="2476500"/>
            <a:chOff x="1476375" y="2000250"/>
            <a:chExt cx="3619500" cy="2476500"/>
          </a:xfrm>
        </p:grpSpPr>
        <p:sp>
          <p:nvSpPr>
            <p:cNvPr id="157" name="Google Shape;157;p16"/>
            <p:cNvSpPr/>
            <p:nvPr/>
          </p:nvSpPr>
          <p:spPr>
            <a:xfrm>
              <a:off x="1476375" y="2000250"/>
              <a:ext cx="3619500" cy="342900"/>
            </a:xfrm>
            <a:prstGeom prst="roundRect">
              <a:avLst>
                <a:gd name="adj" fmla="val 22222"/>
              </a:avLst>
            </a:prstGeom>
            <a:solidFill>
              <a:srgbClr val="F8FAFC"/>
            </a:solidFill>
            <a:ln w="14300" cap="flat" cmpd="sng">
              <a:solidFill>
                <a:srgbClr val="0F766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8" name="Google Shape;158;p16"/>
            <p:cNvSpPr txBox="1"/>
            <p:nvPr/>
          </p:nvSpPr>
          <p:spPr>
            <a:xfrm>
              <a:off x="1476375" y="2000250"/>
              <a:ext cx="3619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50" b="0">
                  <a:solidFill>
                    <a:srgbClr val="0F172A"/>
                  </a:solidFill>
                  <a:latin typeface="Inter SemiBold"/>
                  <a:ea typeface="Inter SemiBold"/>
                  <a:cs typeface="Inter SemiBold"/>
                  <a:sym typeface="Inter SemiBold"/>
                </a:rPr>
                <a:t>Upload Contract</a:t>
              </a:r>
              <a:endParaRPr sz="1050" b="0">
                <a:solidFill>
                  <a:srgbClr val="0F172A"/>
                </a:solidFill>
                <a:latin typeface="Inter SemiBold"/>
                <a:ea typeface="Inter SemiBold"/>
                <a:cs typeface="Inter SemiBold"/>
                <a:sym typeface="Inter SemiBold"/>
              </a:endParaRPr>
            </a:p>
          </p:txBody>
        </p:sp>
        <p:sp>
          <p:nvSpPr>
            <p:cNvPr id="160" name="Google Shape;160;p16"/>
            <p:cNvSpPr/>
            <p:nvPr/>
          </p:nvSpPr>
          <p:spPr>
            <a:xfrm>
              <a:off x="1476375" y="2533650"/>
              <a:ext cx="3619500" cy="342900"/>
            </a:xfrm>
            <a:prstGeom prst="roundRect">
              <a:avLst>
                <a:gd name="adj" fmla="val 22222"/>
              </a:avLst>
            </a:prstGeom>
            <a:solidFill>
              <a:srgbClr val="F8FAFC"/>
            </a:solidFill>
            <a:ln w="14300" cap="flat" cmpd="sng">
              <a:solidFill>
                <a:srgbClr val="0F766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1" name="Google Shape;161;p16"/>
            <p:cNvSpPr txBox="1"/>
            <p:nvPr/>
          </p:nvSpPr>
          <p:spPr>
            <a:xfrm>
              <a:off x="1476375" y="2533650"/>
              <a:ext cx="3619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50" b="0">
                  <a:solidFill>
                    <a:srgbClr val="0F172A"/>
                  </a:solidFill>
                  <a:latin typeface="Inter SemiBold"/>
                  <a:ea typeface="Inter SemiBold"/>
                  <a:cs typeface="Inter SemiBold"/>
                  <a:sym typeface="Inter SemiBold"/>
                </a:rPr>
                <a:t>Legal Team</a:t>
              </a:r>
              <a:endParaRPr sz="1050" b="0">
                <a:solidFill>
                  <a:srgbClr val="0F172A"/>
                </a:solidFill>
                <a:latin typeface="Inter SemiBold"/>
                <a:ea typeface="Inter SemiBold"/>
                <a:cs typeface="Inter SemiBold"/>
                <a:sym typeface="Inter SemiBold"/>
              </a:endParaRPr>
            </a:p>
          </p:txBody>
        </p:sp>
        <p:sp>
          <p:nvSpPr>
            <p:cNvPr id="163" name="Google Shape;163;p16"/>
            <p:cNvSpPr/>
            <p:nvPr/>
          </p:nvSpPr>
          <p:spPr>
            <a:xfrm>
              <a:off x="1476375" y="3067050"/>
              <a:ext cx="3619500" cy="342900"/>
            </a:xfrm>
            <a:prstGeom prst="roundRect">
              <a:avLst>
                <a:gd name="adj" fmla="val 22222"/>
              </a:avLst>
            </a:prstGeom>
            <a:solidFill>
              <a:srgbClr val="F8FAFC"/>
            </a:solidFill>
            <a:ln w="14300" cap="flat" cmpd="sng">
              <a:solidFill>
                <a:srgbClr val="0F766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4" name="Google Shape;164;p16"/>
            <p:cNvSpPr txBox="1"/>
            <p:nvPr/>
          </p:nvSpPr>
          <p:spPr>
            <a:xfrm>
              <a:off x="1476375" y="3067050"/>
              <a:ext cx="3619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50" b="0">
                  <a:solidFill>
                    <a:srgbClr val="0F172A"/>
                  </a:solidFill>
                  <a:latin typeface="Inter SemiBold"/>
                  <a:ea typeface="Inter SemiBold"/>
                  <a:cs typeface="Inter SemiBold"/>
                  <a:sym typeface="Inter SemiBold"/>
                </a:rPr>
                <a:t>Compliance Review</a:t>
              </a:r>
              <a:endParaRPr sz="1050" b="0">
                <a:solidFill>
                  <a:srgbClr val="0F172A"/>
                </a:solidFill>
                <a:latin typeface="Inter SemiBold"/>
                <a:ea typeface="Inter SemiBold"/>
                <a:cs typeface="Inter SemiBold"/>
                <a:sym typeface="Inter SemiBold"/>
              </a:endParaRPr>
            </a:p>
          </p:txBody>
        </p:sp>
        <p:sp>
          <p:nvSpPr>
            <p:cNvPr id="166" name="Google Shape;166;p16"/>
            <p:cNvSpPr/>
            <p:nvPr/>
          </p:nvSpPr>
          <p:spPr>
            <a:xfrm>
              <a:off x="1476375" y="3600450"/>
              <a:ext cx="3619500" cy="342900"/>
            </a:xfrm>
            <a:prstGeom prst="roundRect">
              <a:avLst>
                <a:gd name="adj" fmla="val 22222"/>
              </a:avLst>
            </a:prstGeom>
            <a:solidFill>
              <a:srgbClr val="F8FAFC"/>
            </a:solidFill>
            <a:ln w="14300" cap="flat" cmpd="sng">
              <a:solidFill>
                <a:srgbClr val="0F766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7" name="Google Shape;167;p16"/>
            <p:cNvSpPr txBox="1"/>
            <p:nvPr/>
          </p:nvSpPr>
          <p:spPr>
            <a:xfrm>
              <a:off x="1476375" y="3600450"/>
              <a:ext cx="3619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50" b="0">
                  <a:solidFill>
                    <a:srgbClr val="0F172A"/>
                  </a:solidFill>
                  <a:latin typeface="Inter SemiBold"/>
                  <a:ea typeface="Inter SemiBold"/>
                  <a:cs typeface="Inter SemiBold"/>
                  <a:sym typeface="Inter SemiBold"/>
                </a:rPr>
                <a:t>Policy Validation</a:t>
              </a:r>
              <a:endParaRPr sz="1050" b="0">
                <a:solidFill>
                  <a:srgbClr val="0F172A"/>
                </a:solidFill>
                <a:latin typeface="Inter SemiBold"/>
                <a:ea typeface="Inter SemiBold"/>
                <a:cs typeface="Inter SemiBold"/>
                <a:sym typeface="Inter SemiBold"/>
              </a:endParaRPr>
            </a:p>
          </p:txBody>
        </p:sp>
        <p:sp>
          <p:nvSpPr>
            <p:cNvPr id="169" name="Google Shape;169;p16"/>
            <p:cNvSpPr/>
            <p:nvPr/>
          </p:nvSpPr>
          <p:spPr>
            <a:xfrm>
              <a:off x="1476375" y="4133850"/>
              <a:ext cx="3619500" cy="342900"/>
            </a:xfrm>
            <a:prstGeom prst="roundRect">
              <a:avLst>
                <a:gd name="adj" fmla="val 22222"/>
              </a:avLst>
            </a:prstGeom>
            <a:solidFill>
              <a:srgbClr val="F0FDFA"/>
            </a:solidFill>
            <a:ln w="14300" cap="flat" cmpd="sng">
              <a:solidFill>
                <a:srgbClr val="0F766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0" name="Google Shape;170;p16"/>
            <p:cNvSpPr txBox="1"/>
            <p:nvPr/>
          </p:nvSpPr>
          <p:spPr>
            <a:xfrm>
              <a:off x="1476375" y="4133850"/>
              <a:ext cx="3619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50" b="1">
                  <a:solidFill>
                    <a:srgbClr val="0F766E"/>
                  </a:solidFill>
                  <a:latin typeface="Inter"/>
                  <a:ea typeface="Inter"/>
                  <a:cs typeface="Inter"/>
                  <a:sym typeface="Inter"/>
                </a:rPr>
                <a:t>Regulatory Approval</a:t>
              </a:r>
              <a:endParaRPr sz="1050" b="1">
                <a:solidFill>
                  <a:srgbClr val="0F766E"/>
                </a:solidFill>
                <a:latin typeface="Inter"/>
                <a:ea typeface="Inter"/>
                <a:cs typeface="Inter"/>
                <a:sym typeface="Inter"/>
              </a:endParaRPr>
            </a:p>
          </p:txBody>
        </p:sp>
      </p:grpSp>
      <p:grpSp>
        <p:nvGrpSpPr>
          <p:cNvPr id="5" name="Google Shape;171;p16"/>
          <p:cNvGrpSpPr/>
          <p:nvPr/>
        </p:nvGrpSpPr>
        <p:grpSpPr>
          <a:xfrm>
            <a:off x="6562725" y="1524000"/>
            <a:ext cx="4676700" cy="333375"/>
            <a:chOff x="6562725" y="1524000"/>
            <a:chExt cx="4676700" cy="333375"/>
          </a:xfrm>
        </p:grpSpPr>
        <p:sp>
          <p:nvSpPr>
            <p:cNvPr id="172" name="Google Shape;172;p16"/>
            <p:cNvSpPr txBox="1"/>
            <p:nvPr/>
          </p:nvSpPr>
          <p:spPr>
            <a:xfrm>
              <a:off x="6562725" y="1524000"/>
              <a:ext cx="46767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0F172A"/>
                  </a:solidFill>
                  <a:latin typeface="Poppins"/>
                  <a:ea typeface="Poppins"/>
                  <a:cs typeface="Poppins"/>
                  <a:sym typeface="Poppins"/>
                </a:rPr>
                <a:t>Key Challenges</a:t>
              </a:r>
              <a:endParaRPr sz="1400" b="1">
                <a:solidFill>
                  <a:srgbClr val="0F172A"/>
                </a:solidFill>
                <a:latin typeface="Poppins"/>
                <a:ea typeface="Poppins"/>
                <a:cs typeface="Poppins"/>
                <a:sym typeface="Poppins"/>
              </a:endParaRPr>
            </a:p>
          </p:txBody>
        </p:sp>
        <p:cxnSp>
          <p:nvCxnSpPr>
            <p:cNvPr id="173" name="Google Shape;173;p16"/>
            <p:cNvCxnSpPr/>
            <p:nvPr/>
          </p:nvCxnSpPr>
          <p:spPr>
            <a:xfrm>
              <a:off x="6562725" y="1857375"/>
              <a:ext cx="4676700" cy="0"/>
            </a:xfrm>
            <a:prstGeom prst="straightConnector1">
              <a:avLst/>
            </a:prstGeom>
            <a:solidFill>
              <a:srgbClr val="FFFFFF"/>
            </a:solidFill>
            <a:ln w="9525" cap="flat" cmpd="sng">
              <a:solidFill>
                <a:srgbClr val="E2E8F0"/>
              </a:solidFill>
              <a:prstDash val="solid"/>
              <a:round/>
              <a:headEnd type="none" w="sm" len="sm"/>
              <a:tailEnd type="none" w="sm" len="sm"/>
            </a:ln>
          </p:spPr>
        </p:cxnSp>
      </p:grpSp>
      <p:sp>
        <p:nvSpPr>
          <p:cNvPr id="174" name="Google Shape;174;p16"/>
          <p:cNvSpPr txBox="1"/>
          <p:nvPr/>
        </p:nvSpPr>
        <p:spPr>
          <a:xfrm>
            <a:off x="6562725" y="2000250"/>
            <a:ext cx="4676700" cy="2762400"/>
          </a:xfrm>
          <a:prstGeom prst="rect">
            <a:avLst/>
          </a:prstGeom>
          <a:noFill/>
          <a:ln>
            <a:noFill/>
          </a:ln>
        </p:spPr>
        <p:txBody>
          <a:bodyPr spcFirstLastPara="1" wrap="square" lIns="0" tIns="0" rIns="0" bIns="0" anchor="ctr" anchorCtr="0">
            <a:noAutofit/>
          </a:bodyPr>
          <a:lstStyle/>
          <a:p>
            <a:pPr>
              <a:buFont typeface="Arial" pitchFamily="34" charset="0"/>
              <a:buChar char="•"/>
            </a:pPr>
            <a:r>
              <a:rPr lang="en-US" sz="1600" dirty="0" smtClean="0">
                <a:sym typeface="Inter"/>
              </a:rPr>
              <a:t>Manual </a:t>
            </a:r>
            <a:r>
              <a:rPr lang="en-US" sz="1600" dirty="0">
                <a:sym typeface="Inter"/>
              </a:rPr>
              <a:t>contract </a:t>
            </a:r>
            <a:r>
              <a:rPr lang="en-US" sz="1600" dirty="0" smtClean="0">
                <a:sym typeface="Inter"/>
              </a:rPr>
              <a:t>review</a:t>
            </a:r>
          </a:p>
          <a:p>
            <a:pPr>
              <a:buFont typeface="Arial" pitchFamily="34" charset="0"/>
              <a:buChar char="•"/>
            </a:pPr>
            <a:r>
              <a:rPr lang="en-US" sz="1600" dirty="0" smtClean="0">
                <a:sym typeface="Inter"/>
              </a:rPr>
              <a:t>Multiple </a:t>
            </a:r>
            <a:r>
              <a:rPr lang="en-US" sz="1600" dirty="0">
                <a:sym typeface="Inter"/>
              </a:rPr>
              <a:t>overlapping </a:t>
            </a:r>
            <a:r>
              <a:rPr lang="en-US" sz="1600" dirty="0" smtClean="0">
                <a:sym typeface="Inter"/>
              </a:rPr>
              <a:t>regulations</a:t>
            </a:r>
          </a:p>
          <a:p>
            <a:pPr>
              <a:buFont typeface="Arial" pitchFamily="34" charset="0"/>
              <a:buChar char="•"/>
            </a:pPr>
            <a:r>
              <a:rPr lang="en-US" sz="1600" dirty="0" smtClean="0">
                <a:sym typeface="Inter"/>
              </a:rPr>
              <a:t>High </a:t>
            </a:r>
            <a:r>
              <a:rPr lang="en-US" sz="1600" dirty="0">
                <a:sym typeface="Inter"/>
              </a:rPr>
              <a:t>vulnerability to human </a:t>
            </a:r>
            <a:r>
              <a:rPr lang="en-US" sz="1600" dirty="0" smtClean="0">
                <a:sym typeface="Inter"/>
              </a:rPr>
              <a:t>errors</a:t>
            </a:r>
          </a:p>
          <a:p>
            <a:pPr>
              <a:buFont typeface="Arial" pitchFamily="34" charset="0"/>
              <a:buChar char="•"/>
            </a:pPr>
            <a:r>
              <a:rPr lang="en-US" sz="1600" dirty="0" smtClean="0">
                <a:sym typeface="Inter"/>
              </a:rPr>
              <a:t>Slow </a:t>
            </a:r>
            <a:r>
              <a:rPr lang="en-US" sz="1600" dirty="0">
                <a:sym typeface="Inter"/>
              </a:rPr>
              <a:t>and inefficient compliance </a:t>
            </a:r>
            <a:r>
              <a:rPr lang="en-US" sz="1600" dirty="0" smtClean="0">
                <a:sym typeface="Inter"/>
              </a:rPr>
              <a:t>turnaround</a:t>
            </a:r>
          </a:p>
          <a:p>
            <a:pPr>
              <a:buFont typeface="Arial" pitchFamily="34" charset="0"/>
              <a:buChar char="•"/>
            </a:pPr>
            <a:r>
              <a:rPr lang="en-US" sz="1600" dirty="0" smtClean="0">
                <a:sym typeface="Inter"/>
              </a:rPr>
              <a:t>Limited </a:t>
            </a:r>
            <a:r>
              <a:rPr lang="en-US" sz="1600" dirty="0" err="1" smtClean="0">
                <a:sym typeface="Inter"/>
              </a:rPr>
              <a:t>explainability</a:t>
            </a:r>
            <a:r>
              <a:rPr lang="en-US" sz="1600" dirty="0" smtClean="0">
                <a:sym typeface="Inter"/>
              </a:rPr>
              <a:t> </a:t>
            </a:r>
            <a:r>
              <a:rPr lang="en-US" sz="1600" dirty="0">
                <a:sym typeface="Inter"/>
              </a:rPr>
              <a:t>in standard </a:t>
            </a:r>
            <a:r>
              <a:rPr lang="en-US" sz="1600" dirty="0" smtClean="0">
                <a:sym typeface="Inter"/>
              </a:rPr>
              <a:t>models</a:t>
            </a:r>
          </a:p>
          <a:p>
            <a:pPr>
              <a:buFont typeface="Arial" pitchFamily="34" charset="0"/>
              <a:buChar char="•"/>
            </a:pPr>
            <a:r>
              <a:rPr lang="en-US" sz="1600" dirty="0" smtClean="0">
                <a:sym typeface="Inter"/>
              </a:rPr>
              <a:t>Severe </a:t>
            </a:r>
            <a:r>
              <a:rPr lang="en-US" sz="1600" dirty="0">
                <a:sym typeface="Inter"/>
              </a:rPr>
              <a:t>hallucination risks in off-the-shelf </a:t>
            </a:r>
            <a:r>
              <a:rPr lang="en-US" sz="1600" dirty="0" smtClean="0">
                <a:sym typeface="Inter"/>
              </a:rPr>
              <a:t>LLMs</a:t>
            </a:r>
            <a:endParaRPr lang="en-US" sz="1600" dirty="0">
              <a:sym typeface="Inter"/>
            </a:endParaRPr>
          </a:p>
        </p:txBody>
      </p:sp>
      <p:grpSp>
        <p:nvGrpSpPr>
          <p:cNvPr id="6" name="Google Shape;175;p16"/>
          <p:cNvGrpSpPr/>
          <p:nvPr/>
        </p:nvGrpSpPr>
        <p:grpSpPr>
          <a:xfrm>
            <a:off x="676275" y="5095875"/>
            <a:ext cx="10839600" cy="514500"/>
            <a:chOff x="676275" y="5095875"/>
            <a:chExt cx="10839600" cy="514500"/>
          </a:xfrm>
        </p:grpSpPr>
        <p:sp>
          <p:nvSpPr>
            <p:cNvPr id="176" name="Google Shape;176;p16"/>
            <p:cNvSpPr/>
            <p:nvPr/>
          </p:nvSpPr>
          <p:spPr>
            <a:xfrm>
              <a:off x="676275" y="5095875"/>
              <a:ext cx="10839600" cy="514500"/>
            </a:xfrm>
            <a:prstGeom prst="roundRect">
              <a:avLst>
                <a:gd name="adj" fmla="val 18518"/>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16"/>
            <p:cNvSpPr txBox="1"/>
            <p:nvPr/>
          </p:nvSpPr>
          <p:spPr>
            <a:xfrm>
              <a:off x="676275" y="5095875"/>
              <a:ext cx="10839600" cy="514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50" b="1">
                  <a:solidFill>
                    <a:srgbClr val="FFFFFF"/>
                  </a:solidFill>
                  <a:latin typeface="Poppins"/>
                  <a:ea typeface="Poppins"/>
                  <a:cs typeface="Poppins"/>
                  <a:sym typeface="Poppins"/>
                </a:rPr>
                <a:t>Need for an Explainable, Trustworthy and Automated AI Platform</a:t>
              </a:r>
              <a:endParaRPr sz="1250" b="1">
                <a:solidFill>
                  <a:srgbClr val="FFFFFF"/>
                </a:solidFill>
                <a:latin typeface="Poppins"/>
                <a:ea typeface="Poppins"/>
                <a:cs typeface="Poppins"/>
                <a:sym typeface="Poppins"/>
              </a:endParaRPr>
            </a:p>
          </p:txBody>
        </p:sp>
      </p:grpSp>
      <p:sp>
        <p:nvSpPr>
          <p:cNvPr id="178" name="Google Shape;178;p16"/>
          <p:cNvSpPr txBox="1"/>
          <p:nvPr/>
        </p:nvSpPr>
        <p:spPr>
          <a:xfrm>
            <a:off x="819150" y="485775"/>
            <a:ext cx="11231400" cy="3693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2400" b="1">
                <a:solidFill>
                  <a:srgbClr val="0F172A"/>
                </a:solidFill>
                <a:latin typeface="Poppins"/>
                <a:ea typeface="Poppins"/>
                <a:cs typeface="Poppins"/>
                <a:sym typeface="Poppins"/>
              </a:rPr>
              <a:t>Problem Statement &amp; </a:t>
            </a:r>
            <a:r>
              <a:rPr lang="en-US" sz="2400" b="1">
                <a:solidFill>
                  <a:srgbClr val="0F766E"/>
                </a:solidFill>
                <a:latin typeface="Poppins"/>
                <a:ea typeface="Poppins"/>
                <a:cs typeface="Poppins"/>
                <a:sym typeface="Poppins"/>
              </a:rPr>
              <a:t>Research Motivation</a:t>
            </a:r>
            <a:endParaRPr sz="2400" b="1">
              <a:solidFill>
                <a:srgbClr val="0F172A"/>
              </a:solidFill>
              <a:latin typeface="Poppins"/>
              <a:ea typeface="Poppins"/>
              <a:cs typeface="Poppins"/>
              <a:sym typeface="Poppins"/>
            </a:endParaRPr>
          </a:p>
        </p:txBody>
      </p:sp>
      <p:sp>
        <p:nvSpPr>
          <p:cNvPr id="179" name="Google Shape;179;p16"/>
          <p:cNvSpPr/>
          <p:nvPr/>
        </p:nvSpPr>
        <p:spPr>
          <a:xfrm>
            <a:off x="676275" y="485775"/>
            <a:ext cx="57300" cy="381000"/>
          </a:xfrm>
          <a:prstGeom prst="rect">
            <a:avLst/>
          </a:prstGeom>
          <a:solidFill>
            <a:srgbClr val="0F766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16"/>
          <p:cNvSpPr txBox="1"/>
          <p:nvPr/>
        </p:nvSpPr>
        <p:spPr>
          <a:xfrm>
            <a:off x="733425" y="5702700"/>
            <a:ext cx="10839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t>Develop a secure, explainable, and autonomous AI platform that can automate contract review while ensuring transparency, regulatory compliance, and enterprise governance.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6" name="Google Shape;186;p17"/>
          <p:cNvSpPr txBox="1"/>
          <p:nvPr/>
        </p:nvSpPr>
        <p:spPr>
          <a:xfrm>
            <a:off x="626269" y="542925"/>
            <a:ext cx="11231400" cy="3693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2400" b="1" dirty="0">
                <a:solidFill>
                  <a:srgbClr val="0F172A"/>
                </a:solidFill>
                <a:latin typeface="Poppins"/>
                <a:ea typeface="Poppins"/>
                <a:cs typeface="Poppins"/>
                <a:sym typeface="Poppins"/>
              </a:rPr>
              <a:t>Research Gap </a:t>
            </a:r>
            <a:r>
              <a:rPr lang="en-US" sz="2400" b="1" dirty="0">
                <a:solidFill>
                  <a:srgbClr val="0F766E"/>
                </a:solidFill>
                <a:latin typeface="Poppins"/>
                <a:ea typeface="Poppins"/>
                <a:cs typeface="Poppins"/>
                <a:sym typeface="Poppins"/>
              </a:rPr>
              <a:t>Analysis</a:t>
            </a:r>
            <a:endParaRPr sz="2400" b="1" dirty="0">
              <a:solidFill>
                <a:srgbClr val="0F172A"/>
              </a:solidFill>
              <a:latin typeface="Poppins"/>
              <a:ea typeface="Poppins"/>
              <a:cs typeface="Poppins"/>
              <a:sym typeface="Poppins"/>
            </a:endParaRPr>
          </a:p>
        </p:txBody>
      </p:sp>
      <p:sp>
        <p:nvSpPr>
          <p:cNvPr id="187" name="Google Shape;187;p17"/>
          <p:cNvSpPr txBox="1"/>
          <p:nvPr/>
        </p:nvSpPr>
        <p:spPr>
          <a:xfrm>
            <a:off x="589647" y="932247"/>
            <a:ext cx="108396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dirty="0">
                <a:sym typeface="Inter"/>
              </a:rPr>
              <a:t>Although significant research exists in Document AI, Legal NLP, Retrieval-Augmented Generation (RAG), and </a:t>
            </a:r>
            <a:r>
              <a:rPr lang="en-US" dirty="0" err="1">
                <a:sym typeface="Inter"/>
              </a:rPr>
              <a:t>Agentic</a:t>
            </a:r>
            <a:r>
              <a:rPr lang="en-US" dirty="0">
                <a:sym typeface="Inter"/>
              </a:rPr>
              <a:t> AI, current solutions address only isolated aspects of banking compliance. </a:t>
            </a:r>
            <a:r>
              <a:rPr lang="en-US" dirty="0">
                <a:sym typeface="Inter SemiBold"/>
              </a:rPr>
              <a:t>No single framework provides an integrated solution</a:t>
            </a:r>
            <a:r>
              <a:rPr lang="en-US" dirty="0">
                <a:sym typeface="Inter"/>
              </a:rPr>
              <a:t> that combines multimodal understanding, autonomous reasoning, </a:t>
            </a:r>
            <a:r>
              <a:rPr lang="en-US" dirty="0" err="1">
                <a:sym typeface="Inter"/>
              </a:rPr>
              <a:t>explainability</a:t>
            </a:r>
            <a:r>
              <a:rPr lang="en-US" dirty="0">
                <a:sym typeface="Inter"/>
              </a:rPr>
              <a:t>, AI safety, and continuous regulatory monitoring</a:t>
            </a:r>
            <a:r>
              <a:rPr lang="en-US" sz="1150" b="0" dirty="0">
                <a:solidFill>
                  <a:srgbClr val="334155"/>
                </a:solidFill>
                <a:latin typeface="Inter"/>
                <a:ea typeface="Inter"/>
                <a:cs typeface="Inter"/>
                <a:sym typeface="Inter"/>
              </a:rPr>
              <a:t>.</a:t>
            </a:r>
            <a:endParaRPr sz="1150" b="0" dirty="0">
              <a:solidFill>
                <a:srgbClr val="334155"/>
              </a:solidFill>
              <a:latin typeface="Inter"/>
              <a:ea typeface="Inter"/>
              <a:cs typeface="Inter"/>
              <a:sym typeface="Inter"/>
            </a:endParaRPr>
          </a:p>
        </p:txBody>
      </p:sp>
      <p:sp>
        <p:nvSpPr>
          <p:cNvPr id="204" name="Google Shape;204;p17"/>
          <p:cNvSpPr txBox="1"/>
          <p:nvPr/>
        </p:nvSpPr>
        <p:spPr>
          <a:xfrm>
            <a:off x="819150" y="2476500"/>
            <a:ext cx="10696500" cy="3429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1050" dirty="0">
              <a:solidFill>
                <a:srgbClr val="334155"/>
              </a:solidFill>
              <a:latin typeface="Inter"/>
              <a:ea typeface="Inter"/>
              <a:cs typeface="Inter"/>
              <a:sym typeface="Inter"/>
            </a:endParaRPr>
          </a:p>
        </p:txBody>
      </p:sp>
      <p:graphicFrame>
        <p:nvGraphicFramePr>
          <p:cNvPr id="23" name="Table 22"/>
          <p:cNvGraphicFramePr>
            <a:graphicFrameLocks noGrp="1"/>
          </p:cNvGraphicFramePr>
          <p:nvPr/>
        </p:nvGraphicFramePr>
        <p:xfrm>
          <a:off x="567893" y="1645919"/>
          <a:ext cx="10722540" cy="4818420"/>
        </p:xfrm>
        <a:graphic>
          <a:graphicData uri="http://schemas.openxmlformats.org/drawingml/2006/table">
            <a:tbl>
              <a:tblPr>
                <a:tableStyleId>{00A15C55-8517-42AA-B614-E9B94910E393}</a:tableStyleId>
              </a:tblPr>
              <a:tblGrid>
                <a:gridCol w="1787090"/>
                <a:gridCol w="1787090"/>
                <a:gridCol w="1787090"/>
                <a:gridCol w="1787090"/>
                <a:gridCol w="1787090"/>
                <a:gridCol w="1787090"/>
              </a:tblGrid>
              <a:tr h="399848">
                <a:tc>
                  <a:txBody>
                    <a:bodyPr/>
                    <a:lstStyle/>
                    <a:p>
                      <a:r>
                        <a:rPr lang="en-US" sz="1300" dirty="0"/>
                        <a:t>Capability</a:t>
                      </a:r>
                    </a:p>
                  </a:txBody>
                  <a:tcPr marL="85110" marR="85110" marT="42555" marB="42555" anchor="ctr"/>
                </a:tc>
                <a:tc>
                  <a:txBody>
                    <a:bodyPr/>
                    <a:lstStyle/>
                    <a:p>
                      <a:pPr algn="ctr"/>
                      <a:r>
                        <a:rPr lang="en-US" sz="1300" dirty="0"/>
                        <a:t>Traditional OCR</a:t>
                      </a:r>
                    </a:p>
                  </a:txBody>
                  <a:tcPr marL="85110" marR="85110" marT="42555" marB="42555" anchor="ctr"/>
                </a:tc>
                <a:tc>
                  <a:txBody>
                    <a:bodyPr/>
                    <a:lstStyle/>
                    <a:p>
                      <a:pPr algn="ctr"/>
                      <a:r>
                        <a:rPr lang="en-US" sz="1300" dirty="0"/>
                        <a:t>Legal NLP</a:t>
                      </a:r>
                    </a:p>
                  </a:txBody>
                  <a:tcPr marL="85110" marR="85110" marT="42555" marB="42555" anchor="ctr"/>
                </a:tc>
                <a:tc>
                  <a:txBody>
                    <a:bodyPr/>
                    <a:lstStyle/>
                    <a:p>
                      <a:pPr algn="ctr"/>
                      <a:r>
                        <a:rPr lang="en-US" sz="1300" dirty="0"/>
                        <a:t>RAG Systems</a:t>
                      </a:r>
                    </a:p>
                  </a:txBody>
                  <a:tcPr marL="85110" marR="85110" marT="42555" marB="42555" anchor="ctr"/>
                </a:tc>
                <a:tc>
                  <a:txBody>
                    <a:bodyPr/>
                    <a:lstStyle/>
                    <a:p>
                      <a:pPr algn="ctr"/>
                      <a:r>
                        <a:rPr lang="en-US" sz="1300" dirty="0" err="1"/>
                        <a:t>Agentic</a:t>
                      </a:r>
                      <a:r>
                        <a:rPr lang="en-US" sz="1300" dirty="0"/>
                        <a:t> AI</a:t>
                      </a:r>
                    </a:p>
                  </a:txBody>
                  <a:tcPr marL="85110" marR="85110" marT="42555" marB="42555" anchor="ctr"/>
                </a:tc>
                <a:tc>
                  <a:txBody>
                    <a:bodyPr/>
                    <a:lstStyle/>
                    <a:p>
                      <a:pPr algn="ctr"/>
                      <a:r>
                        <a:rPr lang="en-US" sz="1300" dirty="0"/>
                        <a:t>Proposed Platform</a:t>
                      </a:r>
                    </a:p>
                  </a:txBody>
                  <a:tcPr marL="85110" marR="85110" marT="42555" marB="42555" anchor="ctr"/>
                </a:tc>
              </a:tr>
              <a:tr h="399848">
                <a:tc>
                  <a:txBody>
                    <a:bodyPr/>
                    <a:lstStyle/>
                    <a:p>
                      <a:r>
                        <a:rPr lang="en-US" sz="1300" dirty="0"/>
                        <a:t>Text Extraction</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dirty="0"/>
                        <a:t>✅</a:t>
                      </a:r>
                    </a:p>
                  </a:txBody>
                  <a:tcPr marL="85110" marR="85110" marT="42555" marB="42555" anchor="ctr"/>
                </a:tc>
                <a:tc>
                  <a:txBody>
                    <a:bodyPr/>
                    <a:lstStyle/>
                    <a:p>
                      <a:pPr algn="ctr"/>
                      <a:r>
                        <a:rPr lang="en-US" sz="1300" dirty="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r>
              <a:tr h="564492">
                <a:tc>
                  <a:txBody>
                    <a:bodyPr/>
                    <a:lstStyle/>
                    <a:p>
                      <a:r>
                        <a:rPr lang="en-US" sz="1300"/>
                        <a:t>Document Layout Understanding</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r>
              <a:tr h="399848">
                <a:tc>
                  <a:txBody>
                    <a:bodyPr/>
                    <a:lstStyle/>
                    <a:p>
                      <a:r>
                        <a:rPr lang="en-US" sz="1300"/>
                        <a:t>Legal Clause Extraction</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dirty="0"/>
                        <a:t>✅</a:t>
                      </a:r>
                    </a:p>
                  </a:txBody>
                  <a:tcPr marL="85110" marR="85110" marT="42555" marB="42555" anchor="ctr"/>
                </a:tc>
              </a:tr>
              <a:tr h="564492">
                <a:tc>
                  <a:txBody>
                    <a:bodyPr/>
                    <a:lstStyle/>
                    <a:p>
                      <a:r>
                        <a:rPr lang="en-US" sz="1300"/>
                        <a:t>Enterprise Knowledge Retrieval</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r>
              <a:tr h="399848">
                <a:tc>
                  <a:txBody>
                    <a:bodyPr/>
                    <a:lstStyle/>
                    <a:p>
                      <a:r>
                        <a:rPr lang="en-US" sz="1300"/>
                        <a:t>Multi-Step Reasoning</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r>
              <a:tr h="235205">
                <a:tc>
                  <a:txBody>
                    <a:bodyPr/>
                    <a:lstStyle/>
                    <a:p>
                      <a:r>
                        <a:rPr lang="en-US" sz="1300"/>
                        <a:t>Explainable AI</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r>
              <a:tr h="399848">
                <a:tc>
                  <a:txBody>
                    <a:bodyPr/>
                    <a:lstStyle/>
                    <a:p>
                      <a:r>
                        <a:rPr lang="en-US" sz="1300"/>
                        <a:t>Hallucination Prevention</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r>
              <a:tr h="564492">
                <a:tc>
                  <a:txBody>
                    <a:bodyPr/>
                    <a:lstStyle/>
                    <a:p>
                      <a:r>
                        <a:rPr lang="en-US" sz="1300"/>
                        <a:t>Continuous Regulatory Monitoring</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r>
              <a:tr h="564492">
                <a:tc>
                  <a:txBody>
                    <a:bodyPr/>
                    <a:lstStyle/>
                    <a:p>
                      <a:r>
                        <a:rPr lang="en-US" sz="1300"/>
                        <a:t>Banking Compliance Ready</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dirty="0"/>
                        <a:t>⚠️</a:t>
                      </a:r>
                    </a:p>
                  </a:txBody>
                  <a:tcPr marL="85110" marR="85110" marT="42555" marB="42555" anchor="ctr"/>
                </a:tc>
                <a:tc>
                  <a:txBody>
                    <a:bodyPr/>
                    <a:lstStyle/>
                    <a:p>
                      <a:pPr algn="ctr"/>
                      <a:r>
                        <a:rPr lang="en-US" sz="1300"/>
                        <a:t>⚠️</a:t>
                      </a:r>
                    </a:p>
                  </a:txBody>
                  <a:tcPr marL="85110" marR="85110" marT="42555" marB="42555" anchor="ctr"/>
                </a:tc>
                <a:tc>
                  <a:txBody>
                    <a:bodyPr/>
                    <a:lstStyle/>
                    <a:p>
                      <a:pPr algn="ctr"/>
                      <a:r>
                        <a:rPr lang="en-US" sz="1300" dirty="0"/>
                        <a:t>✅</a:t>
                      </a:r>
                    </a:p>
                  </a:txBody>
                  <a:tcPr marL="85110" marR="85110" marT="42555" marB="42555"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1" name="Google Shape;211;p18"/>
          <p:cNvSpPr txBox="1"/>
          <p:nvPr/>
        </p:nvSpPr>
        <p:spPr>
          <a:xfrm>
            <a:off x="383381" y="492919"/>
            <a:ext cx="11231400" cy="461665"/>
          </a:xfrm>
          <a:prstGeom prst="rect">
            <a:avLst/>
          </a:prstGeom>
          <a:noFill/>
          <a:ln>
            <a:noFill/>
          </a:ln>
        </p:spPr>
        <p:txBody>
          <a:bodyPr spcFirstLastPara="1" wrap="square" lIns="0" tIns="0" rIns="0" bIns="0" anchor="t" anchorCtr="0">
            <a:spAutoFit/>
          </a:bodyPr>
          <a:lstStyle/>
          <a:p>
            <a:pPr lvl="0">
              <a:lnSpc>
                <a:spcPct val="125000"/>
              </a:lnSpc>
            </a:pPr>
            <a:r>
              <a:rPr lang="en-US" sz="2400" b="1" dirty="0" smtClean="0">
                <a:solidFill>
                  <a:srgbClr val="0F172A"/>
                </a:solidFill>
                <a:latin typeface="Poppins"/>
                <a:ea typeface="Poppins"/>
                <a:cs typeface="Poppins"/>
                <a:sym typeface="Poppins"/>
              </a:rPr>
              <a:t>Literature </a:t>
            </a:r>
            <a:r>
              <a:rPr lang="en-US" sz="2400" b="1" dirty="0" smtClean="0">
                <a:solidFill>
                  <a:srgbClr val="0F766E"/>
                </a:solidFill>
                <a:latin typeface="Poppins"/>
                <a:ea typeface="Poppins"/>
                <a:cs typeface="Poppins"/>
                <a:sym typeface="Poppins"/>
              </a:rPr>
              <a:t>Review</a:t>
            </a:r>
            <a:endParaRPr dirty="0"/>
          </a:p>
        </p:txBody>
      </p:sp>
      <p:sp>
        <p:nvSpPr>
          <p:cNvPr id="212" name="Google Shape;212;p18"/>
          <p:cNvSpPr txBox="1"/>
          <p:nvPr/>
        </p:nvSpPr>
        <p:spPr>
          <a:xfrm>
            <a:off x="452800" y="855075"/>
            <a:ext cx="11406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t>The proposed research builds upon advances in Document AI, Legal NLP, Explainable AI, Retrieval-Augmented Generation, </a:t>
            </a:r>
            <a:r>
              <a:rPr lang="en-US" dirty="0" err="1"/>
              <a:t>Agentic</a:t>
            </a:r>
            <a:r>
              <a:rPr lang="en-US" dirty="0"/>
              <a:t> AI, and AI Safety to develop a unified enterprise compliance platform </a:t>
            </a:r>
            <a:endParaRPr dirty="0"/>
          </a:p>
        </p:txBody>
      </p:sp>
      <p:graphicFrame>
        <p:nvGraphicFramePr>
          <p:cNvPr id="213" name="Google Shape;213;p18"/>
          <p:cNvGraphicFramePr/>
          <p:nvPr/>
        </p:nvGraphicFramePr>
        <p:xfrm>
          <a:off x="303238" y="1579250"/>
          <a:ext cx="11556150" cy="5252196"/>
        </p:xfrm>
        <a:graphic>
          <a:graphicData uri="http://schemas.openxmlformats.org/drawingml/2006/table">
            <a:tbl>
              <a:tblPr>
                <a:noFill/>
              </a:tblPr>
              <a:tblGrid>
                <a:gridCol w="2244175"/>
                <a:gridCol w="2877400"/>
                <a:gridCol w="2551475"/>
                <a:gridCol w="3883100"/>
              </a:tblGrid>
              <a:tr h="363850">
                <a:tc>
                  <a:txBody>
                    <a:bodyPr/>
                    <a:lstStyle/>
                    <a:p>
                      <a:pPr marL="0" lvl="0" indent="0" algn="ctr" rtl="0">
                        <a:lnSpc>
                          <a:spcPct val="115000"/>
                        </a:lnSpc>
                        <a:spcBef>
                          <a:spcPts val="0"/>
                        </a:spcBef>
                        <a:spcAft>
                          <a:spcPts val="0"/>
                        </a:spcAft>
                        <a:buNone/>
                      </a:pPr>
                      <a:r>
                        <a:rPr lang="en-US" sz="1100" b="1" dirty="0"/>
                        <a:t>Reference</a:t>
                      </a:r>
                      <a:endParaRPr sz="1100" b="1" dirty="0"/>
                    </a:p>
                  </a:txBody>
                  <a:tcPr marL="91425" marR="91425" marT="91425" marB="91425"/>
                </a:tc>
                <a:tc>
                  <a:txBody>
                    <a:bodyPr/>
                    <a:lstStyle/>
                    <a:p>
                      <a:pPr marL="0" lvl="0" indent="0" algn="ctr" rtl="0">
                        <a:lnSpc>
                          <a:spcPct val="115000"/>
                        </a:lnSpc>
                        <a:spcBef>
                          <a:spcPts val="0"/>
                        </a:spcBef>
                        <a:spcAft>
                          <a:spcPts val="0"/>
                        </a:spcAft>
                        <a:buNone/>
                      </a:pPr>
                      <a:r>
                        <a:rPr lang="en-US" sz="1100" b="1"/>
                        <a:t>Key Contribution</a:t>
                      </a:r>
                      <a:endParaRPr sz="1100" b="1"/>
                    </a:p>
                  </a:txBody>
                  <a:tcPr marL="91425" marR="91425" marT="91425" marB="91425"/>
                </a:tc>
                <a:tc>
                  <a:txBody>
                    <a:bodyPr/>
                    <a:lstStyle/>
                    <a:p>
                      <a:pPr marL="0" lvl="0" indent="0" algn="ctr" rtl="0">
                        <a:lnSpc>
                          <a:spcPct val="115000"/>
                        </a:lnSpc>
                        <a:spcBef>
                          <a:spcPts val="0"/>
                        </a:spcBef>
                        <a:spcAft>
                          <a:spcPts val="0"/>
                        </a:spcAft>
                        <a:buNone/>
                      </a:pPr>
                      <a:r>
                        <a:rPr lang="en-US" sz="1100" b="1"/>
                        <a:t>Limitation</a:t>
                      </a:r>
                      <a:endParaRPr sz="1100" b="1"/>
                    </a:p>
                  </a:txBody>
                  <a:tcPr marL="91425" marR="91425" marT="91425" marB="91425"/>
                </a:tc>
                <a:tc>
                  <a:txBody>
                    <a:bodyPr/>
                    <a:lstStyle/>
                    <a:p>
                      <a:pPr marL="0" lvl="0" indent="0" algn="ctr" rtl="0">
                        <a:lnSpc>
                          <a:spcPct val="115000"/>
                        </a:lnSpc>
                        <a:spcBef>
                          <a:spcPts val="0"/>
                        </a:spcBef>
                        <a:spcAft>
                          <a:spcPts val="0"/>
                        </a:spcAft>
                        <a:buNone/>
                      </a:pPr>
                      <a:r>
                        <a:rPr lang="en-US" sz="1100" b="1"/>
                        <a:t>Relevance to This Research</a:t>
                      </a:r>
                      <a:endParaRPr sz="1100" b="1"/>
                    </a:p>
                  </a:txBody>
                  <a:tcPr marL="91425" marR="91425" marT="91425" marB="91425"/>
                </a:tc>
              </a:tr>
              <a:tr h="586625">
                <a:tc>
                  <a:txBody>
                    <a:bodyPr/>
                    <a:lstStyle/>
                    <a:p>
                      <a:pPr marL="0" lvl="0" indent="0" algn="l" rtl="0">
                        <a:spcBef>
                          <a:spcPts val="0"/>
                        </a:spcBef>
                        <a:spcAft>
                          <a:spcPts val="0"/>
                        </a:spcAft>
                        <a:buNone/>
                      </a:pPr>
                      <a:r>
                        <a:rPr lang="en-US" sz="1100" b="1"/>
                        <a:t>Bommarito et al. (2021)</a:t>
                      </a:r>
                      <a:r>
                        <a:rPr lang="en-US" sz="1100"/>
                        <a:t> – </a:t>
                      </a:r>
                      <a:r>
                        <a:rPr lang="en-US" sz="1100" b="1"/>
                        <a:t>CUAD</a:t>
                      </a:r>
                      <a:endParaRPr sz="1100" b="1"/>
                    </a:p>
                  </a:txBody>
                  <a:tcPr marL="91425" marR="91425" marT="91425" marB="91425"/>
                </a:tc>
                <a:tc>
                  <a:txBody>
                    <a:bodyPr/>
                    <a:lstStyle/>
                    <a:p>
                      <a:pPr marL="0" lvl="0" indent="0" algn="l" rtl="0">
                        <a:spcBef>
                          <a:spcPts val="0"/>
                        </a:spcBef>
                        <a:spcAft>
                          <a:spcPts val="0"/>
                        </a:spcAft>
                        <a:buNone/>
                      </a:pPr>
                      <a:r>
                        <a:rPr lang="en-US"/>
                        <a:t>Expert-annotated legal contract dataset for clause extraction</a:t>
                      </a:r>
                      <a:endParaRPr/>
                    </a:p>
                  </a:txBody>
                  <a:tcPr marL="91425" marR="91425" marT="91425" marB="91425"/>
                </a:tc>
                <a:tc>
                  <a:txBody>
                    <a:bodyPr/>
                    <a:lstStyle/>
                    <a:p>
                      <a:pPr marL="0" lvl="0" indent="0" algn="l" rtl="0">
                        <a:spcBef>
                          <a:spcPts val="0"/>
                        </a:spcBef>
                        <a:spcAft>
                          <a:spcPts val="0"/>
                        </a:spcAft>
                        <a:buNone/>
                      </a:pPr>
                      <a:r>
                        <a:rPr lang="en-US"/>
                        <a:t>Dataset only; no reasoning or compliance workflow</a:t>
                      </a:r>
                      <a:endParaRPr/>
                    </a:p>
                  </a:txBody>
                  <a:tcPr marL="91425" marR="91425" marT="91425" marB="91425"/>
                </a:tc>
                <a:tc>
                  <a:txBody>
                    <a:bodyPr/>
                    <a:lstStyle/>
                    <a:p>
                      <a:pPr marL="0" lvl="0" indent="0" algn="l" rtl="0">
                        <a:spcBef>
                          <a:spcPts val="0"/>
                        </a:spcBef>
                        <a:spcAft>
                          <a:spcPts val="0"/>
                        </a:spcAft>
                        <a:buNone/>
                      </a:pPr>
                      <a:r>
                        <a:rPr lang="en-US"/>
                        <a:t>Used as the primary benchmark for Legal-BERT fine-tuning and clause extraction.</a:t>
                      </a:r>
                      <a:endParaRPr/>
                    </a:p>
                  </a:txBody>
                  <a:tcPr marL="91425" marR="91425" marT="91425" marB="91425"/>
                </a:tc>
              </a:tr>
              <a:tr h="586625">
                <a:tc>
                  <a:txBody>
                    <a:bodyPr/>
                    <a:lstStyle/>
                    <a:p>
                      <a:pPr marL="0" lvl="0" indent="0" algn="l" rtl="0">
                        <a:spcBef>
                          <a:spcPts val="0"/>
                        </a:spcBef>
                        <a:spcAft>
                          <a:spcPts val="0"/>
                        </a:spcAft>
                        <a:buNone/>
                      </a:pPr>
                      <a:r>
                        <a:rPr lang="en-US" sz="1100" b="1"/>
                        <a:t>Li et al. (2022)</a:t>
                      </a:r>
                      <a:r>
                        <a:rPr lang="en-US" sz="1100"/>
                        <a:t> – </a:t>
                      </a:r>
                      <a:r>
                        <a:rPr lang="en-US" sz="1100" b="1"/>
                        <a:t>DocLayNet</a:t>
                      </a:r>
                      <a:endParaRPr sz="1100" b="1"/>
                    </a:p>
                  </a:txBody>
                  <a:tcPr marL="91425" marR="91425" marT="91425" marB="91425"/>
                </a:tc>
                <a:tc>
                  <a:txBody>
                    <a:bodyPr/>
                    <a:lstStyle/>
                    <a:p>
                      <a:pPr marL="0" lvl="0" indent="0" algn="l" rtl="0">
                        <a:spcBef>
                          <a:spcPts val="0"/>
                        </a:spcBef>
                        <a:spcAft>
                          <a:spcPts val="0"/>
                        </a:spcAft>
                        <a:buNone/>
                      </a:pPr>
                      <a:r>
                        <a:rPr lang="en-US"/>
                        <a:t>Multimodal document-layout dataset</a:t>
                      </a:r>
                      <a:endParaRPr/>
                    </a:p>
                  </a:txBody>
                  <a:tcPr marL="91425" marR="91425" marT="91425" marB="91425"/>
                </a:tc>
                <a:tc>
                  <a:txBody>
                    <a:bodyPr/>
                    <a:lstStyle/>
                    <a:p>
                      <a:pPr marL="0" lvl="0" indent="0" algn="l" rtl="0">
                        <a:spcBef>
                          <a:spcPts val="0"/>
                        </a:spcBef>
                        <a:spcAft>
                          <a:spcPts val="0"/>
                        </a:spcAft>
                        <a:buNone/>
                      </a:pPr>
                      <a:r>
                        <a:rPr lang="en-US"/>
                        <a:t>Focuses on layout analysis only</a:t>
                      </a:r>
                      <a:endParaRPr/>
                    </a:p>
                  </a:txBody>
                  <a:tcPr marL="91425" marR="91425" marT="91425" marB="91425"/>
                </a:tc>
                <a:tc>
                  <a:txBody>
                    <a:bodyPr/>
                    <a:lstStyle/>
                    <a:p>
                      <a:pPr marL="0" lvl="0" indent="0" algn="l" rtl="0">
                        <a:spcBef>
                          <a:spcPts val="0"/>
                        </a:spcBef>
                        <a:spcAft>
                          <a:spcPts val="0"/>
                        </a:spcAft>
                        <a:buNone/>
                      </a:pPr>
                      <a:r>
                        <a:rPr lang="en-US"/>
                        <a:t>Used for LayoutLMv3 training to preserve document structure.</a:t>
                      </a:r>
                      <a:endParaRPr/>
                    </a:p>
                  </a:txBody>
                  <a:tcPr marL="91425" marR="91425" marT="91425" marB="91425"/>
                </a:tc>
              </a:tr>
              <a:tr h="586625">
                <a:tc>
                  <a:txBody>
                    <a:bodyPr/>
                    <a:lstStyle/>
                    <a:p>
                      <a:pPr marL="0" lvl="0" indent="0" algn="l" rtl="0">
                        <a:spcBef>
                          <a:spcPts val="0"/>
                        </a:spcBef>
                        <a:spcAft>
                          <a:spcPts val="0"/>
                        </a:spcAft>
                        <a:buNone/>
                      </a:pPr>
                      <a:r>
                        <a:rPr lang="en-US" sz="1100" b="1" dirty="0" err="1"/>
                        <a:t>Chalkidis</a:t>
                      </a:r>
                      <a:r>
                        <a:rPr lang="en-US" sz="1100" b="1" dirty="0"/>
                        <a:t> et al. (2020)</a:t>
                      </a:r>
                      <a:r>
                        <a:rPr lang="en-US" sz="1100" dirty="0"/>
                        <a:t> – </a:t>
                      </a:r>
                      <a:r>
                        <a:rPr lang="en-US" sz="1100" b="1" dirty="0"/>
                        <a:t>LEGAL-BERT</a:t>
                      </a:r>
                      <a:endParaRPr sz="1100" b="1" dirty="0"/>
                    </a:p>
                  </a:txBody>
                  <a:tcPr marL="91425" marR="91425" marT="91425" marB="91425"/>
                </a:tc>
                <a:tc>
                  <a:txBody>
                    <a:bodyPr/>
                    <a:lstStyle/>
                    <a:p>
                      <a:pPr marL="0" lvl="0" indent="0" algn="l" rtl="0">
                        <a:spcBef>
                          <a:spcPts val="0"/>
                        </a:spcBef>
                        <a:spcAft>
                          <a:spcPts val="0"/>
                        </a:spcAft>
                        <a:buNone/>
                      </a:pPr>
                      <a:r>
                        <a:rPr lang="en-US"/>
                        <a:t>Domain-specific transformer for legal NLP</a:t>
                      </a:r>
                      <a:endParaRPr/>
                    </a:p>
                  </a:txBody>
                  <a:tcPr marL="91425" marR="91425" marT="91425" marB="91425"/>
                </a:tc>
                <a:tc>
                  <a:txBody>
                    <a:bodyPr/>
                    <a:lstStyle/>
                    <a:p>
                      <a:pPr marL="0" lvl="0" indent="0" algn="l" rtl="0">
                        <a:spcBef>
                          <a:spcPts val="0"/>
                        </a:spcBef>
                        <a:spcAft>
                          <a:spcPts val="0"/>
                        </a:spcAft>
                        <a:buNone/>
                      </a:pPr>
                      <a:r>
                        <a:rPr lang="en-US"/>
                        <a:t>Does not support enterprise orchestration</a:t>
                      </a:r>
                      <a:endParaRPr/>
                    </a:p>
                  </a:txBody>
                  <a:tcPr marL="91425" marR="91425" marT="91425" marB="91425"/>
                </a:tc>
                <a:tc>
                  <a:txBody>
                    <a:bodyPr/>
                    <a:lstStyle/>
                    <a:p>
                      <a:pPr marL="0" lvl="0" indent="0" algn="l" rtl="0">
                        <a:spcBef>
                          <a:spcPts val="0"/>
                        </a:spcBef>
                        <a:spcAft>
                          <a:spcPts val="0"/>
                        </a:spcAft>
                        <a:buNone/>
                      </a:pPr>
                      <a:r>
                        <a:rPr lang="en-US"/>
                        <a:t>Used for legal clause classification after document parsing.</a:t>
                      </a:r>
                      <a:endParaRPr/>
                    </a:p>
                  </a:txBody>
                  <a:tcPr marL="91425" marR="91425" marT="91425" marB="91425"/>
                </a:tc>
              </a:tr>
              <a:tr h="586625">
                <a:tc>
                  <a:txBody>
                    <a:bodyPr/>
                    <a:lstStyle/>
                    <a:p>
                      <a:pPr marL="0" lvl="0" indent="0" algn="l" rtl="0">
                        <a:spcBef>
                          <a:spcPts val="0"/>
                        </a:spcBef>
                        <a:spcAft>
                          <a:spcPts val="0"/>
                        </a:spcAft>
                        <a:buNone/>
                      </a:pPr>
                      <a:r>
                        <a:rPr lang="en-US" sz="1100" b="1"/>
                        <a:t>Lundberg &amp; Lee (2017)</a:t>
                      </a:r>
                      <a:r>
                        <a:rPr lang="en-US" sz="1100"/>
                        <a:t> – </a:t>
                      </a:r>
                      <a:r>
                        <a:rPr lang="en-US" sz="1100" b="1"/>
                        <a:t>SHAP</a:t>
                      </a:r>
                      <a:endParaRPr sz="1100" b="1"/>
                    </a:p>
                  </a:txBody>
                  <a:tcPr marL="91425" marR="91425" marT="91425" marB="91425"/>
                </a:tc>
                <a:tc>
                  <a:txBody>
                    <a:bodyPr/>
                    <a:lstStyle/>
                    <a:p>
                      <a:pPr marL="0" lvl="0" indent="0" algn="l" rtl="0">
                        <a:spcBef>
                          <a:spcPts val="0"/>
                        </a:spcBef>
                        <a:spcAft>
                          <a:spcPts val="0"/>
                        </a:spcAft>
                        <a:buNone/>
                      </a:pPr>
                      <a:r>
                        <a:rPr lang="en-US"/>
                        <a:t>Model explainability through feature attribution</a:t>
                      </a:r>
                      <a:endParaRPr/>
                    </a:p>
                  </a:txBody>
                  <a:tcPr marL="91425" marR="91425" marT="91425" marB="91425"/>
                </a:tc>
                <a:tc>
                  <a:txBody>
                    <a:bodyPr/>
                    <a:lstStyle/>
                    <a:p>
                      <a:pPr marL="0" lvl="0" indent="0" algn="l" rtl="0">
                        <a:spcBef>
                          <a:spcPts val="0"/>
                        </a:spcBef>
                        <a:spcAft>
                          <a:spcPts val="0"/>
                        </a:spcAft>
                        <a:buNone/>
                      </a:pPr>
                      <a:r>
                        <a:rPr lang="en-US"/>
                        <a:t>Limited to explaining model predictions</a:t>
                      </a:r>
                      <a:endParaRPr/>
                    </a:p>
                  </a:txBody>
                  <a:tcPr marL="91425" marR="91425" marT="91425" marB="91425"/>
                </a:tc>
                <a:tc>
                  <a:txBody>
                    <a:bodyPr/>
                    <a:lstStyle/>
                    <a:p>
                      <a:pPr marL="0" lvl="0" indent="0" algn="l" rtl="0">
                        <a:spcBef>
                          <a:spcPts val="0"/>
                        </a:spcBef>
                        <a:spcAft>
                          <a:spcPts val="0"/>
                        </a:spcAft>
                        <a:buNone/>
                      </a:pPr>
                      <a:r>
                        <a:rPr lang="en-US"/>
                        <a:t>Provides transparent and auditable clause classification.</a:t>
                      </a:r>
                      <a:endParaRPr/>
                    </a:p>
                  </a:txBody>
                  <a:tcPr marL="91425" marR="91425" marT="91425" marB="91425"/>
                </a:tc>
              </a:tr>
              <a:tr h="586625">
                <a:tc>
                  <a:txBody>
                    <a:bodyPr/>
                    <a:lstStyle/>
                    <a:p>
                      <a:pPr marL="0" lvl="0" indent="0" algn="l" rtl="0">
                        <a:spcBef>
                          <a:spcPts val="0"/>
                        </a:spcBef>
                        <a:spcAft>
                          <a:spcPts val="0"/>
                        </a:spcAft>
                        <a:buNone/>
                      </a:pPr>
                      <a:r>
                        <a:rPr lang="en-US" sz="1100" b="1"/>
                        <a:t>Weidinger et al. (2022)</a:t>
                      </a:r>
                      <a:endParaRPr sz="1100" b="1"/>
                    </a:p>
                  </a:txBody>
                  <a:tcPr marL="91425" marR="91425" marT="91425" marB="91425"/>
                </a:tc>
                <a:tc>
                  <a:txBody>
                    <a:bodyPr/>
                    <a:lstStyle/>
                    <a:p>
                      <a:pPr marL="0" lvl="0" indent="0" algn="l" rtl="0">
                        <a:spcBef>
                          <a:spcPts val="0"/>
                        </a:spcBef>
                        <a:spcAft>
                          <a:spcPts val="0"/>
                        </a:spcAft>
                        <a:buNone/>
                      </a:pPr>
                      <a:r>
                        <a:rPr lang="en-US"/>
                        <a:t>Identifies risks of LLMs, including hallucinations</a:t>
                      </a:r>
                      <a:endParaRPr/>
                    </a:p>
                  </a:txBody>
                  <a:tcPr marL="91425" marR="91425" marT="91425" marB="91425"/>
                </a:tc>
                <a:tc>
                  <a:txBody>
                    <a:bodyPr/>
                    <a:lstStyle/>
                    <a:p>
                      <a:pPr marL="0" lvl="0" indent="0" algn="l" rtl="0">
                        <a:spcBef>
                          <a:spcPts val="0"/>
                        </a:spcBef>
                        <a:spcAft>
                          <a:spcPts val="0"/>
                        </a:spcAft>
                        <a:buNone/>
                      </a:pPr>
                      <a:r>
                        <a:rPr lang="en-US"/>
                        <a:t>Does not propose runtime enforcement</a:t>
                      </a:r>
                      <a:endParaRPr/>
                    </a:p>
                  </a:txBody>
                  <a:tcPr marL="91425" marR="91425" marT="91425" marB="91425"/>
                </a:tc>
                <a:tc>
                  <a:txBody>
                    <a:bodyPr/>
                    <a:lstStyle/>
                    <a:p>
                      <a:pPr marL="0" lvl="0" indent="0" algn="l" rtl="0">
                        <a:spcBef>
                          <a:spcPts val="0"/>
                        </a:spcBef>
                        <a:spcAft>
                          <a:spcPts val="0"/>
                        </a:spcAft>
                        <a:buNone/>
                      </a:pPr>
                      <a:r>
                        <a:rPr lang="en-US"/>
                        <a:t>Motivates the use of Guardrails AI for safe deployment.</a:t>
                      </a:r>
                      <a:endParaRPr/>
                    </a:p>
                  </a:txBody>
                  <a:tcPr marL="91425" marR="91425" marT="91425" marB="91425"/>
                </a:tc>
              </a:tr>
              <a:tr h="586625">
                <a:tc>
                  <a:txBody>
                    <a:bodyPr/>
                    <a:lstStyle/>
                    <a:p>
                      <a:pPr marL="0" lvl="0" indent="0" algn="l" rtl="0">
                        <a:spcBef>
                          <a:spcPts val="0"/>
                        </a:spcBef>
                        <a:spcAft>
                          <a:spcPts val="0"/>
                        </a:spcAft>
                        <a:buNone/>
                      </a:pPr>
                      <a:r>
                        <a:rPr lang="en-US" sz="1100" b="1"/>
                        <a:t>Yao et al. (2023)</a:t>
                      </a:r>
                      <a:r>
                        <a:rPr lang="en-US" sz="1100"/>
                        <a:t> – </a:t>
                      </a:r>
                      <a:r>
                        <a:rPr lang="en-US" sz="1100" b="1"/>
                        <a:t>ReAct</a:t>
                      </a:r>
                      <a:endParaRPr sz="1100" b="1"/>
                    </a:p>
                  </a:txBody>
                  <a:tcPr marL="91425" marR="91425" marT="91425" marB="91425"/>
                </a:tc>
                <a:tc>
                  <a:txBody>
                    <a:bodyPr/>
                    <a:lstStyle/>
                    <a:p>
                      <a:pPr marL="0" lvl="0" indent="0" algn="l" rtl="0">
                        <a:spcBef>
                          <a:spcPts val="0"/>
                        </a:spcBef>
                        <a:spcAft>
                          <a:spcPts val="0"/>
                        </a:spcAft>
                        <a:buNone/>
                      </a:pPr>
                      <a:r>
                        <a:rPr lang="en-US"/>
                        <a:t>Combines reasoning and tool usage</a:t>
                      </a:r>
                      <a:endParaRPr/>
                    </a:p>
                  </a:txBody>
                  <a:tcPr marL="91425" marR="91425" marT="91425" marB="91425"/>
                </a:tc>
                <a:tc>
                  <a:txBody>
                    <a:bodyPr/>
                    <a:lstStyle/>
                    <a:p>
                      <a:pPr marL="0" lvl="0" indent="0" algn="l" rtl="0">
                        <a:spcBef>
                          <a:spcPts val="0"/>
                        </a:spcBef>
                        <a:spcAft>
                          <a:spcPts val="0"/>
                        </a:spcAft>
                        <a:buNone/>
                      </a:pPr>
                      <a:r>
                        <a:rPr lang="en-US"/>
                        <a:t>Not tailored to regulated banking workflows</a:t>
                      </a:r>
                      <a:endParaRPr/>
                    </a:p>
                  </a:txBody>
                  <a:tcPr marL="91425" marR="91425" marT="91425" marB="91425"/>
                </a:tc>
                <a:tc>
                  <a:txBody>
                    <a:bodyPr/>
                    <a:lstStyle/>
                    <a:p>
                      <a:pPr marL="0" lvl="0" indent="0" algn="l" rtl="0">
                        <a:spcBef>
                          <a:spcPts val="0"/>
                        </a:spcBef>
                        <a:spcAft>
                          <a:spcPts val="0"/>
                        </a:spcAft>
                        <a:buNone/>
                      </a:pPr>
                      <a:r>
                        <a:rPr lang="en-US"/>
                        <a:t>Forms the basis for the agent reasoning strategy.</a:t>
                      </a:r>
                      <a:endParaRPr/>
                    </a:p>
                  </a:txBody>
                  <a:tcPr marL="91425" marR="91425" marT="91425" marB="91425"/>
                </a:tc>
              </a:tr>
              <a:tr h="586625">
                <a:tc>
                  <a:txBody>
                    <a:bodyPr/>
                    <a:lstStyle/>
                    <a:p>
                      <a:pPr marL="0" lvl="0" indent="0" algn="l" rtl="0">
                        <a:spcBef>
                          <a:spcPts val="0"/>
                        </a:spcBef>
                        <a:spcAft>
                          <a:spcPts val="0"/>
                        </a:spcAft>
                        <a:buNone/>
                      </a:pPr>
                      <a:r>
                        <a:rPr lang="en-US" sz="1100" b="1"/>
                        <a:t>Anthropic (2024)</a:t>
                      </a:r>
                      <a:r>
                        <a:rPr lang="en-US" sz="1100"/>
                        <a:t> – </a:t>
                      </a:r>
                      <a:r>
                        <a:rPr lang="en-US" sz="1100" b="1"/>
                        <a:t>Model Context Protocol</a:t>
                      </a:r>
                      <a:endParaRPr sz="1100" b="1"/>
                    </a:p>
                  </a:txBody>
                  <a:tcPr marL="91425" marR="91425" marT="91425" marB="91425"/>
                </a:tc>
                <a:tc>
                  <a:txBody>
                    <a:bodyPr/>
                    <a:lstStyle/>
                    <a:p>
                      <a:pPr marL="0" lvl="0" indent="0" algn="l" rtl="0">
                        <a:spcBef>
                          <a:spcPts val="0"/>
                        </a:spcBef>
                        <a:spcAft>
                          <a:spcPts val="0"/>
                        </a:spcAft>
                        <a:buNone/>
                      </a:pPr>
                      <a:r>
                        <a:rPr lang="en-US"/>
                        <a:t>Standardized protocol for secure tool integration</a:t>
                      </a:r>
                      <a:endParaRPr/>
                    </a:p>
                  </a:txBody>
                  <a:tcPr marL="91425" marR="91425" marT="91425" marB="91425"/>
                </a:tc>
                <a:tc>
                  <a:txBody>
                    <a:bodyPr/>
                    <a:lstStyle/>
                    <a:p>
                      <a:pPr marL="0" lvl="0" indent="0" algn="l" rtl="0">
                        <a:spcBef>
                          <a:spcPts val="0"/>
                        </a:spcBef>
                        <a:spcAft>
                          <a:spcPts val="0"/>
                        </a:spcAft>
                        <a:buNone/>
                      </a:pPr>
                      <a:r>
                        <a:rPr lang="en-US"/>
                        <a:t>Generic framework</a:t>
                      </a:r>
                      <a:endParaRPr/>
                    </a:p>
                  </a:txBody>
                  <a:tcPr marL="91425" marR="91425" marT="91425" marB="91425"/>
                </a:tc>
                <a:tc>
                  <a:txBody>
                    <a:bodyPr/>
                    <a:lstStyle/>
                    <a:p>
                      <a:pPr marL="0" lvl="0" indent="0" algn="l" rtl="0">
                        <a:spcBef>
                          <a:spcPts val="0"/>
                        </a:spcBef>
                        <a:spcAft>
                          <a:spcPts val="0"/>
                        </a:spcAft>
                        <a:buNone/>
                      </a:pPr>
                      <a:r>
                        <a:rPr lang="en-US"/>
                        <a:t>Enables secure enterprise access to policies and knowledge sources.</a:t>
                      </a:r>
                      <a:endParaRPr/>
                    </a:p>
                  </a:txBody>
                  <a:tcPr marL="91425" marR="91425" marT="91425" marB="91425"/>
                </a:tc>
              </a:tr>
              <a:tr h="586625">
                <a:tc>
                  <a:txBody>
                    <a:bodyPr/>
                    <a:lstStyle/>
                    <a:p>
                      <a:pPr marL="0" lvl="0" indent="0" algn="l" rtl="0">
                        <a:spcBef>
                          <a:spcPts val="0"/>
                        </a:spcBef>
                        <a:spcAft>
                          <a:spcPts val="0"/>
                        </a:spcAft>
                        <a:buNone/>
                      </a:pPr>
                      <a:r>
                        <a:rPr lang="en-US" sz="1100" b="1"/>
                        <a:t>RBI &amp; Basel III Guidelines</a:t>
                      </a:r>
                      <a:endParaRPr sz="1100" b="1"/>
                    </a:p>
                  </a:txBody>
                  <a:tcPr marL="91425" marR="91425" marT="91425" marB="91425"/>
                </a:tc>
                <a:tc>
                  <a:txBody>
                    <a:bodyPr/>
                    <a:lstStyle/>
                    <a:p>
                      <a:pPr marL="0" lvl="0" indent="0" algn="l" rtl="0">
                        <a:spcBef>
                          <a:spcPts val="0"/>
                        </a:spcBef>
                        <a:spcAft>
                          <a:spcPts val="0"/>
                        </a:spcAft>
                        <a:buNone/>
                      </a:pPr>
                      <a:r>
                        <a:rPr lang="en-US"/>
                        <a:t>Define banking compliance requirements</a:t>
                      </a:r>
                      <a:endParaRPr/>
                    </a:p>
                  </a:txBody>
                  <a:tcPr marL="91425" marR="91425" marT="91425" marB="91425"/>
                </a:tc>
                <a:tc>
                  <a:txBody>
                    <a:bodyPr/>
                    <a:lstStyle/>
                    <a:p>
                      <a:pPr marL="0" lvl="0" indent="0" algn="l" rtl="0">
                        <a:spcBef>
                          <a:spcPts val="0"/>
                        </a:spcBef>
                        <a:spcAft>
                          <a:spcPts val="0"/>
                        </a:spcAft>
                        <a:buNone/>
                      </a:pPr>
                      <a:r>
                        <a:rPr lang="en-US"/>
                        <a:t>Human-driven implementation</a:t>
                      </a:r>
                      <a:endParaRPr/>
                    </a:p>
                  </a:txBody>
                  <a:tcPr marL="91425" marR="91425" marT="91425" marB="91425"/>
                </a:tc>
                <a:tc>
                  <a:txBody>
                    <a:bodyPr/>
                    <a:lstStyle/>
                    <a:p>
                      <a:pPr marL="0" lvl="0" indent="0" algn="l" rtl="0">
                        <a:spcBef>
                          <a:spcPts val="0"/>
                        </a:spcBef>
                        <a:spcAft>
                          <a:spcPts val="0"/>
                        </a:spcAft>
                        <a:buNone/>
                      </a:pPr>
                      <a:r>
                        <a:rPr lang="en-US"/>
                        <a:t>Drive the compliance use cases and evaluation scenarios.</a:t>
                      </a:r>
                      <a:endParaRPr/>
                    </a:p>
                  </a:txBody>
                  <a:tcPr marL="91425" marR="91425" marT="91425" marB="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0" name="Google Shape;220;p19"/>
          <p:cNvSpPr txBox="1"/>
          <p:nvPr/>
        </p:nvSpPr>
        <p:spPr>
          <a:xfrm>
            <a:off x="697707" y="485775"/>
            <a:ext cx="11231400" cy="3693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2400" b="1" i="0" dirty="0">
                <a:solidFill>
                  <a:srgbClr val="0F172A"/>
                </a:solidFill>
                <a:latin typeface="Poppins"/>
                <a:ea typeface="Poppins"/>
                <a:cs typeface="Poppins"/>
                <a:sym typeface="Poppins"/>
              </a:rPr>
              <a:t>Research Gap </a:t>
            </a:r>
            <a:r>
              <a:rPr lang="en-US" sz="2400" b="1" i="0" dirty="0">
                <a:solidFill>
                  <a:srgbClr val="0F766E"/>
                </a:solidFill>
                <a:latin typeface="Poppins"/>
                <a:ea typeface="Poppins"/>
                <a:cs typeface="Poppins"/>
                <a:sym typeface="Poppins"/>
              </a:rPr>
              <a:t>Identification</a:t>
            </a:r>
            <a:endParaRPr sz="2400" b="1" i="0" dirty="0">
              <a:solidFill>
                <a:srgbClr val="0F172A"/>
              </a:solidFill>
              <a:latin typeface="Poppins"/>
              <a:ea typeface="Poppins"/>
              <a:cs typeface="Poppins"/>
              <a:sym typeface="Poppins"/>
            </a:endParaRPr>
          </a:p>
        </p:txBody>
      </p:sp>
      <p:sp>
        <p:nvSpPr>
          <p:cNvPr id="222" name="Google Shape;222;p19"/>
          <p:cNvSpPr txBox="1"/>
          <p:nvPr/>
        </p:nvSpPr>
        <p:spPr>
          <a:xfrm>
            <a:off x="676275" y="1000125"/>
            <a:ext cx="108396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50" b="0">
                <a:solidFill>
                  <a:srgbClr val="334155"/>
                </a:solidFill>
                <a:latin typeface="Inter"/>
                <a:ea typeface="Inter"/>
                <a:cs typeface="Inter"/>
                <a:sym typeface="Inter"/>
              </a:rPr>
              <a:t>A comprehensive analysis of the existing literature reveals that current approaches solve isolated compliance challenges but fail to provide an integrated, explainable, and enterprise-ready solution for banking contract review.</a:t>
            </a:r>
            <a:endParaRPr sz="1150" b="0">
              <a:solidFill>
                <a:srgbClr val="334155"/>
              </a:solidFill>
              <a:latin typeface="Inter"/>
              <a:ea typeface="Inter"/>
              <a:cs typeface="Inter"/>
              <a:sym typeface="Inter"/>
            </a:endParaRPr>
          </a:p>
        </p:txBody>
      </p:sp>
      <p:grpSp>
        <p:nvGrpSpPr>
          <p:cNvPr id="2" name="Google Shape;223;p19"/>
          <p:cNvGrpSpPr/>
          <p:nvPr/>
        </p:nvGrpSpPr>
        <p:grpSpPr>
          <a:xfrm>
            <a:off x="676275" y="1809750"/>
            <a:ext cx="2476500" cy="428700"/>
            <a:chOff x="676275" y="1809750"/>
            <a:chExt cx="2476500" cy="428700"/>
          </a:xfrm>
        </p:grpSpPr>
        <p:sp>
          <p:nvSpPr>
            <p:cNvPr id="224" name="Google Shape;224;p19"/>
            <p:cNvSpPr/>
            <p:nvPr/>
          </p:nvSpPr>
          <p:spPr>
            <a:xfrm>
              <a:off x="676275" y="1809750"/>
              <a:ext cx="2476500" cy="428700"/>
            </a:xfrm>
            <a:prstGeom prst="roundRect">
              <a:avLst>
                <a:gd name="adj" fmla="val 13333"/>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19"/>
            <p:cNvSpPr txBox="1"/>
            <p:nvPr/>
          </p:nvSpPr>
          <p:spPr>
            <a:xfrm>
              <a:off x="676275" y="1809750"/>
              <a:ext cx="24765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0">
                  <a:solidFill>
                    <a:srgbClr val="0F172A"/>
                  </a:solidFill>
                  <a:latin typeface="Poppins SemiBold"/>
                  <a:ea typeface="Poppins SemiBold"/>
                  <a:cs typeface="Poppins SemiBold"/>
                  <a:sym typeface="Poppins SemiBold"/>
                </a:rPr>
                <a:t>Existing Research</a:t>
              </a:r>
              <a:endParaRPr sz="1100" b="0">
                <a:solidFill>
                  <a:srgbClr val="0F172A"/>
                </a:solidFill>
                <a:latin typeface="Poppins SemiBold"/>
                <a:ea typeface="Poppins SemiBold"/>
                <a:cs typeface="Poppins SemiBold"/>
                <a:sym typeface="Poppins SemiBold"/>
              </a:endParaRPr>
            </a:p>
          </p:txBody>
        </p:sp>
      </p:grpSp>
      <p:sp>
        <p:nvSpPr>
          <p:cNvPr id="226" name="Google Shape;226;p19"/>
          <p:cNvSpPr txBox="1"/>
          <p:nvPr/>
        </p:nvSpPr>
        <p:spPr>
          <a:xfrm>
            <a:off x="676275" y="2381250"/>
            <a:ext cx="2476500" cy="3952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dirty="0">
                <a:solidFill>
                  <a:srgbClr val="1E293B"/>
                </a:solidFill>
                <a:latin typeface="Inter"/>
                <a:ea typeface="Inter"/>
                <a:cs typeface="Inter"/>
                <a:sym typeface="Inter"/>
              </a:rPr>
              <a:t>📄 </a:t>
            </a:r>
            <a:r>
              <a:rPr lang="en-US" sz="1100" b="1" dirty="0" smtClean="0">
                <a:solidFill>
                  <a:srgbClr val="1E293B"/>
                </a:solidFill>
                <a:latin typeface="Inter"/>
                <a:ea typeface="Inter"/>
                <a:cs typeface="Inter"/>
                <a:sym typeface="Inter"/>
              </a:rPr>
              <a:t>   OCR</a:t>
            </a:r>
            <a:r>
              <a:rPr lang="en-US" sz="1100" dirty="0">
                <a:solidFill>
                  <a:srgbClr val="1E293B"/>
                </a:solidFill>
                <a:latin typeface="Inter"/>
                <a:ea typeface="Inter"/>
                <a:cs typeface="Inter"/>
                <a:sym typeface="Inter"/>
              </a:rPr>
              <a:t/>
            </a:r>
            <a:br>
              <a:rPr lang="en-US" sz="1100" dirty="0">
                <a:solidFill>
                  <a:srgbClr val="1E293B"/>
                </a:solidFill>
                <a:latin typeface="Inter"/>
                <a:ea typeface="Inter"/>
                <a:cs typeface="Inter"/>
                <a:sym typeface="Inter"/>
              </a:rPr>
            </a:br>
            <a:r>
              <a:rPr lang="en-US" sz="950" dirty="0">
                <a:solidFill>
                  <a:srgbClr val="64748B"/>
                </a:solidFill>
                <a:latin typeface="Inter"/>
                <a:ea typeface="Inter"/>
                <a:cs typeface="Inter"/>
                <a:sym typeface="Inter"/>
              </a:rPr>
              <a:t>Document digitization and text recognition.</a:t>
            </a:r>
            <a:endParaRPr sz="1100" dirty="0">
              <a:solidFill>
                <a:srgbClr val="1E293B"/>
              </a:solidFill>
              <a:latin typeface="Inter"/>
              <a:ea typeface="Inter"/>
              <a:cs typeface="Inter"/>
              <a:sym typeface="Inter"/>
            </a:endParaRPr>
          </a:p>
          <a:p>
            <a:pPr marL="0" lvl="0" indent="0" algn="l" rtl="0">
              <a:spcBef>
                <a:spcPts val="1500"/>
              </a:spcBef>
              <a:spcAft>
                <a:spcPts val="0"/>
              </a:spcAft>
              <a:buNone/>
            </a:pPr>
            <a:r>
              <a:rPr lang="en-US" sz="1100" b="1" dirty="0">
                <a:solidFill>
                  <a:srgbClr val="1E293B"/>
                </a:solidFill>
                <a:latin typeface="Inter"/>
                <a:ea typeface="Inter"/>
                <a:cs typeface="Inter"/>
                <a:sym typeface="Inter"/>
              </a:rPr>
              <a:t>📚 </a:t>
            </a:r>
            <a:r>
              <a:rPr lang="en-US" sz="1100" b="1" dirty="0" smtClean="0">
                <a:solidFill>
                  <a:srgbClr val="1E293B"/>
                </a:solidFill>
                <a:latin typeface="Inter"/>
                <a:ea typeface="Inter"/>
                <a:cs typeface="Inter"/>
                <a:sym typeface="Inter"/>
              </a:rPr>
              <a:t>    Legal </a:t>
            </a:r>
            <a:r>
              <a:rPr lang="en-US" sz="1100" b="1" dirty="0">
                <a:solidFill>
                  <a:srgbClr val="1E293B"/>
                </a:solidFill>
                <a:latin typeface="Inter"/>
                <a:ea typeface="Inter"/>
                <a:cs typeface="Inter"/>
                <a:sym typeface="Inter"/>
              </a:rPr>
              <a:t>NLP</a:t>
            </a:r>
            <a:r>
              <a:rPr lang="en-US" sz="1100" dirty="0">
                <a:solidFill>
                  <a:srgbClr val="1E293B"/>
                </a:solidFill>
                <a:latin typeface="Inter"/>
                <a:ea typeface="Inter"/>
                <a:cs typeface="Inter"/>
                <a:sym typeface="Inter"/>
              </a:rPr>
              <a:t/>
            </a:r>
            <a:br>
              <a:rPr lang="en-US" sz="1100" dirty="0">
                <a:solidFill>
                  <a:srgbClr val="1E293B"/>
                </a:solidFill>
                <a:latin typeface="Inter"/>
                <a:ea typeface="Inter"/>
                <a:cs typeface="Inter"/>
                <a:sym typeface="Inter"/>
              </a:rPr>
            </a:br>
            <a:r>
              <a:rPr lang="en-US" sz="950" dirty="0">
                <a:solidFill>
                  <a:srgbClr val="64748B"/>
                </a:solidFill>
                <a:latin typeface="Inter"/>
                <a:ea typeface="Inter"/>
                <a:cs typeface="Inter"/>
                <a:sym typeface="Inter"/>
              </a:rPr>
              <a:t>Clause extraction and legal classification.</a:t>
            </a:r>
            <a:endParaRPr sz="1100" dirty="0">
              <a:solidFill>
                <a:srgbClr val="1E293B"/>
              </a:solidFill>
              <a:latin typeface="Inter"/>
              <a:ea typeface="Inter"/>
              <a:cs typeface="Inter"/>
              <a:sym typeface="Inter"/>
            </a:endParaRPr>
          </a:p>
          <a:p>
            <a:pPr marL="0" lvl="0" indent="0" algn="l" rtl="0">
              <a:spcBef>
                <a:spcPts val="1500"/>
              </a:spcBef>
              <a:spcAft>
                <a:spcPts val="0"/>
              </a:spcAft>
              <a:buNone/>
            </a:pPr>
            <a:r>
              <a:rPr lang="en-US" sz="1100" b="1" dirty="0">
                <a:solidFill>
                  <a:srgbClr val="1E293B"/>
                </a:solidFill>
                <a:latin typeface="Inter"/>
                <a:ea typeface="Inter"/>
                <a:cs typeface="Inter"/>
                <a:sym typeface="Inter"/>
              </a:rPr>
              <a:t>🔍 </a:t>
            </a:r>
            <a:r>
              <a:rPr lang="en-US" sz="1100" b="1" dirty="0" smtClean="0">
                <a:solidFill>
                  <a:srgbClr val="1E293B"/>
                </a:solidFill>
                <a:latin typeface="Inter"/>
                <a:ea typeface="Inter"/>
                <a:cs typeface="Inter"/>
                <a:sym typeface="Inter"/>
              </a:rPr>
              <a:t>    RAG</a:t>
            </a:r>
            <a:r>
              <a:rPr lang="en-US" sz="1100" dirty="0">
                <a:solidFill>
                  <a:srgbClr val="1E293B"/>
                </a:solidFill>
                <a:latin typeface="Inter"/>
                <a:ea typeface="Inter"/>
                <a:cs typeface="Inter"/>
                <a:sym typeface="Inter"/>
              </a:rPr>
              <a:t/>
            </a:r>
            <a:br>
              <a:rPr lang="en-US" sz="1100" dirty="0">
                <a:solidFill>
                  <a:srgbClr val="1E293B"/>
                </a:solidFill>
                <a:latin typeface="Inter"/>
                <a:ea typeface="Inter"/>
                <a:cs typeface="Inter"/>
                <a:sym typeface="Inter"/>
              </a:rPr>
            </a:br>
            <a:r>
              <a:rPr lang="en-US" sz="950" dirty="0">
                <a:solidFill>
                  <a:srgbClr val="64748B"/>
                </a:solidFill>
                <a:latin typeface="Inter"/>
                <a:ea typeface="Inter"/>
                <a:cs typeface="Inter"/>
                <a:sym typeface="Inter"/>
              </a:rPr>
              <a:t>Enterprise knowledge retrieval.</a:t>
            </a:r>
            <a:endParaRPr sz="1100" dirty="0">
              <a:solidFill>
                <a:srgbClr val="1E293B"/>
              </a:solidFill>
              <a:latin typeface="Inter"/>
              <a:ea typeface="Inter"/>
              <a:cs typeface="Inter"/>
              <a:sym typeface="Inter"/>
            </a:endParaRPr>
          </a:p>
          <a:p>
            <a:pPr marL="0" lvl="0" indent="0" algn="l" rtl="0">
              <a:spcBef>
                <a:spcPts val="1500"/>
              </a:spcBef>
              <a:spcAft>
                <a:spcPts val="0"/>
              </a:spcAft>
              <a:buNone/>
            </a:pPr>
            <a:r>
              <a:rPr lang="en-US" sz="1100" b="1" dirty="0">
                <a:solidFill>
                  <a:srgbClr val="1E293B"/>
                </a:solidFill>
                <a:latin typeface="Inter"/>
                <a:ea typeface="Inter"/>
                <a:cs typeface="Inter"/>
                <a:sym typeface="Inter"/>
              </a:rPr>
              <a:t>🤖 </a:t>
            </a:r>
            <a:r>
              <a:rPr lang="en-US" sz="1100" b="1" dirty="0" smtClean="0">
                <a:solidFill>
                  <a:srgbClr val="1E293B"/>
                </a:solidFill>
                <a:latin typeface="Inter"/>
                <a:ea typeface="Inter"/>
                <a:cs typeface="Inter"/>
                <a:sym typeface="Inter"/>
              </a:rPr>
              <a:t>   </a:t>
            </a:r>
            <a:r>
              <a:rPr lang="en-US" sz="1100" b="1" dirty="0" err="1" smtClean="0">
                <a:solidFill>
                  <a:srgbClr val="1E293B"/>
                </a:solidFill>
                <a:latin typeface="Inter"/>
                <a:ea typeface="Inter"/>
                <a:cs typeface="Inter"/>
                <a:sym typeface="Inter"/>
              </a:rPr>
              <a:t>Agentic</a:t>
            </a:r>
            <a:r>
              <a:rPr lang="en-US" sz="1100" b="1" dirty="0" smtClean="0">
                <a:solidFill>
                  <a:srgbClr val="1E293B"/>
                </a:solidFill>
                <a:latin typeface="Inter"/>
                <a:ea typeface="Inter"/>
                <a:cs typeface="Inter"/>
                <a:sym typeface="Inter"/>
              </a:rPr>
              <a:t> </a:t>
            </a:r>
            <a:r>
              <a:rPr lang="en-US" sz="1100" b="1" dirty="0">
                <a:solidFill>
                  <a:srgbClr val="1E293B"/>
                </a:solidFill>
                <a:latin typeface="Inter"/>
                <a:ea typeface="Inter"/>
                <a:cs typeface="Inter"/>
                <a:sym typeface="Inter"/>
              </a:rPr>
              <a:t>AI</a:t>
            </a:r>
            <a:r>
              <a:rPr lang="en-US" sz="1100" dirty="0">
                <a:solidFill>
                  <a:srgbClr val="1E293B"/>
                </a:solidFill>
                <a:latin typeface="Inter"/>
                <a:ea typeface="Inter"/>
                <a:cs typeface="Inter"/>
                <a:sym typeface="Inter"/>
              </a:rPr>
              <a:t/>
            </a:r>
            <a:br>
              <a:rPr lang="en-US" sz="1100" dirty="0">
                <a:solidFill>
                  <a:srgbClr val="1E293B"/>
                </a:solidFill>
                <a:latin typeface="Inter"/>
                <a:ea typeface="Inter"/>
                <a:cs typeface="Inter"/>
                <a:sym typeface="Inter"/>
              </a:rPr>
            </a:br>
            <a:r>
              <a:rPr lang="en-US" sz="950" dirty="0">
                <a:solidFill>
                  <a:srgbClr val="64748B"/>
                </a:solidFill>
                <a:latin typeface="Inter"/>
                <a:ea typeface="Inter"/>
                <a:cs typeface="Inter"/>
                <a:sym typeface="Inter"/>
              </a:rPr>
              <a:t>Multi-step reasoning and autonomy.</a:t>
            </a:r>
            <a:endParaRPr sz="1100" dirty="0">
              <a:solidFill>
                <a:srgbClr val="1E293B"/>
              </a:solidFill>
              <a:latin typeface="Inter"/>
              <a:ea typeface="Inter"/>
              <a:cs typeface="Inter"/>
              <a:sym typeface="Inter"/>
            </a:endParaRPr>
          </a:p>
          <a:p>
            <a:pPr marL="0" lvl="0" indent="0" algn="l" rtl="0">
              <a:spcBef>
                <a:spcPts val="1500"/>
              </a:spcBef>
              <a:spcAft>
                <a:spcPts val="0"/>
              </a:spcAft>
              <a:buNone/>
            </a:pPr>
            <a:r>
              <a:rPr lang="en-US" sz="1100" b="1" dirty="0">
                <a:solidFill>
                  <a:srgbClr val="1E293B"/>
                </a:solidFill>
                <a:latin typeface="Inter"/>
                <a:ea typeface="Inter"/>
                <a:cs typeface="Inter"/>
                <a:sym typeface="Inter"/>
              </a:rPr>
              <a:t>🛡️ Explainable AI</a:t>
            </a:r>
            <a:r>
              <a:rPr lang="en-US" sz="1100" dirty="0">
                <a:solidFill>
                  <a:srgbClr val="1E293B"/>
                </a:solidFill>
                <a:latin typeface="Inter"/>
                <a:ea typeface="Inter"/>
                <a:cs typeface="Inter"/>
                <a:sym typeface="Inter"/>
              </a:rPr>
              <a:t/>
            </a:r>
            <a:br>
              <a:rPr lang="en-US" sz="1100" dirty="0">
                <a:solidFill>
                  <a:srgbClr val="1E293B"/>
                </a:solidFill>
                <a:latin typeface="Inter"/>
                <a:ea typeface="Inter"/>
                <a:cs typeface="Inter"/>
                <a:sym typeface="Inter"/>
              </a:rPr>
            </a:br>
            <a:r>
              <a:rPr lang="en-US" sz="950" dirty="0">
                <a:solidFill>
                  <a:srgbClr val="64748B"/>
                </a:solidFill>
                <a:latin typeface="Inter"/>
                <a:ea typeface="Inter"/>
                <a:cs typeface="Inter"/>
                <a:sym typeface="Inter"/>
              </a:rPr>
              <a:t>Feature attribution and model audits.</a:t>
            </a:r>
            <a:endParaRPr sz="1100" dirty="0">
              <a:solidFill>
                <a:srgbClr val="1E293B"/>
              </a:solidFill>
              <a:latin typeface="Inter"/>
              <a:ea typeface="Inter"/>
              <a:cs typeface="Inter"/>
              <a:sym typeface="Inter"/>
            </a:endParaRPr>
          </a:p>
        </p:txBody>
      </p:sp>
      <p:grpSp>
        <p:nvGrpSpPr>
          <p:cNvPr id="3" name="Google Shape;227;p19"/>
          <p:cNvGrpSpPr/>
          <p:nvPr/>
        </p:nvGrpSpPr>
        <p:grpSpPr>
          <a:xfrm>
            <a:off x="3343275" y="1809750"/>
            <a:ext cx="2476500" cy="428700"/>
            <a:chOff x="3343275" y="1809750"/>
            <a:chExt cx="2476500" cy="428700"/>
          </a:xfrm>
        </p:grpSpPr>
        <p:sp>
          <p:nvSpPr>
            <p:cNvPr id="228" name="Google Shape;228;p19"/>
            <p:cNvSpPr/>
            <p:nvPr/>
          </p:nvSpPr>
          <p:spPr>
            <a:xfrm>
              <a:off x="3343275" y="1809750"/>
              <a:ext cx="2476500" cy="428700"/>
            </a:xfrm>
            <a:prstGeom prst="roundRect">
              <a:avLst>
                <a:gd name="adj" fmla="val 13333"/>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9" name="Google Shape;229;p19"/>
            <p:cNvSpPr txBox="1"/>
            <p:nvPr/>
          </p:nvSpPr>
          <p:spPr>
            <a:xfrm>
              <a:off x="3343275" y="1809750"/>
              <a:ext cx="24765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0">
                  <a:solidFill>
                    <a:srgbClr val="0F172A"/>
                  </a:solidFill>
                  <a:latin typeface="Poppins SemiBold"/>
                  <a:ea typeface="Poppins SemiBold"/>
                  <a:cs typeface="Poppins SemiBold"/>
                  <a:sym typeface="Poppins SemiBold"/>
                </a:rPr>
                <a:t>Identified Limitations</a:t>
              </a:r>
              <a:endParaRPr sz="1100" b="0">
                <a:solidFill>
                  <a:srgbClr val="0F172A"/>
                </a:solidFill>
                <a:latin typeface="Poppins SemiBold"/>
                <a:ea typeface="Poppins SemiBold"/>
                <a:cs typeface="Poppins SemiBold"/>
                <a:sym typeface="Poppins SemiBold"/>
              </a:endParaRPr>
            </a:p>
          </p:txBody>
        </p:sp>
      </p:grpSp>
      <p:sp>
        <p:nvSpPr>
          <p:cNvPr id="230" name="Google Shape;230;p19"/>
          <p:cNvSpPr txBox="1"/>
          <p:nvPr/>
        </p:nvSpPr>
        <p:spPr>
          <a:xfrm>
            <a:off x="3343275" y="2381250"/>
            <a:ext cx="2476500" cy="3952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a:solidFill>
                  <a:srgbClr val="334155"/>
                </a:solidFill>
                <a:latin typeface="Inter"/>
                <a:ea typeface="Inter"/>
                <a:cs typeface="Inter"/>
                <a:sym typeface="Inter"/>
              </a:rPr>
              <a:t>❌ Unable to understand complex layouts</a:t>
            </a:r>
            <a:endParaRPr sz="1000">
              <a:solidFill>
                <a:srgbClr val="334155"/>
              </a:solidFill>
              <a:latin typeface="Inter"/>
              <a:ea typeface="Inter"/>
              <a:cs typeface="Inter"/>
              <a:sym typeface="Inter"/>
            </a:endParaRPr>
          </a:p>
          <a:p>
            <a:pPr marL="0" lvl="0" indent="0" algn="l" rtl="0">
              <a:spcBef>
                <a:spcPts val="1350"/>
              </a:spcBef>
              <a:spcAft>
                <a:spcPts val="0"/>
              </a:spcAft>
              <a:buNone/>
            </a:pPr>
            <a:r>
              <a:rPr lang="en-US" sz="1000">
                <a:solidFill>
                  <a:srgbClr val="334155"/>
                </a:solidFill>
                <a:latin typeface="Inter"/>
                <a:ea typeface="Inter"/>
                <a:cs typeface="Inter"/>
                <a:sym typeface="Inter"/>
              </a:rPr>
              <a:t>❌ Independent components</a:t>
            </a:r>
            <a:endParaRPr sz="1000">
              <a:solidFill>
                <a:srgbClr val="334155"/>
              </a:solidFill>
              <a:latin typeface="Inter"/>
              <a:ea typeface="Inter"/>
              <a:cs typeface="Inter"/>
              <a:sym typeface="Inter"/>
            </a:endParaRPr>
          </a:p>
          <a:p>
            <a:pPr marL="0" lvl="0" indent="0" algn="l" rtl="0">
              <a:spcBef>
                <a:spcPts val="1350"/>
              </a:spcBef>
              <a:spcAft>
                <a:spcPts val="0"/>
              </a:spcAft>
              <a:buNone/>
            </a:pPr>
            <a:r>
              <a:rPr lang="en-US" sz="1000">
                <a:solidFill>
                  <a:srgbClr val="334155"/>
                </a:solidFill>
                <a:latin typeface="Inter"/>
                <a:ea typeface="Inter"/>
                <a:cs typeface="Inter"/>
                <a:sym typeface="Inter"/>
              </a:rPr>
              <a:t>❌ No enterprise orchestration</a:t>
            </a:r>
            <a:endParaRPr sz="1000">
              <a:solidFill>
                <a:srgbClr val="334155"/>
              </a:solidFill>
              <a:latin typeface="Inter"/>
              <a:ea typeface="Inter"/>
              <a:cs typeface="Inter"/>
              <a:sym typeface="Inter"/>
            </a:endParaRPr>
          </a:p>
          <a:p>
            <a:pPr marL="0" lvl="0" indent="0" algn="l" rtl="0">
              <a:spcBef>
                <a:spcPts val="1350"/>
              </a:spcBef>
              <a:spcAft>
                <a:spcPts val="0"/>
              </a:spcAft>
              <a:buNone/>
            </a:pPr>
            <a:r>
              <a:rPr lang="en-US" sz="1000">
                <a:solidFill>
                  <a:srgbClr val="334155"/>
                </a:solidFill>
                <a:latin typeface="Inter"/>
                <a:ea typeface="Inter"/>
                <a:cs typeface="Inter"/>
                <a:sym typeface="Inter"/>
              </a:rPr>
              <a:t>❌ Weak explainability</a:t>
            </a:r>
            <a:endParaRPr sz="1000">
              <a:solidFill>
                <a:srgbClr val="334155"/>
              </a:solidFill>
              <a:latin typeface="Inter"/>
              <a:ea typeface="Inter"/>
              <a:cs typeface="Inter"/>
              <a:sym typeface="Inter"/>
            </a:endParaRPr>
          </a:p>
          <a:p>
            <a:pPr marL="0" lvl="0" indent="0" algn="l" rtl="0">
              <a:spcBef>
                <a:spcPts val="1350"/>
              </a:spcBef>
              <a:spcAft>
                <a:spcPts val="0"/>
              </a:spcAft>
              <a:buNone/>
            </a:pPr>
            <a:r>
              <a:rPr lang="en-US" sz="1000">
                <a:solidFill>
                  <a:srgbClr val="334155"/>
                </a:solidFill>
                <a:latin typeface="Inter"/>
                <a:ea typeface="Inter"/>
                <a:cs typeface="Inter"/>
                <a:sym typeface="Inter"/>
              </a:rPr>
              <a:t>❌ Hallucination risks</a:t>
            </a:r>
            <a:endParaRPr sz="1000">
              <a:solidFill>
                <a:srgbClr val="334155"/>
              </a:solidFill>
              <a:latin typeface="Inter"/>
              <a:ea typeface="Inter"/>
              <a:cs typeface="Inter"/>
              <a:sym typeface="Inter"/>
            </a:endParaRPr>
          </a:p>
          <a:p>
            <a:pPr marL="0" lvl="0" indent="0" algn="l" rtl="0">
              <a:spcBef>
                <a:spcPts val="1350"/>
              </a:spcBef>
              <a:spcAft>
                <a:spcPts val="0"/>
              </a:spcAft>
              <a:buNone/>
            </a:pPr>
            <a:r>
              <a:rPr lang="en-US" sz="1000">
                <a:solidFill>
                  <a:srgbClr val="334155"/>
                </a:solidFill>
                <a:latin typeface="Inter"/>
                <a:ea typeface="Inter"/>
                <a:cs typeface="Inter"/>
                <a:sym typeface="Inter"/>
              </a:rPr>
              <a:t>❌ No continuous regulatory monitoring</a:t>
            </a:r>
            <a:endParaRPr sz="1000">
              <a:solidFill>
                <a:srgbClr val="334155"/>
              </a:solidFill>
              <a:latin typeface="Inter"/>
              <a:ea typeface="Inter"/>
              <a:cs typeface="Inter"/>
              <a:sym typeface="Inter"/>
            </a:endParaRPr>
          </a:p>
        </p:txBody>
      </p:sp>
      <p:grpSp>
        <p:nvGrpSpPr>
          <p:cNvPr id="4" name="Google Shape;231;p19"/>
          <p:cNvGrpSpPr/>
          <p:nvPr/>
        </p:nvGrpSpPr>
        <p:grpSpPr>
          <a:xfrm>
            <a:off x="6010275" y="1809750"/>
            <a:ext cx="2571900" cy="428700"/>
            <a:chOff x="6010275" y="1809750"/>
            <a:chExt cx="2571900" cy="428700"/>
          </a:xfrm>
        </p:grpSpPr>
        <p:sp>
          <p:nvSpPr>
            <p:cNvPr id="232" name="Google Shape;232;p19"/>
            <p:cNvSpPr/>
            <p:nvPr/>
          </p:nvSpPr>
          <p:spPr>
            <a:xfrm>
              <a:off x="6010275" y="1809750"/>
              <a:ext cx="2571900" cy="428700"/>
            </a:xfrm>
            <a:prstGeom prst="roundRect">
              <a:avLst>
                <a:gd name="adj" fmla="val 13333"/>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3" name="Google Shape;233;p19"/>
            <p:cNvSpPr txBox="1"/>
            <p:nvPr/>
          </p:nvSpPr>
          <p:spPr>
            <a:xfrm>
              <a:off x="6010275" y="1809750"/>
              <a:ext cx="2571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0">
                  <a:solidFill>
                    <a:srgbClr val="0F172A"/>
                  </a:solidFill>
                  <a:latin typeface="Poppins SemiBold"/>
                  <a:ea typeface="Poppins SemiBold"/>
                  <a:cs typeface="Poppins SemiBold"/>
                  <a:sym typeface="Poppins SemiBold"/>
                </a:rPr>
                <a:t>Research Gap</a:t>
              </a:r>
              <a:endParaRPr sz="1100" b="0">
                <a:solidFill>
                  <a:srgbClr val="0F172A"/>
                </a:solidFill>
                <a:latin typeface="Poppins SemiBold"/>
                <a:ea typeface="Poppins SemiBold"/>
                <a:cs typeface="Poppins SemiBold"/>
                <a:sym typeface="Poppins SemiBold"/>
              </a:endParaRPr>
            </a:p>
          </p:txBody>
        </p:sp>
      </p:grpSp>
      <p:sp>
        <p:nvSpPr>
          <p:cNvPr id="234" name="Google Shape;234;p19"/>
          <p:cNvSpPr txBox="1"/>
          <p:nvPr/>
        </p:nvSpPr>
        <p:spPr>
          <a:xfrm>
            <a:off x="6010275" y="2381250"/>
            <a:ext cx="2571900" cy="3952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0F172A"/>
                </a:solidFill>
                <a:latin typeface="Inter SemiBold"/>
                <a:ea typeface="Inter SemiBold"/>
                <a:cs typeface="Inter SemiBold"/>
                <a:sym typeface="Inter SemiBold"/>
              </a:rPr>
              <a:t>No existing solution simultaneously provides:</a:t>
            </a:r>
            <a:endParaRPr sz="1000" b="0">
              <a:solidFill>
                <a:srgbClr val="0F172A"/>
              </a:solidFill>
              <a:latin typeface="Inter SemiBold"/>
              <a:ea typeface="Inter SemiBold"/>
              <a:cs typeface="Inter SemiBold"/>
              <a:sym typeface="Inter SemiBold"/>
            </a:endParaRPr>
          </a:p>
          <a:p>
            <a:pPr marL="0" lvl="0" indent="0" algn="l" rtl="0">
              <a:spcBef>
                <a:spcPts val="1200"/>
              </a:spcBef>
              <a:spcAft>
                <a:spcPts val="0"/>
              </a:spcAft>
              <a:buNone/>
            </a:pPr>
            <a:r>
              <a:rPr lang="en-US" sz="1000">
                <a:solidFill>
                  <a:srgbClr val="1E293B"/>
                </a:solidFill>
                <a:latin typeface="Inter"/>
                <a:ea typeface="Inter"/>
                <a:cs typeface="Inter"/>
                <a:sym typeface="Inter"/>
              </a:rPr>
              <a:t>✅ Multi-modal understanding</a:t>
            </a:r>
            <a:endParaRPr sz="1000">
              <a:solidFill>
                <a:srgbClr val="1E293B"/>
              </a:solidFill>
              <a:latin typeface="Inter"/>
              <a:ea typeface="Inter"/>
              <a:cs typeface="Inter"/>
              <a:sym typeface="Inter"/>
            </a:endParaRPr>
          </a:p>
          <a:p>
            <a:pPr marL="0" lvl="0" indent="0" algn="l" rtl="0">
              <a:spcBef>
                <a:spcPts val="1050"/>
              </a:spcBef>
              <a:spcAft>
                <a:spcPts val="0"/>
              </a:spcAft>
              <a:buNone/>
            </a:pPr>
            <a:r>
              <a:rPr lang="en-US" sz="1000">
                <a:solidFill>
                  <a:srgbClr val="1E293B"/>
                </a:solidFill>
                <a:latin typeface="Inter"/>
                <a:ea typeface="Inter"/>
                <a:cs typeface="Inter"/>
                <a:sym typeface="Inter"/>
              </a:rPr>
              <a:t>✅ Autonomous reasoning</a:t>
            </a:r>
            <a:endParaRPr sz="1000">
              <a:solidFill>
                <a:srgbClr val="1E293B"/>
              </a:solidFill>
              <a:latin typeface="Inter"/>
              <a:ea typeface="Inter"/>
              <a:cs typeface="Inter"/>
              <a:sym typeface="Inter"/>
            </a:endParaRPr>
          </a:p>
          <a:p>
            <a:pPr marL="0" lvl="0" indent="0" algn="l" rtl="0">
              <a:spcBef>
                <a:spcPts val="1050"/>
              </a:spcBef>
              <a:spcAft>
                <a:spcPts val="0"/>
              </a:spcAft>
              <a:buNone/>
            </a:pPr>
            <a:r>
              <a:rPr lang="en-US" sz="1000">
                <a:solidFill>
                  <a:srgbClr val="1E293B"/>
                </a:solidFill>
                <a:latin typeface="Inter"/>
                <a:ea typeface="Inter"/>
                <a:cs typeface="Inter"/>
                <a:sym typeface="Inter"/>
              </a:rPr>
              <a:t>✅ Secure enterprise tool integration</a:t>
            </a:r>
            <a:endParaRPr sz="1000">
              <a:solidFill>
                <a:srgbClr val="1E293B"/>
              </a:solidFill>
              <a:latin typeface="Inter"/>
              <a:ea typeface="Inter"/>
              <a:cs typeface="Inter"/>
              <a:sym typeface="Inter"/>
            </a:endParaRPr>
          </a:p>
          <a:p>
            <a:pPr marL="0" lvl="0" indent="0" algn="l" rtl="0">
              <a:spcBef>
                <a:spcPts val="1050"/>
              </a:spcBef>
              <a:spcAft>
                <a:spcPts val="0"/>
              </a:spcAft>
              <a:buNone/>
            </a:pPr>
            <a:r>
              <a:rPr lang="en-US" sz="1000">
                <a:solidFill>
                  <a:srgbClr val="1E293B"/>
                </a:solidFill>
                <a:latin typeface="Inter"/>
                <a:ea typeface="Inter"/>
                <a:cs typeface="Inter"/>
                <a:sym typeface="Inter"/>
              </a:rPr>
              <a:t>✅ Explainability</a:t>
            </a:r>
            <a:endParaRPr sz="1000">
              <a:solidFill>
                <a:srgbClr val="1E293B"/>
              </a:solidFill>
              <a:latin typeface="Inter"/>
              <a:ea typeface="Inter"/>
              <a:cs typeface="Inter"/>
              <a:sym typeface="Inter"/>
            </a:endParaRPr>
          </a:p>
          <a:p>
            <a:pPr marL="0" lvl="0" indent="0" algn="l" rtl="0">
              <a:spcBef>
                <a:spcPts val="1050"/>
              </a:spcBef>
              <a:spcAft>
                <a:spcPts val="0"/>
              </a:spcAft>
              <a:buNone/>
            </a:pPr>
            <a:r>
              <a:rPr lang="en-US" sz="1000">
                <a:solidFill>
                  <a:srgbClr val="1E293B"/>
                </a:solidFill>
                <a:latin typeface="Inter"/>
                <a:ea typeface="Inter"/>
                <a:cs typeface="Inter"/>
                <a:sym typeface="Inter"/>
              </a:rPr>
              <a:t>✅ Hallucination prevention</a:t>
            </a:r>
            <a:endParaRPr sz="1000">
              <a:solidFill>
                <a:srgbClr val="1E293B"/>
              </a:solidFill>
              <a:latin typeface="Inter"/>
              <a:ea typeface="Inter"/>
              <a:cs typeface="Inter"/>
              <a:sym typeface="Inter"/>
            </a:endParaRPr>
          </a:p>
          <a:p>
            <a:pPr marL="0" lvl="0" indent="0" algn="l" rtl="0">
              <a:spcBef>
                <a:spcPts val="1050"/>
              </a:spcBef>
              <a:spcAft>
                <a:spcPts val="0"/>
              </a:spcAft>
              <a:buNone/>
            </a:pPr>
            <a:r>
              <a:rPr lang="en-US" sz="1000">
                <a:solidFill>
                  <a:srgbClr val="1E293B"/>
                </a:solidFill>
                <a:latin typeface="Inter"/>
                <a:ea typeface="Inter"/>
                <a:cs typeface="Inter"/>
                <a:sym typeface="Inter"/>
              </a:rPr>
              <a:t>✅ Continuous regulatory lifecycle management</a:t>
            </a:r>
            <a:endParaRPr sz="1000">
              <a:solidFill>
                <a:srgbClr val="1E293B"/>
              </a:solidFill>
              <a:latin typeface="Inter"/>
              <a:ea typeface="Inter"/>
              <a:cs typeface="Inter"/>
              <a:sym typeface="Inter"/>
            </a:endParaRPr>
          </a:p>
        </p:txBody>
      </p:sp>
      <p:grpSp>
        <p:nvGrpSpPr>
          <p:cNvPr id="5" name="Google Shape;235;p19"/>
          <p:cNvGrpSpPr/>
          <p:nvPr/>
        </p:nvGrpSpPr>
        <p:grpSpPr>
          <a:xfrm>
            <a:off x="8772525" y="1809750"/>
            <a:ext cx="2743200" cy="4524300"/>
            <a:chOff x="8772525" y="1809750"/>
            <a:chExt cx="2743200" cy="4524300"/>
          </a:xfrm>
        </p:grpSpPr>
        <p:sp>
          <p:nvSpPr>
            <p:cNvPr id="236" name="Google Shape;236;p19"/>
            <p:cNvSpPr/>
            <p:nvPr/>
          </p:nvSpPr>
          <p:spPr>
            <a:xfrm>
              <a:off x="8772525" y="1809750"/>
              <a:ext cx="2743200" cy="4524300"/>
            </a:xfrm>
            <a:prstGeom prst="roundRect">
              <a:avLst>
                <a:gd name="adj" fmla="val 2777"/>
              </a:avLst>
            </a:prstGeom>
            <a:solidFill>
              <a:srgbClr val="F0FDFA"/>
            </a:solidFill>
            <a:ln w="19050" cap="flat" cmpd="sng">
              <a:solidFill>
                <a:srgbClr val="0F766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p19"/>
            <p:cNvSpPr/>
            <p:nvPr/>
          </p:nvSpPr>
          <p:spPr>
            <a:xfrm>
              <a:off x="8772525" y="1809750"/>
              <a:ext cx="2743200" cy="428700"/>
            </a:xfrm>
            <a:prstGeom prst="roundRect">
              <a:avLst>
                <a:gd name="adj" fmla="val 13333"/>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8" name="Google Shape;238;p19"/>
            <p:cNvSpPr txBox="1"/>
            <p:nvPr/>
          </p:nvSpPr>
          <p:spPr>
            <a:xfrm>
              <a:off x="8772525" y="1809750"/>
              <a:ext cx="27432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50" b="1">
                  <a:solidFill>
                    <a:srgbClr val="FFFFFF"/>
                  </a:solidFill>
                  <a:latin typeface="Poppins"/>
                  <a:ea typeface="Poppins"/>
                  <a:cs typeface="Poppins"/>
                  <a:sym typeface="Poppins"/>
                </a:rPr>
                <a:t>Proposed Regulatory Guardian</a:t>
              </a:r>
              <a:endParaRPr sz="1050" b="1">
                <a:solidFill>
                  <a:srgbClr val="FFFFFF"/>
                </a:solidFill>
                <a:latin typeface="Poppins"/>
                <a:ea typeface="Poppins"/>
                <a:cs typeface="Poppins"/>
                <a:sym typeface="Poppins"/>
              </a:endParaRPr>
            </a:p>
          </p:txBody>
        </p:sp>
        <p:sp>
          <p:nvSpPr>
            <p:cNvPr id="239" name="Google Shape;239;p19"/>
            <p:cNvSpPr txBox="1"/>
            <p:nvPr/>
          </p:nvSpPr>
          <p:spPr>
            <a:xfrm>
              <a:off x="8820150" y="2333625"/>
              <a:ext cx="2648100" cy="3905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dirty="0">
                  <a:solidFill>
                    <a:srgbClr val="0F766E"/>
                  </a:solidFill>
                  <a:latin typeface="Poppins"/>
                  <a:ea typeface="Poppins"/>
                  <a:cs typeface="Poppins"/>
                  <a:sym typeface="Poppins"/>
                </a:rPr>
                <a:t>LayoutLMv3</a:t>
              </a:r>
              <a:endParaRPr sz="9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800" b="1" dirty="0">
                  <a:solidFill>
                    <a:srgbClr val="0F766E"/>
                  </a:solidFill>
                  <a:latin typeface="Poppins"/>
                  <a:ea typeface="Poppins"/>
                  <a:cs typeface="Poppins"/>
                  <a:sym typeface="Poppins"/>
                </a:rPr>
                <a:t>↓</a:t>
              </a:r>
              <a:endParaRPr sz="8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900" b="1" dirty="0">
                  <a:solidFill>
                    <a:srgbClr val="0F766E"/>
                  </a:solidFill>
                  <a:latin typeface="Poppins"/>
                  <a:ea typeface="Poppins"/>
                  <a:cs typeface="Poppins"/>
                  <a:sym typeface="Poppins"/>
                </a:rPr>
                <a:t>Legal-BERT</a:t>
              </a:r>
              <a:endParaRPr sz="9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800" b="1" dirty="0">
                  <a:solidFill>
                    <a:srgbClr val="0F766E"/>
                  </a:solidFill>
                  <a:latin typeface="Poppins"/>
                  <a:ea typeface="Poppins"/>
                  <a:cs typeface="Poppins"/>
                  <a:sym typeface="Poppins"/>
                </a:rPr>
                <a:t>↓</a:t>
              </a:r>
              <a:endParaRPr sz="8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900" b="1" dirty="0">
                  <a:solidFill>
                    <a:srgbClr val="0F766E"/>
                  </a:solidFill>
                  <a:latin typeface="Poppins"/>
                  <a:ea typeface="Poppins"/>
                  <a:cs typeface="Poppins"/>
                  <a:sym typeface="Poppins"/>
                </a:rPr>
                <a:t>LangGraph Agents</a:t>
              </a:r>
              <a:endParaRPr sz="9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800" b="1" dirty="0">
                  <a:solidFill>
                    <a:srgbClr val="0F766E"/>
                  </a:solidFill>
                  <a:latin typeface="Poppins"/>
                  <a:ea typeface="Poppins"/>
                  <a:cs typeface="Poppins"/>
                  <a:sym typeface="Poppins"/>
                </a:rPr>
                <a:t>↓</a:t>
              </a:r>
              <a:endParaRPr sz="8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900" b="1" dirty="0">
                  <a:solidFill>
                    <a:srgbClr val="0F766E"/>
                  </a:solidFill>
                  <a:latin typeface="Poppins"/>
                  <a:ea typeface="Poppins"/>
                  <a:cs typeface="Poppins"/>
                  <a:sym typeface="Poppins"/>
                </a:rPr>
                <a:t>Model Context Protocol</a:t>
              </a:r>
              <a:endParaRPr sz="9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800" b="1" dirty="0">
                  <a:solidFill>
                    <a:srgbClr val="0F766E"/>
                  </a:solidFill>
                  <a:latin typeface="Poppins"/>
                  <a:ea typeface="Poppins"/>
                  <a:cs typeface="Poppins"/>
                  <a:sym typeface="Poppins"/>
                </a:rPr>
                <a:t>↓</a:t>
              </a:r>
              <a:endParaRPr sz="8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900" b="1" dirty="0">
                  <a:solidFill>
                    <a:srgbClr val="0F766E"/>
                  </a:solidFill>
                  <a:latin typeface="Poppins"/>
                  <a:ea typeface="Poppins"/>
                  <a:cs typeface="Poppins"/>
                  <a:sym typeface="Poppins"/>
                </a:rPr>
                <a:t>Guardrails AI</a:t>
              </a:r>
              <a:endParaRPr sz="9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800" b="1" dirty="0">
                  <a:solidFill>
                    <a:srgbClr val="0F766E"/>
                  </a:solidFill>
                  <a:latin typeface="Poppins"/>
                  <a:ea typeface="Poppins"/>
                  <a:cs typeface="Poppins"/>
                  <a:sym typeface="Poppins"/>
                </a:rPr>
                <a:t>↓</a:t>
              </a:r>
              <a:endParaRPr sz="8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900" b="1" dirty="0">
                  <a:solidFill>
                    <a:srgbClr val="0F766E"/>
                  </a:solidFill>
                  <a:latin typeface="Poppins"/>
                  <a:ea typeface="Poppins"/>
                  <a:cs typeface="Poppins"/>
                  <a:sym typeface="Poppins"/>
                </a:rPr>
                <a:t>SHAP</a:t>
              </a:r>
              <a:endParaRPr sz="9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800" b="1" dirty="0">
                  <a:solidFill>
                    <a:srgbClr val="0F766E"/>
                  </a:solidFill>
                  <a:latin typeface="Poppins"/>
                  <a:ea typeface="Poppins"/>
                  <a:cs typeface="Poppins"/>
                  <a:sym typeface="Poppins"/>
                </a:rPr>
                <a:t>↓</a:t>
              </a:r>
              <a:endParaRPr sz="8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900" b="1" dirty="0">
                  <a:solidFill>
                    <a:srgbClr val="0F766E"/>
                  </a:solidFill>
                  <a:latin typeface="Poppins"/>
                  <a:ea typeface="Poppins"/>
                  <a:cs typeface="Poppins"/>
                  <a:sym typeface="Poppins"/>
                </a:rPr>
                <a:t>React Dashboard</a:t>
              </a:r>
              <a:endParaRPr sz="900" b="1" dirty="0">
                <a:solidFill>
                  <a:srgbClr val="0F766E"/>
                </a:solidFill>
                <a:latin typeface="Poppins"/>
                <a:ea typeface="Poppins"/>
                <a:cs typeface="Poppins"/>
                <a:sym typeface="Poppins"/>
              </a:endParaRPr>
            </a:p>
            <a:p>
              <a:pPr marL="0" lvl="0" indent="0" algn="ctr" rtl="0">
                <a:spcBef>
                  <a:spcPts val="225"/>
                </a:spcBef>
                <a:spcAft>
                  <a:spcPts val="0"/>
                </a:spcAft>
                <a:buNone/>
              </a:pPr>
              <a:endParaRPr sz="800" b="1" dirty="0">
                <a:solidFill>
                  <a:srgbClr val="0F766E"/>
                </a:solidFill>
                <a:latin typeface="Poppins"/>
                <a:ea typeface="Poppins"/>
                <a:cs typeface="Poppins"/>
                <a:sym typeface="Poppins"/>
              </a:endParaRPr>
            </a:p>
            <a:p>
              <a:pPr marL="0" lvl="0" indent="0" algn="ctr" rtl="0">
                <a:spcBef>
                  <a:spcPts val="225"/>
                </a:spcBef>
                <a:spcAft>
                  <a:spcPts val="0"/>
                </a:spcAft>
                <a:buNone/>
              </a:pPr>
              <a:r>
                <a:rPr lang="en-US" sz="900" b="1" dirty="0">
                  <a:solidFill>
                    <a:srgbClr val="FFFFFF"/>
                  </a:solidFill>
                  <a:latin typeface="Poppins"/>
                  <a:ea typeface="Poppins"/>
                  <a:cs typeface="Poppins"/>
                  <a:sym typeface="Poppins"/>
                </a:rPr>
                <a:t>Continuous LRR</a:t>
              </a:r>
              <a:endParaRPr sz="900" b="1" dirty="0">
                <a:solidFill>
                  <a:srgbClr val="FFFFFF"/>
                </a:solidFill>
                <a:latin typeface="Poppins"/>
                <a:ea typeface="Poppins"/>
                <a:cs typeface="Poppins"/>
                <a:sym typeface="Poppi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6" name="Google Shape;246;p20"/>
          <p:cNvSpPr txBox="1"/>
          <p:nvPr/>
        </p:nvSpPr>
        <p:spPr>
          <a:xfrm>
            <a:off x="642938" y="492919"/>
            <a:ext cx="10629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dirty="0">
                <a:solidFill>
                  <a:srgbClr val="0F172A"/>
                </a:solidFill>
                <a:latin typeface="Poppins"/>
                <a:ea typeface="Poppins"/>
                <a:cs typeface="Poppins"/>
                <a:sym typeface="Poppins"/>
              </a:rPr>
              <a:t>Research </a:t>
            </a:r>
            <a:r>
              <a:rPr lang="en-US" sz="2400" b="1" dirty="0">
                <a:solidFill>
                  <a:srgbClr val="0F766E"/>
                </a:solidFill>
                <a:latin typeface="Poppins"/>
                <a:ea typeface="Poppins"/>
                <a:cs typeface="Poppins"/>
                <a:sym typeface="Poppins"/>
              </a:rPr>
              <a:t>Questions</a:t>
            </a:r>
            <a:endParaRPr sz="2400" b="1" dirty="0">
              <a:solidFill>
                <a:srgbClr val="0F172A"/>
              </a:solidFill>
              <a:latin typeface="Poppins"/>
              <a:ea typeface="Poppins"/>
              <a:cs typeface="Poppins"/>
              <a:sym typeface="Poppins"/>
            </a:endParaRPr>
          </a:p>
        </p:txBody>
      </p:sp>
      <p:sp>
        <p:nvSpPr>
          <p:cNvPr id="247" name="Google Shape;247;p20"/>
          <p:cNvSpPr txBox="1"/>
          <p:nvPr/>
        </p:nvSpPr>
        <p:spPr>
          <a:xfrm>
            <a:off x="676275" y="1000125"/>
            <a:ext cx="108396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334155"/>
                </a:solidFill>
                <a:latin typeface="Inter"/>
                <a:ea typeface="Inter"/>
                <a:cs typeface="Inter"/>
                <a:sym typeface="Inter"/>
              </a:rPr>
              <a:t>Based on the identified research gap, this dissertation aims to answer the following research questions related to trustworthy and explainable AI for banking contract compliance.</a:t>
            </a:r>
            <a:endParaRPr sz="1100" b="0">
              <a:solidFill>
                <a:srgbClr val="334155"/>
              </a:solidFill>
              <a:latin typeface="Inter"/>
              <a:ea typeface="Inter"/>
              <a:cs typeface="Inter"/>
              <a:sym typeface="Inter"/>
            </a:endParaRPr>
          </a:p>
        </p:txBody>
      </p:sp>
      <p:grpSp>
        <p:nvGrpSpPr>
          <p:cNvPr id="3" name="Google Shape;248;p20"/>
          <p:cNvGrpSpPr/>
          <p:nvPr/>
        </p:nvGrpSpPr>
        <p:grpSpPr>
          <a:xfrm>
            <a:off x="676275" y="1619250"/>
            <a:ext cx="10820400" cy="4572000"/>
            <a:chOff x="676275" y="1619250"/>
            <a:chExt cx="10820400" cy="4572000"/>
          </a:xfrm>
        </p:grpSpPr>
        <p:sp>
          <p:nvSpPr>
            <p:cNvPr id="249" name="Google Shape;249;p20"/>
            <p:cNvSpPr/>
            <p:nvPr/>
          </p:nvSpPr>
          <p:spPr>
            <a:xfrm>
              <a:off x="676275" y="1619250"/>
              <a:ext cx="1981200" cy="4572000"/>
            </a:xfrm>
            <a:prstGeom prst="roundRect">
              <a:avLst>
                <a:gd name="adj" fmla="val 384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0" name="Google Shape;250;p20"/>
            <p:cNvSpPr/>
            <p:nvPr/>
          </p:nvSpPr>
          <p:spPr>
            <a:xfrm>
              <a:off x="676275" y="1619250"/>
              <a:ext cx="1981200" cy="57300"/>
            </a:xfrm>
            <a:prstGeom prst="roundRect">
              <a:avLst>
                <a:gd name="adj" fmla="val 50000"/>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1" name="Google Shape;251;p20"/>
            <p:cNvSpPr txBox="1"/>
            <p:nvPr/>
          </p:nvSpPr>
          <p:spPr>
            <a:xfrm>
              <a:off x="819150" y="1819275"/>
              <a:ext cx="1695600" cy="422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0">
                  <a:solidFill>
                    <a:srgbClr val="0F766E"/>
                  </a:solidFill>
                  <a:latin typeface="Poppins ExtraBold"/>
                  <a:ea typeface="Poppins ExtraBold"/>
                  <a:cs typeface="Poppins ExtraBold"/>
                  <a:sym typeface="Poppins ExtraBold"/>
                </a:rPr>
                <a:t>RQ1</a:t>
              </a:r>
              <a:endParaRPr sz="1800" b="0">
                <a:solidFill>
                  <a:srgbClr val="0F766E"/>
                </a:solidFill>
                <a:latin typeface="Poppins ExtraBold"/>
                <a:ea typeface="Poppins ExtraBold"/>
                <a:cs typeface="Poppins ExtraBold"/>
                <a:sym typeface="Poppins ExtraBold"/>
              </a:endParaRPr>
            </a:p>
            <a:p>
              <a:pPr marL="0" lvl="0" indent="0" algn="l" rtl="0">
                <a:spcBef>
                  <a:spcPts val="450"/>
                </a:spcBef>
                <a:spcAft>
                  <a:spcPts val="0"/>
                </a:spcAft>
                <a:buNone/>
              </a:pPr>
              <a:r>
                <a:rPr lang="en-US" sz="1150" b="1">
                  <a:solidFill>
                    <a:srgbClr val="0F172A"/>
                  </a:solidFill>
                  <a:latin typeface="Poppins"/>
                  <a:ea typeface="Poppins"/>
                  <a:cs typeface="Poppins"/>
                  <a:sym typeface="Poppins"/>
                </a:rPr>
                <a:t>Multimodal Understanding</a:t>
              </a:r>
              <a:endParaRPr sz="1150" b="1">
                <a:solidFill>
                  <a:srgbClr val="0F172A"/>
                </a:solidFill>
                <a:latin typeface="Poppins"/>
                <a:ea typeface="Poppins"/>
                <a:cs typeface="Poppins"/>
                <a:sym typeface="Poppins"/>
              </a:endParaRPr>
            </a:p>
            <a:p>
              <a:pPr marL="0" lvl="0" indent="0" algn="l" rtl="0">
                <a:spcBef>
                  <a:spcPts val="1200"/>
                </a:spcBef>
                <a:spcAft>
                  <a:spcPts val="0"/>
                </a:spcAft>
                <a:buNone/>
              </a:pPr>
              <a:r>
                <a:rPr lang="en-US" sz="950" b="0">
                  <a:solidFill>
                    <a:srgbClr val="475569"/>
                  </a:solidFill>
                  <a:latin typeface="Inter SemiBold"/>
                  <a:ea typeface="Inter SemiBold"/>
                  <a:cs typeface="Inter SemiBold"/>
                  <a:sym typeface="Inter SemiBold"/>
                </a:rPr>
                <a:t>Research Question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334155"/>
                  </a:solidFill>
                  <a:latin typeface="Inter"/>
                  <a:ea typeface="Inter"/>
                  <a:cs typeface="Inter"/>
                  <a:sym typeface="Inter"/>
                </a:rPr>
                <a:t>How can multimodal AI improve the extraction of contractual clauses from complex banking documents compared to traditional OCR-based approaches?</a:t>
              </a:r>
              <a:endParaRPr sz="950" b="0">
                <a:solidFill>
                  <a:srgbClr val="334155"/>
                </a:solidFill>
                <a:latin typeface="Inter"/>
                <a:ea typeface="Inter"/>
                <a:cs typeface="Inter"/>
                <a:sym typeface="Inter"/>
              </a:endParaRPr>
            </a:p>
            <a:p>
              <a:pPr marL="0" lvl="0" indent="0" algn="l" rtl="0">
                <a:spcBef>
                  <a:spcPts val="1500"/>
                </a:spcBef>
                <a:spcAft>
                  <a:spcPts val="0"/>
                </a:spcAft>
                <a:buNone/>
              </a:pPr>
              <a:r>
                <a:rPr lang="en-US" sz="950" b="0">
                  <a:solidFill>
                    <a:srgbClr val="475569"/>
                  </a:solidFill>
                  <a:latin typeface="Inter SemiBold"/>
                  <a:ea typeface="Inter SemiBold"/>
                  <a:cs typeface="Inter SemiBold"/>
                  <a:sym typeface="Inter SemiBold"/>
                </a:rPr>
                <a:t>Motivation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0F766E"/>
                  </a:solidFill>
                  <a:latin typeface="Inter Medium"/>
                  <a:ea typeface="Inter Medium"/>
                  <a:cs typeface="Inter Medium"/>
                  <a:sym typeface="Inter Medium"/>
                </a:rPr>
                <a:t>Evaluate whether LayoutLMv3 preserves document structure and improves clause extraction accuracy.</a:t>
              </a:r>
              <a:endParaRPr sz="950" b="0">
                <a:solidFill>
                  <a:srgbClr val="0F766E"/>
                </a:solidFill>
                <a:latin typeface="Inter Medium"/>
                <a:ea typeface="Inter Medium"/>
                <a:cs typeface="Inter Medium"/>
                <a:sym typeface="Inter Medium"/>
              </a:endParaRPr>
            </a:p>
          </p:txBody>
        </p:sp>
        <p:sp>
          <p:nvSpPr>
            <p:cNvPr id="252" name="Google Shape;252;p20"/>
            <p:cNvSpPr/>
            <p:nvPr/>
          </p:nvSpPr>
          <p:spPr>
            <a:xfrm>
              <a:off x="2886075" y="1619250"/>
              <a:ext cx="1981200" cy="4572000"/>
            </a:xfrm>
            <a:prstGeom prst="roundRect">
              <a:avLst>
                <a:gd name="adj" fmla="val 384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3" name="Google Shape;253;p20"/>
            <p:cNvSpPr/>
            <p:nvPr/>
          </p:nvSpPr>
          <p:spPr>
            <a:xfrm>
              <a:off x="2886075" y="1619250"/>
              <a:ext cx="1981200" cy="57300"/>
            </a:xfrm>
            <a:prstGeom prst="roundRect">
              <a:avLst>
                <a:gd name="adj" fmla="val 50000"/>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4" name="Google Shape;254;p20"/>
            <p:cNvSpPr txBox="1"/>
            <p:nvPr/>
          </p:nvSpPr>
          <p:spPr>
            <a:xfrm>
              <a:off x="3028950" y="1819275"/>
              <a:ext cx="1695600" cy="422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0">
                  <a:solidFill>
                    <a:srgbClr val="0F766E"/>
                  </a:solidFill>
                  <a:latin typeface="Poppins ExtraBold"/>
                  <a:ea typeface="Poppins ExtraBold"/>
                  <a:cs typeface="Poppins ExtraBold"/>
                  <a:sym typeface="Poppins ExtraBold"/>
                </a:rPr>
                <a:t>RQ2</a:t>
              </a:r>
              <a:endParaRPr sz="1800" b="0">
                <a:solidFill>
                  <a:srgbClr val="0F766E"/>
                </a:solidFill>
                <a:latin typeface="Poppins ExtraBold"/>
                <a:ea typeface="Poppins ExtraBold"/>
                <a:cs typeface="Poppins ExtraBold"/>
                <a:sym typeface="Poppins ExtraBold"/>
              </a:endParaRPr>
            </a:p>
            <a:p>
              <a:pPr marL="0" lvl="0" indent="0" algn="l" rtl="0">
                <a:spcBef>
                  <a:spcPts val="450"/>
                </a:spcBef>
                <a:spcAft>
                  <a:spcPts val="0"/>
                </a:spcAft>
                <a:buNone/>
              </a:pPr>
              <a:r>
                <a:rPr lang="en-US" sz="1150" b="1">
                  <a:solidFill>
                    <a:srgbClr val="0F172A"/>
                  </a:solidFill>
                  <a:latin typeface="Poppins"/>
                  <a:ea typeface="Poppins"/>
                  <a:cs typeface="Poppins"/>
                  <a:sym typeface="Poppins"/>
                </a:rPr>
                <a:t>Autonomous Reasoning</a:t>
              </a:r>
              <a:endParaRPr sz="1150" b="1">
                <a:solidFill>
                  <a:srgbClr val="0F172A"/>
                </a:solidFill>
                <a:latin typeface="Poppins"/>
                <a:ea typeface="Poppins"/>
                <a:cs typeface="Poppins"/>
                <a:sym typeface="Poppins"/>
              </a:endParaRPr>
            </a:p>
            <a:p>
              <a:pPr marL="0" lvl="0" indent="0" algn="l" rtl="0">
                <a:spcBef>
                  <a:spcPts val="1200"/>
                </a:spcBef>
                <a:spcAft>
                  <a:spcPts val="0"/>
                </a:spcAft>
                <a:buNone/>
              </a:pPr>
              <a:r>
                <a:rPr lang="en-US" sz="950" b="0">
                  <a:solidFill>
                    <a:srgbClr val="475569"/>
                  </a:solidFill>
                  <a:latin typeface="Inter SemiBold"/>
                  <a:ea typeface="Inter SemiBold"/>
                  <a:cs typeface="Inter SemiBold"/>
                  <a:sym typeface="Inter SemiBold"/>
                </a:rPr>
                <a:t>Research Question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334155"/>
                  </a:solidFill>
                  <a:latin typeface="Inter"/>
                  <a:ea typeface="Inter"/>
                  <a:cs typeface="Inter"/>
                  <a:sym typeface="Inter"/>
                </a:rPr>
                <a:t>Can Agentic AI automate regulatory obligation extraction and compliance assessment with minimal human intervention?</a:t>
              </a:r>
              <a:endParaRPr sz="950" b="0">
                <a:solidFill>
                  <a:srgbClr val="334155"/>
                </a:solidFill>
                <a:latin typeface="Inter"/>
                <a:ea typeface="Inter"/>
                <a:cs typeface="Inter"/>
                <a:sym typeface="Inter"/>
              </a:endParaRPr>
            </a:p>
            <a:p>
              <a:pPr marL="0" lvl="0" indent="0" algn="l" rtl="0">
                <a:spcBef>
                  <a:spcPts val="1500"/>
                </a:spcBef>
                <a:spcAft>
                  <a:spcPts val="0"/>
                </a:spcAft>
                <a:buNone/>
              </a:pPr>
              <a:r>
                <a:rPr lang="en-US" sz="950" b="0">
                  <a:solidFill>
                    <a:srgbClr val="475569"/>
                  </a:solidFill>
                  <a:latin typeface="Inter SemiBold"/>
                  <a:ea typeface="Inter SemiBold"/>
                  <a:cs typeface="Inter SemiBold"/>
                  <a:sym typeface="Inter SemiBold"/>
                </a:rPr>
                <a:t>Motivation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0F766E"/>
                  </a:solidFill>
                  <a:latin typeface="Inter Medium"/>
                  <a:ea typeface="Inter Medium"/>
                  <a:cs typeface="Inter Medium"/>
                  <a:sym typeface="Inter Medium"/>
                </a:rPr>
                <a:t>Assess the effectiveness of LangGraph-based autonomous agents in performing multi-step legal reasoning.</a:t>
              </a:r>
              <a:endParaRPr sz="950" b="0">
                <a:solidFill>
                  <a:srgbClr val="0F766E"/>
                </a:solidFill>
                <a:latin typeface="Inter Medium"/>
                <a:ea typeface="Inter Medium"/>
                <a:cs typeface="Inter Medium"/>
                <a:sym typeface="Inter Medium"/>
              </a:endParaRPr>
            </a:p>
          </p:txBody>
        </p:sp>
        <p:sp>
          <p:nvSpPr>
            <p:cNvPr id="255" name="Google Shape;255;p20"/>
            <p:cNvSpPr/>
            <p:nvPr/>
          </p:nvSpPr>
          <p:spPr>
            <a:xfrm>
              <a:off x="5095875" y="1619250"/>
              <a:ext cx="1981200" cy="4572000"/>
            </a:xfrm>
            <a:prstGeom prst="roundRect">
              <a:avLst>
                <a:gd name="adj" fmla="val 384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6" name="Google Shape;256;p20"/>
            <p:cNvSpPr/>
            <p:nvPr/>
          </p:nvSpPr>
          <p:spPr>
            <a:xfrm>
              <a:off x="5095875" y="1619250"/>
              <a:ext cx="1981200" cy="57300"/>
            </a:xfrm>
            <a:prstGeom prst="roundRect">
              <a:avLst>
                <a:gd name="adj" fmla="val 50000"/>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7" name="Google Shape;257;p20"/>
            <p:cNvSpPr txBox="1"/>
            <p:nvPr/>
          </p:nvSpPr>
          <p:spPr>
            <a:xfrm>
              <a:off x="5238750" y="1819275"/>
              <a:ext cx="1695600" cy="422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0">
                  <a:solidFill>
                    <a:srgbClr val="0F766E"/>
                  </a:solidFill>
                  <a:latin typeface="Poppins ExtraBold"/>
                  <a:ea typeface="Poppins ExtraBold"/>
                  <a:cs typeface="Poppins ExtraBold"/>
                  <a:sym typeface="Poppins ExtraBold"/>
                </a:rPr>
                <a:t>RQ3</a:t>
              </a:r>
              <a:endParaRPr sz="1800" b="0">
                <a:solidFill>
                  <a:srgbClr val="0F766E"/>
                </a:solidFill>
                <a:latin typeface="Poppins ExtraBold"/>
                <a:ea typeface="Poppins ExtraBold"/>
                <a:cs typeface="Poppins ExtraBold"/>
                <a:sym typeface="Poppins ExtraBold"/>
              </a:endParaRPr>
            </a:p>
            <a:p>
              <a:pPr marL="0" lvl="0" indent="0" algn="l" rtl="0">
                <a:spcBef>
                  <a:spcPts val="450"/>
                </a:spcBef>
                <a:spcAft>
                  <a:spcPts val="0"/>
                </a:spcAft>
                <a:buNone/>
              </a:pPr>
              <a:r>
                <a:rPr lang="en-US" sz="1150" b="1">
                  <a:solidFill>
                    <a:srgbClr val="0F172A"/>
                  </a:solidFill>
                  <a:latin typeface="Poppins"/>
                  <a:ea typeface="Poppins"/>
                  <a:cs typeface="Poppins"/>
                  <a:sym typeface="Poppins"/>
                </a:rPr>
                <a:t>Enterprise Integration</a:t>
              </a:r>
              <a:endParaRPr sz="1150" b="1">
                <a:solidFill>
                  <a:srgbClr val="0F172A"/>
                </a:solidFill>
                <a:latin typeface="Poppins"/>
                <a:ea typeface="Poppins"/>
                <a:cs typeface="Poppins"/>
                <a:sym typeface="Poppins"/>
              </a:endParaRPr>
            </a:p>
            <a:p>
              <a:pPr marL="0" lvl="0" indent="0" algn="l" rtl="0">
                <a:spcBef>
                  <a:spcPts val="1200"/>
                </a:spcBef>
                <a:spcAft>
                  <a:spcPts val="0"/>
                </a:spcAft>
                <a:buNone/>
              </a:pPr>
              <a:r>
                <a:rPr lang="en-US" sz="950" b="0">
                  <a:solidFill>
                    <a:srgbClr val="475569"/>
                  </a:solidFill>
                  <a:latin typeface="Inter SemiBold"/>
                  <a:ea typeface="Inter SemiBold"/>
                  <a:cs typeface="Inter SemiBold"/>
                  <a:sym typeface="Inter SemiBold"/>
                </a:rPr>
                <a:t>Research Question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334155"/>
                  </a:solidFill>
                  <a:latin typeface="Inter"/>
                  <a:ea typeface="Inter"/>
                  <a:cs typeface="Inter"/>
                  <a:sym typeface="Inter"/>
                </a:rPr>
                <a:t>How can Model Context Protocol (MCP) securely integrate AI agents with enterprise knowledge repositories while maintaining governance?</a:t>
              </a:r>
              <a:endParaRPr sz="950" b="0">
                <a:solidFill>
                  <a:srgbClr val="334155"/>
                </a:solidFill>
                <a:latin typeface="Inter"/>
                <a:ea typeface="Inter"/>
                <a:cs typeface="Inter"/>
                <a:sym typeface="Inter"/>
              </a:endParaRPr>
            </a:p>
            <a:p>
              <a:pPr marL="0" lvl="0" indent="0" algn="l" rtl="0">
                <a:spcBef>
                  <a:spcPts val="1500"/>
                </a:spcBef>
                <a:spcAft>
                  <a:spcPts val="0"/>
                </a:spcAft>
                <a:buNone/>
              </a:pPr>
              <a:r>
                <a:rPr lang="en-US" sz="950" b="0">
                  <a:solidFill>
                    <a:srgbClr val="475569"/>
                  </a:solidFill>
                  <a:latin typeface="Inter SemiBold"/>
                  <a:ea typeface="Inter SemiBold"/>
                  <a:cs typeface="Inter SemiBold"/>
                  <a:sym typeface="Inter SemiBold"/>
                </a:rPr>
                <a:t>Motivation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0F766E"/>
                  </a:solidFill>
                  <a:latin typeface="Inter Medium"/>
                  <a:ea typeface="Inter Medium"/>
                  <a:cs typeface="Inter Medium"/>
                  <a:sym typeface="Inter Medium"/>
                </a:rPr>
                <a:t>Evaluate secure access to policy repositories, regulatory feeds, and legal databases.</a:t>
              </a:r>
              <a:endParaRPr sz="950" b="0">
                <a:solidFill>
                  <a:srgbClr val="0F766E"/>
                </a:solidFill>
                <a:latin typeface="Inter Medium"/>
                <a:ea typeface="Inter Medium"/>
                <a:cs typeface="Inter Medium"/>
                <a:sym typeface="Inter Medium"/>
              </a:endParaRPr>
            </a:p>
          </p:txBody>
        </p:sp>
        <p:sp>
          <p:nvSpPr>
            <p:cNvPr id="258" name="Google Shape;258;p20"/>
            <p:cNvSpPr/>
            <p:nvPr/>
          </p:nvSpPr>
          <p:spPr>
            <a:xfrm>
              <a:off x="7305675" y="1619250"/>
              <a:ext cx="1981200" cy="4572000"/>
            </a:xfrm>
            <a:prstGeom prst="roundRect">
              <a:avLst>
                <a:gd name="adj" fmla="val 384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9" name="Google Shape;259;p20"/>
            <p:cNvSpPr/>
            <p:nvPr/>
          </p:nvSpPr>
          <p:spPr>
            <a:xfrm>
              <a:off x="7305675" y="1619250"/>
              <a:ext cx="1981200" cy="57300"/>
            </a:xfrm>
            <a:prstGeom prst="roundRect">
              <a:avLst>
                <a:gd name="adj" fmla="val 50000"/>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 name="Google Shape;260;p20"/>
            <p:cNvSpPr txBox="1"/>
            <p:nvPr/>
          </p:nvSpPr>
          <p:spPr>
            <a:xfrm>
              <a:off x="7448550" y="1819275"/>
              <a:ext cx="1695600" cy="422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0">
                  <a:solidFill>
                    <a:srgbClr val="0F766E"/>
                  </a:solidFill>
                  <a:latin typeface="Poppins ExtraBold"/>
                  <a:ea typeface="Poppins ExtraBold"/>
                  <a:cs typeface="Poppins ExtraBold"/>
                  <a:sym typeface="Poppins ExtraBold"/>
                </a:rPr>
                <a:t>RQ4</a:t>
              </a:r>
              <a:endParaRPr sz="1800" b="0">
                <a:solidFill>
                  <a:srgbClr val="0F766E"/>
                </a:solidFill>
                <a:latin typeface="Poppins ExtraBold"/>
                <a:ea typeface="Poppins ExtraBold"/>
                <a:cs typeface="Poppins ExtraBold"/>
                <a:sym typeface="Poppins ExtraBold"/>
              </a:endParaRPr>
            </a:p>
            <a:p>
              <a:pPr marL="0" lvl="0" indent="0" algn="l" rtl="0">
                <a:spcBef>
                  <a:spcPts val="450"/>
                </a:spcBef>
                <a:spcAft>
                  <a:spcPts val="0"/>
                </a:spcAft>
                <a:buNone/>
              </a:pPr>
              <a:r>
                <a:rPr lang="en-US" sz="1150" b="1">
                  <a:solidFill>
                    <a:srgbClr val="0F172A"/>
                  </a:solidFill>
                  <a:latin typeface="Poppins"/>
                  <a:ea typeface="Poppins"/>
                  <a:cs typeface="Poppins"/>
                  <a:sym typeface="Poppins"/>
                </a:rPr>
                <a:t>Trustworthy AI</a:t>
              </a:r>
              <a:endParaRPr sz="1150" b="1">
                <a:solidFill>
                  <a:srgbClr val="0F172A"/>
                </a:solidFill>
                <a:latin typeface="Poppins"/>
                <a:ea typeface="Poppins"/>
                <a:cs typeface="Poppins"/>
                <a:sym typeface="Poppins"/>
              </a:endParaRPr>
            </a:p>
            <a:p>
              <a:pPr marL="0" lvl="0" indent="0" algn="l" rtl="0">
                <a:spcBef>
                  <a:spcPts val="1200"/>
                </a:spcBef>
                <a:spcAft>
                  <a:spcPts val="0"/>
                </a:spcAft>
                <a:buNone/>
              </a:pPr>
              <a:r>
                <a:rPr lang="en-US" sz="950" b="0">
                  <a:solidFill>
                    <a:srgbClr val="475569"/>
                  </a:solidFill>
                  <a:latin typeface="Inter SemiBold"/>
                  <a:ea typeface="Inter SemiBold"/>
                  <a:cs typeface="Inter SemiBold"/>
                  <a:sym typeface="Inter SemiBold"/>
                </a:rPr>
                <a:t>Research Question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334155"/>
                  </a:solidFill>
                  <a:latin typeface="Inter"/>
                  <a:ea typeface="Inter"/>
                  <a:cs typeface="Inter"/>
                  <a:sym typeface="Inter"/>
                </a:rPr>
                <a:t>Can Explainable AI and Guardrails AI improve transparency, reduce hallucinations, and increase trust in decisions?</a:t>
              </a:r>
              <a:endParaRPr sz="950" b="0">
                <a:solidFill>
                  <a:srgbClr val="334155"/>
                </a:solidFill>
                <a:latin typeface="Inter"/>
                <a:ea typeface="Inter"/>
                <a:cs typeface="Inter"/>
                <a:sym typeface="Inter"/>
              </a:endParaRPr>
            </a:p>
            <a:p>
              <a:pPr marL="0" lvl="0" indent="0" algn="l" rtl="0">
                <a:spcBef>
                  <a:spcPts val="1500"/>
                </a:spcBef>
                <a:spcAft>
                  <a:spcPts val="0"/>
                </a:spcAft>
                <a:buNone/>
              </a:pPr>
              <a:r>
                <a:rPr lang="en-US" sz="950" b="0">
                  <a:solidFill>
                    <a:srgbClr val="475569"/>
                  </a:solidFill>
                  <a:latin typeface="Inter SemiBold"/>
                  <a:ea typeface="Inter SemiBold"/>
                  <a:cs typeface="Inter SemiBold"/>
                  <a:sym typeface="Inter SemiBold"/>
                </a:rPr>
                <a:t>Motivation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0F766E"/>
                  </a:solidFill>
                  <a:latin typeface="Inter Medium"/>
                  <a:ea typeface="Inter Medium"/>
                  <a:cs typeface="Inter Medium"/>
                  <a:sym typeface="Inter Medium"/>
                </a:rPr>
                <a:t>Measure explainability using SHAP and safety validation using Guardrails AI.</a:t>
              </a:r>
              <a:endParaRPr sz="950" b="0">
                <a:solidFill>
                  <a:srgbClr val="0F766E"/>
                </a:solidFill>
                <a:latin typeface="Inter Medium"/>
                <a:ea typeface="Inter Medium"/>
                <a:cs typeface="Inter Medium"/>
                <a:sym typeface="Inter Medium"/>
              </a:endParaRPr>
            </a:p>
          </p:txBody>
        </p:sp>
        <p:sp>
          <p:nvSpPr>
            <p:cNvPr id="261" name="Google Shape;261;p20"/>
            <p:cNvSpPr/>
            <p:nvPr/>
          </p:nvSpPr>
          <p:spPr>
            <a:xfrm>
              <a:off x="9515475" y="1619250"/>
              <a:ext cx="1981200" cy="4572000"/>
            </a:xfrm>
            <a:prstGeom prst="roundRect">
              <a:avLst>
                <a:gd name="adj" fmla="val 384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2" name="Google Shape;262;p20"/>
            <p:cNvSpPr/>
            <p:nvPr/>
          </p:nvSpPr>
          <p:spPr>
            <a:xfrm>
              <a:off x="9515475" y="1619250"/>
              <a:ext cx="1981200" cy="57300"/>
            </a:xfrm>
            <a:prstGeom prst="roundRect">
              <a:avLst>
                <a:gd name="adj" fmla="val 50000"/>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20"/>
            <p:cNvSpPr txBox="1"/>
            <p:nvPr/>
          </p:nvSpPr>
          <p:spPr>
            <a:xfrm>
              <a:off x="9658350" y="1819275"/>
              <a:ext cx="1695600" cy="422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0">
                  <a:solidFill>
                    <a:srgbClr val="0F766E"/>
                  </a:solidFill>
                  <a:latin typeface="Poppins ExtraBold"/>
                  <a:ea typeface="Poppins ExtraBold"/>
                  <a:cs typeface="Poppins ExtraBold"/>
                  <a:sym typeface="Poppins ExtraBold"/>
                </a:rPr>
                <a:t>RQ5</a:t>
              </a:r>
              <a:endParaRPr sz="1800" b="0">
                <a:solidFill>
                  <a:srgbClr val="0F766E"/>
                </a:solidFill>
                <a:latin typeface="Poppins ExtraBold"/>
                <a:ea typeface="Poppins ExtraBold"/>
                <a:cs typeface="Poppins ExtraBold"/>
                <a:sym typeface="Poppins ExtraBold"/>
              </a:endParaRPr>
            </a:p>
            <a:p>
              <a:pPr marL="0" lvl="0" indent="0" algn="l" rtl="0">
                <a:spcBef>
                  <a:spcPts val="450"/>
                </a:spcBef>
                <a:spcAft>
                  <a:spcPts val="0"/>
                </a:spcAft>
                <a:buNone/>
              </a:pPr>
              <a:r>
                <a:rPr lang="en-US" sz="1150" b="1">
                  <a:solidFill>
                    <a:srgbClr val="0F172A"/>
                  </a:solidFill>
                  <a:latin typeface="Poppins"/>
                  <a:ea typeface="Poppins"/>
                  <a:cs typeface="Poppins"/>
                  <a:sym typeface="Poppins"/>
                </a:rPr>
                <a:t>Enterprise Readiness</a:t>
              </a:r>
              <a:endParaRPr sz="1150" b="1">
                <a:solidFill>
                  <a:srgbClr val="0F172A"/>
                </a:solidFill>
                <a:latin typeface="Poppins"/>
                <a:ea typeface="Poppins"/>
                <a:cs typeface="Poppins"/>
                <a:sym typeface="Poppins"/>
              </a:endParaRPr>
            </a:p>
            <a:p>
              <a:pPr marL="0" lvl="0" indent="0" algn="l" rtl="0">
                <a:spcBef>
                  <a:spcPts val="1200"/>
                </a:spcBef>
                <a:spcAft>
                  <a:spcPts val="0"/>
                </a:spcAft>
                <a:buNone/>
              </a:pPr>
              <a:r>
                <a:rPr lang="en-US" sz="950" b="0">
                  <a:solidFill>
                    <a:srgbClr val="475569"/>
                  </a:solidFill>
                  <a:latin typeface="Inter SemiBold"/>
                  <a:ea typeface="Inter SemiBold"/>
                  <a:cs typeface="Inter SemiBold"/>
                  <a:sym typeface="Inter SemiBold"/>
                </a:rPr>
                <a:t>Research Question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334155"/>
                  </a:solidFill>
                  <a:latin typeface="Inter"/>
                  <a:ea typeface="Inter"/>
                  <a:cs typeface="Inter"/>
                  <a:sym typeface="Inter"/>
                </a:rPr>
                <a:t>Can the proposed integrated architecture reduce manual effort while maintaining enterprise-grade regulatory compliance?</a:t>
              </a:r>
              <a:endParaRPr sz="950" b="0">
                <a:solidFill>
                  <a:srgbClr val="334155"/>
                </a:solidFill>
                <a:latin typeface="Inter"/>
                <a:ea typeface="Inter"/>
                <a:cs typeface="Inter"/>
                <a:sym typeface="Inter"/>
              </a:endParaRPr>
            </a:p>
            <a:p>
              <a:pPr marL="0" lvl="0" indent="0" algn="l" rtl="0">
                <a:spcBef>
                  <a:spcPts val="1500"/>
                </a:spcBef>
                <a:spcAft>
                  <a:spcPts val="0"/>
                </a:spcAft>
                <a:buNone/>
              </a:pPr>
              <a:r>
                <a:rPr lang="en-US" sz="950" b="0">
                  <a:solidFill>
                    <a:srgbClr val="475569"/>
                  </a:solidFill>
                  <a:latin typeface="Inter SemiBold"/>
                  <a:ea typeface="Inter SemiBold"/>
                  <a:cs typeface="Inter SemiBold"/>
                  <a:sym typeface="Inter SemiBold"/>
                </a:rPr>
                <a:t>Motivation</a:t>
              </a:r>
              <a:endParaRPr sz="950" b="0">
                <a:solidFill>
                  <a:srgbClr val="475569"/>
                </a:solidFill>
                <a:latin typeface="Inter SemiBold"/>
                <a:ea typeface="Inter SemiBold"/>
                <a:cs typeface="Inter SemiBold"/>
                <a:sym typeface="Inter SemiBold"/>
              </a:endParaRPr>
            </a:p>
            <a:p>
              <a:pPr marL="0" lvl="0" indent="0" algn="l" rtl="0">
                <a:spcBef>
                  <a:spcPts val="300"/>
                </a:spcBef>
                <a:spcAft>
                  <a:spcPts val="0"/>
                </a:spcAft>
                <a:buNone/>
              </a:pPr>
              <a:r>
                <a:rPr lang="en-US" sz="950" b="0">
                  <a:solidFill>
                    <a:srgbClr val="0F766E"/>
                  </a:solidFill>
                  <a:latin typeface="Inter Medium"/>
                  <a:ea typeface="Inter Medium"/>
                  <a:cs typeface="Inter Medium"/>
                  <a:sym typeface="Inter Medium"/>
                </a:rPr>
                <a:t>Evaluate the overall effectiveness of the proposed Regulatory Guardian Platform.</a:t>
              </a:r>
              <a:endParaRPr sz="950" b="0">
                <a:solidFill>
                  <a:srgbClr val="0F766E"/>
                </a:solidFill>
                <a:latin typeface="Inter Medium"/>
                <a:ea typeface="Inter Medium"/>
                <a:cs typeface="Inter Medium"/>
                <a:sym typeface="Inter Medium"/>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9" name="Google Shape;269;p21"/>
          <p:cNvSpPr txBox="1"/>
          <p:nvPr/>
        </p:nvSpPr>
        <p:spPr>
          <a:xfrm>
            <a:off x="700088" y="492919"/>
            <a:ext cx="10629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dirty="0">
                <a:solidFill>
                  <a:srgbClr val="0F172A"/>
                </a:solidFill>
                <a:latin typeface="Poppins"/>
                <a:ea typeface="Poppins"/>
                <a:cs typeface="Poppins"/>
                <a:sym typeface="Poppins"/>
              </a:rPr>
              <a:t>Research </a:t>
            </a:r>
            <a:r>
              <a:rPr lang="en-US" sz="2400" b="1" dirty="0">
                <a:solidFill>
                  <a:srgbClr val="0F766E"/>
                </a:solidFill>
                <a:latin typeface="Poppins"/>
                <a:ea typeface="Poppins"/>
                <a:cs typeface="Poppins"/>
                <a:sym typeface="Poppins"/>
              </a:rPr>
              <a:t>Methodology</a:t>
            </a:r>
            <a:endParaRPr sz="2400" b="1" dirty="0">
              <a:solidFill>
                <a:srgbClr val="0F172A"/>
              </a:solidFill>
              <a:latin typeface="Poppins"/>
              <a:ea typeface="Poppins"/>
              <a:cs typeface="Poppins"/>
              <a:sym typeface="Poppins"/>
            </a:endParaRPr>
          </a:p>
        </p:txBody>
      </p:sp>
      <p:grpSp>
        <p:nvGrpSpPr>
          <p:cNvPr id="2" name="Google Shape;270;p21"/>
          <p:cNvGrpSpPr/>
          <p:nvPr/>
        </p:nvGrpSpPr>
        <p:grpSpPr>
          <a:xfrm>
            <a:off x="676275" y="1571625"/>
            <a:ext cx="2019300" cy="3762300"/>
            <a:chOff x="676275" y="1571625"/>
            <a:chExt cx="2019300" cy="3762300"/>
          </a:xfrm>
        </p:grpSpPr>
        <p:sp>
          <p:nvSpPr>
            <p:cNvPr id="271" name="Google Shape;271;p21"/>
            <p:cNvSpPr/>
            <p:nvPr/>
          </p:nvSpPr>
          <p:spPr>
            <a:xfrm>
              <a:off x="676275" y="1571625"/>
              <a:ext cx="2019300" cy="3762300"/>
            </a:xfrm>
            <a:prstGeom prst="roundRect">
              <a:avLst>
                <a:gd name="adj" fmla="val 3773"/>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 name="Google Shape;272;p21"/>
            <p:cNvSpPr/>
            <p:nvPr/>
          </p:nvSpPr>
          <p:spPr>
            <a:xfrm>
              <a:off x="676275" y="1571625"/>
              <a:ext cx="2019300" cy="57300"/>
            </a:xfrm>
            <a:prstGeom prst="roundRect">
              <a:avLst>
                <a:gd name="adj" fmla="val 49999"/>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 name="Google Shape;273;p21"/>
            <p:cNvSpPr txBox="1"/>
            <p:nvPr/>
          </p:nvSpPr>
          <p:spPr>
            <a:xfrm>
              <a:off x="790575" y="1724025"/>
              <a:ext cx="1790700" cy="3476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950" b="0" dirty="0">
                  <a:solidFill>
                    <a:srgbClr val="2563EB"/>
                  </a:solidFill>
                  <a:latin typeface="Poppins ExtraBold"/>
                  <a:ea typeface="Poppins ExtraBold"/>
                  <a:cs typeface="Poppins ExtraBold"/>
                  <a:sym typeface="Poppins ExtraBold"/>
                </a:rPr>
                <a:t>PHASE 1</a:t>
              </a:r>
              <a:endParaRPr sz="950" b="0" dirty="0">
                <a:solidFill>
                  <a:srgbClr val="2563EB"/>
                </a:solidFill>
                <a:latin typeface="Poppins ExtraBold"/>
                <a:ea typeface="Poppins ExtraBold"/>
                <a:cs typeface="Poppins ExtraBold"/>
                <a:sym typeface="Poppins ExtraBold"/>
              </a:endParaRPr>
            </a:p>
            <a:p>
              <a:pPr marL="0" lvl="0" indent="0" algn="l" rtl="0">
                <a:spcBef>
                  <a:spcPts val="150"/>
                </a:spcBef>
                <a:spcAft>
                  <a:spcPts val="0"/>
                </a:spcAft>
                <a:buNone/>
              </a:pPr>
              <a:r>
                <a:rPr lang="en-US" sz="1150" b="1" dirty="0">
                  <a:solidFill>
                    <a:srgbClr val="0F172A"/>
                  </a:solidFill>
                  <a:latin typeface="Poppins"/>
                  <a:ea typeface="Poppins"/>
                  <a:cs typeface="Poppins"/>
                  <a:sym typeface="Poppins"/>
                </a:rPr>
                <a:t>Data Collection</a:t>
              </a:r>
              <a:endParaRPr sz="950" b="0" dirty="0">
                <a:solidFill>
                  <a:srgbClr val="2563EB"/>
                </a:solidFill>
                <a:latin typeface="Poppins ExtraBold"/>
                <a:ea typeface="Poppins ExtraBold"/>
                <a:cs typeface="Poppins ExtraBold"/>
                <a:sym typeface="Poppins ExtraBold"/>
              </a:endParaRPr>
            </a:p>
            <a:p>
              <a:pPr marL="0" lvl="0" indent="0" algn="l" rtl="0">
                <a:spcBef>
                  <a:spcPts val="900"/>
                </a:spcBef>
                <a:spcAft>
                  <a:spcPts val="0"/>
                </a:spcAft>
                <a:buNone/>
              </a:pPr>
              <a:r>
                <a:rPr lang="en-US" sz="950" b="1" dirty="0">
                  <a:solidFill>
                    <a:srgbClr val="1E293B"/>
                  </a:solidFill>
                  <a:latin typeface="Inter"/>
                  <a:ea typeface="Inter"/>
                  <a:cs typeface="Inter"/>
                  <a:sym typeface="Inter"/>
                </a:rPr>
                <a:t>📂 </a:t>
              </a:r>
              <a:r>
                <a:rPr lang="en-US" sz="950" b="1" dirty="0" smtClean="0">
                  <a:solidFill>
                    <a:srgbClr val="1E293B"/>
                  </a:solidFill>
                  <a:latin typeface="Inter"/>
                  <a:ea typeface="Inter"/>
                  <a:cs typeface="Inter"/>
                  <a:sym typeface="Inter"/>
                </a:rPr>
                <a:t>   Public </a:t>
              </a:r>
              <a:r>
                <a:rPr lang="en-US" sz="950" b="1" dirty="0">
                  <a:solidFill>
                    <a:srgbClr val="1E293B"/>
                  </a:solidFill>
                  <a:latin typeface="Inter"/>
                  <a:ea typeface="Inter"/>
                  <a:cs typeface="Inter"/>
                  <a:sym typeface="Inter"/>
                </a:rPr>
                <a:t>legal datasets</a:t>
              </a:r>
              <a:endParaRPr sz="950" b="0" dirty="0">
                <a:solidFill>
                  <a:srgbClr val="2563EB"/>
                </a:solidFill>
                <a:latin typeface="Poppins ExtraBold"/>
                <a:ea typeface="Poppins ExtraBold"/>
                <a:cs typeface="Poppins ExtraBold"/>
                <a:sym typeface="Poppins ExtraBold"/>
              </a:endParaRPr>
            </a:p>
            <a:p>
              <a:pPr marL="457200" lvl="0" indent="-288925" algn="l" rtl="0">
                <a:spcBef>
                  <a:spcPts val="300"/>
                </a:spcBef>
                <a:spcAft>
                  <a:spcPts val="0"/>
                </a:spcAft>
                <a:buClr>
                  <a:srgbClr val="2563EB"/>
                </a:buClr>
                <a:buSzPts val="950"/>
                <a:buFont typeface="Poppins"/>
                <a:buChar char="●"/>
              </a:pPr>
              <a:r>
                <a:rPr lang="en-US" sz="900" b="0" dirty="0">
                  <a:solidFill>
                    <a:srgbClr val="334155"/>
                  </a:solidFill>
                  <a:latin typeface="Inter"/>
                  <a:ea typeface="Inter"/>
                  <a:cs typeface="Inter"/>
                  <a:sym typeface="Inter"/>
                </a:rPr>
                <a:t>CUAD v1</a:t>
              </a:r>
              <a:endParaRPr sz="950" b="0" dirty="0">
                <a:solidFill>
                  <a:srgbClr val="2563EB"/>
                </a:solidFill>
                <a:latin typeface="Poppins ExtraBold"/>
                <a:ea typeface="Poppins ExtraBold"/>
                <a:cs typeface="Poppins ExtraBold"/>
                <a:sym typeface="Poppins ExtraBold"/>
              </a:endParaRPr>
            </a:p>
            <a:p>
              <a:pPr marL="457200" lvl="0" indent="-288925" algn="l" rtl="0">
                <a:spcBef>
                  <a:spcPts val="150"/>
                </a:spcBef>
                <a:spcAft>
                  <a:spcPts val="0"/>
                </a:spcAft>
                <a:buClr>
                  <a:srgbClr val="2563EB"/>
                </a:buClr>
                <a:buSzPts val="950"/>
                <a:buFont typeface="Poppins"/>
                <a:buChar char="●"/>
              </a:pPr>
              <a:r>
                <a:rPr lang="en-US" sz="900" b="0" dirty="0" err="1">
                  <a:solidFill>
                    <a:srgbClr val="334155"/>
                  </a:solidFill>
                  <a:latin typeface="Inter"/>
                  <a:ea typeface="Inter"/>
                  <a:cs typeface="Inter"/>
                  <a:sym typeface="Inter"/>
                </a:rPr>
                <a:t>DocLayNet</a:t>
              </a:r>
              <a:endParaRPr sz="950" b="0" dirty="0">
                <a:solidFill>
                  <a:srgbClr val="2563EB"/>
                </a:solidFill>
                <a:latin typeface="Poppins ExtraBold"/>
                <a:ea typeface="Poppins ExtraBold"/>
                <a:cs typeface="Poppins ExtraBold"/>
                <a:sym typeface="Poppins ExtraBold"/>
              </a:endParaRPr>
            </a:p>
            <a:p>
              <a:pPr marL="457200" lvl="0" indent="-288925" algn="l" rtl="0">
                <a:spcBef>
                  <a:spcPts val="150"/>
                </a:spcBef>
                <a:spcAft>
                  <a:spcPts val="0"/>
                </a:spcAft>
                <a:buClr>
                  <a:srgbClr val="2563EB"/>
                </a:buClr>
                <a:buSzPts val="950"/>
                <a:buFont typeface="Poppins"/>
                <a:buChar char="●"/>
              </a:pPr>
              <a:r>
                <a:rPr lang="en-US" sz="900" b="0" dirty="0">
                  <a:solidFill>
                    <a:srgbClr val="334155"/>
                  </a:solidFill>
                  <a:latin typeface="Inter"/>
                  <a:ea typeface="Inter"/>
                  <a:cs typeface="Inter"/>
                  <a:sym typeface="Inter"/>
                </a:rPr>
                <a:t>RBI Circulars</a:t>
              </a:r>
              <a:endParaRPr sz="950" b="0" dirty="0">
                <a:solidFill>
                  <a:srgbClr val="2563EB"/>
                </a:solidFill>
                <a:latin typeface="Poppins ExtraBold"/>
                <a:ea typeface="Poppins ExtraBold"/>
                <a:cs typeface="Poppins ExtraBold"/>
                <a:sym typeface="Poppins ExtraBold"/>
              </a:endParaRPr>
            </a:p>
            <a:p>
              <a:pPr marL="457200" lvl="0" indent="-288925" algn="l" rtl="0">
                <a:spcBef>
                  <a:spcPts val="150"/>
                </a:spcBef>
                <a:spcAft>
                  <a:spcPts val="0"/>
                </a:spcAft>
                <a:buClr>
                  <a:srgbClr val="2563EB"/>
                </a:buClr>
                <a:buSzPts val="950"/>
                <a:buFont typeface="Poppins"/>
                <a:buChar char="●"/>
              </a:pPr>
              <a:r>
                <a:rPr lang="en-US" sz="900" b="0" dirty="0">
                  <a:solidFill>
                    <a:srgbClr val="334155"/>
                  </a:solidFill>
                  <a:latin typeface="Inter"/>
                  <a:ea typeface="Inter"/>
                  <a:cs typeface="Inter"/>
                  <a:sym typeface="Inter"/>
                </a:rPr>
                <a:t>Synthetic Banking Policies</a:t>
              </a:r>
              <a:endParaRPr sz="950" b="0" dirty="0">
                <a:solidFill>
                  <a:srgbClr val="2563EB"/>
                </a:solidFill>
                <a:latin typeface="Poppins ExtraBold"/>
                <a:ea typeface="Poppins ExtraBold"/>
                <a:cs typeface="Poppins ExtraBold"/>
                <a:sym typeface="Poppins ExtraBold"/>
              </a:endParaRPr>
            </a:p>
            <a:p>
              <a:pPr marL="0" lvl="0" indent="0" algn="l" rtl="0">
                <a:spcBef>
                  <a:spcPts val="1200"/>
                </a:spcBef>
                <a:spcAft>
                  <a:spcPts val="0"/>
                </a:spcAft>
                <a:buNone/>
              </a:pPr>
              <a:r>
                <a:rPr lang="en-US" sz="850" b="1" dirty="0">
                  <a:solidFill>
                    <a:srgbClr val="475569"/>
                  </a:solidFill>
                  <a:latin typeface="Poppins"/>
                  <a:ea typeface="Poppins"/>
                  <a:cs typeface="Poppins"/>
                  <a:sym typeface="Poppins"/>
                </a:rPr>
                <a:t>PURPOSE</a:t>
              </a:r>
              <a:endParaRPr sz="850" b="0" dirty="0">
                <a:solidFill>
                  <a:srgbClr val="2563EB"/>
                </a:solidFill>
                <a:latin typeface="Poppins ExtraBold"/>
                <a:ea typeface="Poppins ExtraBold"/>
                <a:cs typeface="Poppins ExtraBold"/>
                <a:sym typeface="Poppins ExtraBold"/>
              </a:endParaRPr>
            </a:p>
            <a:p>
              <a:pPr marL="0" lvl="0" indent="0" algn="l" rtl="0">
                <a:spcBef>
                  <a:spcPts val="150"/>
                </a:spcBef>
                <a:spcAft>
                  <a:spcPts val="150"/>
                </a:spcAft>
                <a:buNone/>
              </a:pPr>
              <a:r>
                <a:rPr lang="en-US" sz="850" b="0" i="1" dirty="0">
                  <a:solidFill>
                    <a:srgbClr val="0F766E"/>
                  </a:solidFill>
                  <a:latin typeface="Inter Medium"/>
                  <a:ea typeface="Inter Medium"/>
                  <a:cs typeface="Inter Medium"/>
                  <a:sym typeface="Inter Medium"/>
                </a:rPr>
                <a:t>Provide high-quality legal documents while preserving confidentiality.</a:t>
              </a:r>
              <a:endParaRPr sz="850" b="0" dirty="0">
                <a:solidFill>
                  <a:srgbClr val="2563EB"/>
                </a:solidFill>
                <a:latin typeface="Poppins ExtraBold"/>
                <a:ea typeface="Poppins ExtraBold"/>
                <a:cs typeface="Poppins ExtraBold"/>
                <a:sym typeface="Poppins ExtraBold"/>
              </a:endParaRPr>
            </a:p>
          </p:txBody>
        </p:sp>
      </p:grpSp>
      <p:sp>
        <p:nvSpPr>
          <p:cNvPr id="274" name="Google Shape;274;p21"/>
          <p:cNvSpPr txBox="1"/>
          <p:nvPr/>
        </p:nvSpPr>
        <p:spPr>
          <a:xfrm>
            <a:off x="676275" y="1000125"/>
            <a:ext cx="10839600" cy="476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334155"/>
                </a:solidFill>
                <a:latin typeface="Inter"/>
                <a:ea typeface="Inter"/>
                <a:cs typeface="Inter"/>
                <a:sym typeface="Inter"/>
              </a:rPr>
              <a:t>The proposed research follows a systematic methodology comprising data acquisition, multimodal document intelligence, autonomous reasoning, explainability, AI safety validation, and comprehensive performance evaluation.</a:t>
            </a:r>
            <a:endParaRPr sz="1100" b="0">
              <a:solidFill>
                <a:srgbClr val="334155"/>
              </a:solidFill>
              <a:latin typeface="Inter"/>
              <a:ea typeface="Inter"/>
              <a:cs typeface="Inter"/>
              <a:sym typeface="Inter"/>
            </a:endParaRPr>
          </a:p>
        </p:txBody>
      </p:sp>
      <p:pic>
        <p:nvPicPr>
          <p:cNvPr id="275" name="Google Shape;275;p21"/>
          <p:cNvPicPr preferRelativeResize="0"/>
          <p:nvPr/>
        </p:nvPicPr>
        <p:blipFill rotWithShape="1">
          <a:blip r:embed="rId3">
            <a:alphaModFix/>
          </a:blip>
          <a:srcRect l="387" r="387"/>
          <a:stretch/>
        </p:blipFill>
        <p:spPr>
          <a:xfrm>
            <a:off x="2695575" y="3586163"/>
            <a:ext cx="152400" cy="19200"/>
          </a:xfrm>
          <a:prstGeom prst="rect">
            <a:avLst/>
          </a:prstGeom>
          <a:noFill/>
          <a:ln>
            <a:noFill/>
          </a:ln>
        </p:spPr>
      </p:pic>
      <p:pic>
        <p:nvPicPr>
          <p:cNvPr id="276" name="Google Shape;276;p21"/>
          <p:cNvPicPr preferRelativeResize="0"/>
          <p:nvPr/>
        </p:nvPicPr>
        <p:blipFill rotWithShape="1">
          <a:blip r:embed="rId4">
            <a:alphaModFix/>
          </a:blip>
          <a:srcRect/>
          <a:stretch/>
        </p:blipFill>
        <p:spPr>
          <a:xfrm>
            <a:off x="2847975" y="3557588"/>
            <a:ext cx="76200" cy="76200"/>
          </a:xfrm>
          <a:prstGeom prst="rect">
            <a:avLst/>
          </a:prstGeom>
          <a:noFill/>
          <a:ln>
            <a:noFill/>
          </a:ln>
        </p:spPr>
      </p:pic>
      <p:grpSp>
        <p:nvGrpSpPr>
          <p:cNvPr id="3" name="Google Shape;277;p21"/>
          <p:cNvGrpSpPr/>
          <p:nvPr/>
        </p:nvGrpSpPr>
        <p:grpSpPr>
          <a:xfrm>
            <a:off x="2924175" y="1571625"/>
            <a:ext cx="2019300" cy="3762300"/>
            <a:chOff x="2924175" y="1571625"/>
            <a:chExt cx="2019300" cy="3762300"/>
          </a:xfrm>
        </p:grpSpPr>
        <p:sp>
          <p:nvSpPr>
            <p:cNvPr id="278" name="Google Shape;278;p21"/>
            <p:cNvSpPr/>
            <p:nvPr/>
          </p:nvSpPr>
          <p:spPr>
            <a:xfrm>
              <a:off x="2924175" y="1571625"/>
              <a:ext cx="2019300" cy="3762300"/>
            </a:xfrm>
            <a:prstGeom prst="roundRect">
              <a:avLst>
                <a:gd name="adj" fmla="val 3773"/>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9" name="Google Shape;279;p21"/>
            <p:cNvSpPr/>
            <p:nvPr/>
          </p:nvSpPr>
          <p:spPr>
            <a:xfrm>
              <a:off x="2924175" y="1571625"/>
              <a:ext cx="2019300" cy="57300"/>
            </a:xfrm>
            <a:prstGeom prst="roundRect">
              <a:avLst>
                <a:gd name="adj" fmla="val 49999"/>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0" name="Google Shape;280;p21"/>
            <p:cNvSpPr txBox="1"/>
            <p:nvPr/>
          </p:nvSpPr>
          <p:spPr>
            <a:xfrm>
              <a:off x="3038475" y="1724025"/>
              <a:ext cx="1790700" cy="3476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950" b="0">
                  <a:solidFill>
                    <a:srgbClr val="0D9488"/>
                  </a:solidFill>
                  <a:latin typeface="Poppins ExtraBold"/>
                  <a:ea typeface="Poppins ExtraBold"/>
                  <a:cs typeface="Poppins ExtraBold"/>
                  <a:sym typeface="Poppins ExtraBold"/>
                </a:rPr>
                <a:t>PHASE 2</a:t>
              </a:r>
              <a:endParaRPr sz="950" b="0">
                <a:solidFill>
                  <a:srgbClr val="0D9488"/>
                </a:solidFill>
                <a:latin typeface="Poppins ExtraBold"/>
                <a:ea typeface="Poppins ExtraBold"/>
                <a:cs typeface="Poppins ExtraBold"/>
                <a:sym typeface="Poppins ExtraBold"/>
              </a:endParaRPr>
            </a:p>
            <a:p>
              <a:pPr marL="0" lvl="0" indent="0" algn="l" rtl="0">
                <a:spcBef>
                  <a:spcPts val="150"/>
                </a:spcBef>
                <a:spcAft>
                  <a:spcPts val="0"/>
                </a:spcAft>
                <a:buNone/>
              </a:pPr>
              <a:r>
                <a:rPr lang="en-US" sz="1150" b="1">
                  <a:solidFill>
                    <a:srgbClr val="0F172A"/>
                  </a:solidFill>
                  <a:latin typeface="Poppins"/>
                  <a:ea typeface="Poppins"/>
                  <a:cs typeface="Poppins"/>
                  <a:sym typeface="Poppins"/>
                </a:rPr>
                <a:t>Multi-modal Intelligence</a:t>
              </a:r>
              <a:endParaRPr sz="950" b="0">
                <a:solidFill>
                  <a:srgbClr val="0D9488"/>
                </a:solidFill>
                <a:latin typeface="Poppins ExtraBold"/>
                <a:ea typeface="Poppins ExtraBold"/>
                <a:cs typeface="Poppins ExtraBold"/>
                <a:sym typeface="Poppins ExtraBold"/>
              </a:endParaRPr>
            </a:p>
            <a:p>
              <a:pPr marL="0" lvl="0" indent="0" algn="ctr" rtl="0">
                <a:spcBef>
                  <a:spcPts val="900"/>
                </a:spcBef>
                <a:spcAft>
                  <a:spcPts val="0"/>
                </a:spcAft>
                <a:buNone/>
              </a:pPr>
              <a:r>
                <a:rPr lang="en-US" sz="950" b="1">
                  <a:solidFill>
                    <a:srgbClr val="0F766E"/>
                  </a:solidFill>
                  <a:latin typeface="Inter"/>
                  <a:ea typeface="Inter"/>
                  <a:cs typeface="Inter"/>
                  <a:sym typeface="Inter"/>
                </a:rPr>
                <a:t>LayoutLMv3</a:t>
              </a:r>
              <a:endParaRPr sz="950" b="0">
                <a:solidFill>
                  <a:srgbClr val="0D948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14B8A6"/>
                  </a:solidFill>
                  <a:latin typeface="Inter"/>
                  <a:ea typeface="Inter"/>
                  <a:cs typeface="Inter"/>
                  <a:sym typeface="Inter"/>
                </a:rPr>
                <a:t>↓</a:t>
              </a:r>
              <a:endParaRPr sz="750" b="0">
                <a:solidFill>
                  <a:srgbClr val="0D948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50" b="1">
                  <a:solidFill>
                    <a:srgbClr val="1E293B"/>
                  </a:solidFill>
                  <a:latin typeface="Inter"/>
                  <a:ea typeface="Inter"/>
                  <a:cs typeface="Inter"/>
                  <a:sym typeface="Inter"/>
                </a:rPr>
                <a:t>OCR + Layout Analysis</a:t>
              </a:r>
              <a:endParaRPr sz="850" b="0">
                <a:solidFill>
                  <a:srgbClr val="0D948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14B8A6"/>
                  </a:solidFill>
                  <a:latin typeface="Inter"/>
                  <a:ea typeface="Inter"/>
                  <a:cs typeface="Inter"/>
                  <a:sym typeface="Inter"/>
                </a:rPr>
                <a:t>↓</a:t>
              </a:r>
              <a:endParaRPr sz="750" b="0">
                <a:solidFill>
                  <a:srgbClr val="0D948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950" b="1">
                  <a:solidFill>
                    <a:srgbClr val="0F766E"/>
                  </a:solidFill>
                  <a:latin typeface="Inter"/>
                  <a:ea typeface="Inter"/>
                  <a:cs typeface="Inter"/>
                  <a:sym typeface="Inter"/>
                </a:rPr>
                <a:t>Legal-BERT</a:t>
              </a:r>
              <a:endParaRPr sz="950" b="0">
                <a:solidFill>
                  <a:srgbClr val="0D948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14B8A6"/>
                  </a:solidFill>
                  <a:latin typeface="Inter"/>
                  <a:ea typeface="Inter"/>
                  <a:cs typeface="Inter"/>
                  <a:sym typeface="Inter"/>
                </a:rPr>
                <a:t>↓</a:t>
              </a:r>
              <a:endParaRPr sz="750" b="0">
                <a:solidFill>
                  <a:srgbClr val="0D948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50" b="1">
                  <a:solidFill>
                    <a:srgbClr val="1E293B"/>
                  </a:solidFill>
                  <a:latin typeface="Inter"/>
                  <a:ea typeface="Inter"/>
                  <a:cs typeface="Inter"/>
                  <a:sym typeface="Inter"/>
                </a:rPr>
                <a:t>Clause Extraction</a:t>
              </a:r>
              <a:endParaRPr sz="850" b="0">
                <a:solidFill>
                  <a:srgbClr val="0D9488"/>
                </a:solidFill>
                <a:latin typeface="Poppins ExtraBold"/>
                <a:ea typeface="Poppins ExtraBold"/>
                <a:cs typeface="Poppins ExtraBold"/>
                <a:sym typeface="Poppins ExtraBold"/>
              </a:endParaRPr>
            </a:p>
            <a:p>
              <a:pPr marL="0" lvl="0" indent="0" algn="l" rtl="0">
                <a:spcBef>
                  <a:spcPts val="1200"/>
                </a:spcBef>
                <a:spcAft>
                  <a:spcPts val="0"/>
                </a:spcAft>
                <a:buNone/>
              </a:pPr>
              <a:r>
                <a:rPr lang="en-US" sz="850" b="1">
                  <a:solidFill>
                    <a:srgbClr val="475569"/>
                  </a:solidFill>
                  <a:latin typeface="Poppins"/>
                  <a:ea typeface="Poppins"/>
                  <a:cs typeface="Poppins"/>
                  <a:sym typeface="Poppins"/>
                </a:rPr>
                <a:t>PURPOSE</a:t>
              </a:r>
              <a:endParaRPr sz="850" b="0">
                <a:solidFill>
                  <a:srgbClr val="0D9488"/>
                </a:solidFill>
                <a:latin typeface="Poppins ExtraBold"/>
                <a:ea typeface="Poppins ExtraBold"/>
                <a:cs typeface="Poppins ExtraBold"/>
                <a:sym typeface="Poppins ExtraBold"/>
              </a:endParaRPr>
            </a:p>
            <a:p>
              <a:pPr marL="0" lvl="0" indent="0" algn="l" rtl="0">
                <a:spcBef>
                  <a:spcPts val="150"/>
                </a:spcBef>
                <a:spcAft>
                  <a:spcPts val="150"/>
                </a:spcAft>
                <a:buNone/>
              </a:pPr>
              <a:r>
                <a:rPr lang="en-US" sz="850" b="0" i="1">
                  <a:solidFill>
                    <a:srgbClr val="0F766E"/>
                  </a:solidFill>
                  <a:latin typeface="Inter Medium"/>
                  <a:ea typeface="Inter Medium"/>
                  <a:cs typeface="Inter Medium"/>
                  <a:sym typeface="Inter Medium"/>
                </a:rPr>
                <a:t>Preserve document structure and accurately classify legal clauses.</a:t>
              </a:r>
              <a:endParaRPr sz="850" b="0">
                <a:solidFill>
                  <a:srgbClr val="0D9488"/>
                </a:solidFill>
                <a:latin typeface="Poppins ExtraBold"/>
                <a:ea typeface="Poppins ExtraBold"/>
                <a:cs typeface="Poppins ExtraBold"/>
                <a:sym typeface="Poppins ExtraBold"/>
              </a:endParaRPr>
            </a:p>
          </p:txBody>
        </p:sp>
      </p:grpSp>
      <p:pic>
        <p:nvPicPr>
          <p:cNvPr id="281" name="Google Shape;281;p21"/>
          <p:cNvPicPr preferRelativeResize="0"/>
          <p:nvPr/>
        </p:nvPicPr>
        <p:blipFill rotWithShape="1">
          <a:blip r:embed="rId3">
            <a:alphaModFix/>
          </a:blip>
          <a:srcRect l="387" r="387"/>
          <a:stretch/>
        </p:blipFill>
        <p:spPr>
          <a:xfrm>
            <a:off x="4943475" y="3586163"/>
            <a:ext cx="152400" cy="19200"/>
          </a:xfrm>
          <a:prstGeom prst="rect">
            <a:avLst/>
          </a:prstGeom>
          <a:noFill/>
          <a:ln>
            <a:noFill/>
          </a:ln>
        </p:spPr>
      </p:pic>
      <p:pic>
        <p:nvPicPr>
          <p:cNvPr id="282" name="Google Shape;282;p21"/>
          <p:cNvPicPr preferRelativeResize="0"/>
          <p:nvPr/>
        </p:nvPicPr>
        <p:blipFill rotWithShape="1">
          <a:blip r:embed="rId4">
            <a:alphaModFix/>
          </a:blip>
          <a:srcRect/>
          <a:stretch/>
        </p:blipFill>
        <p:spPr>
          <a:xfrm>
            <a:off x="5095875" y="3557588"/>
            <a:ext cx="76200" cy="76200"/>
          </a:xfrm>
          <a:prstGeom prst="rect">
            <a:avLst/>
          </a:prstGeom>
          <a:noFill/>
          <a:ln>
            <a:noFill/>
          </a:ln>
        </p:spPr>
      </p:pic>
      <p:grpSp>
        <p:nvGrpSpPr>
          <p:cNvPr id="4" name="Google Shape;283;p21"/>
          <p:cNvGrpSpPr/>
          <p:nvPr/>
        </p:nvGrpSpPr>
        <p:grpSpPr>
          <a:xfrm>
            <a:off x="5172075" y="1571625"/>
            <a:ext cx="2019300" cy="3762300"/>
            <a:chOff x="5172075" y="1571625"/>
            <a:chExt cx="2019300" cy="3762300"/>
          </a:xfrm>
        </p:grpSpPr>
        <p:sp>
          <p:nvSpPr>
            <p:cNvPr id="284" name="Google Shape;284;p21"/>
            <p:cNvSpPr/>
            <p:nvPr/>
          </p:nvSpPr>
          <p:spPr>
            <a:xfrm>
              <a:off x="5172075" y="1571625"/>
              <a:ext cx="2019300" cy="3762300"/>
            </a:xfrm>
            <a:prstGeom prst="roundRect">
              <a:avLst>
                <a:gd name="adj" fmla="val 3773"/>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5" name="Google Shape;285;p21"/>
            <p:cNvSpPr/>
            <p:nvPr/>
          </p:nvSpPr>
          <p:spPr>
            <a:xfrm>
              <a:off x="5172075" y="1571625"/>
              <a:ext cx="2019300" cy="57300"/>
            </a:xfrm>
            <a:prstGeom prst="roundRect">
              <a:avLst>
                <a:gd name="adj" fmla="val 49999"/>
              </a:avLst>
            </a:prstGeom>
            <a:solidFill>
              <a:srgbClr val="7C3AE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6" name="Google Shape;286;p21"/>
            <p:cNvSpPr txBox="1"/>
            <p:nvPr/>
          </p:nvSpPr>
          <p:spPr>
            <a:xfrm>
              <a:off x="5286375" y="1724025"/>
              <a:ext cx="1790700" cy="3476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950" b="0">
                  <a:solidFill>
                    <a:srgbClr val="7C3AED"/>
                  </a:solidFill>
                  <a:latin typeface="Poppins ExtraBold"/>
                  <a:ea typeface="Poppins ExtraBold"/>
                  <a:cs typeface="Poppins ExtraBold"/>
                  <a:sym typeface="Poppins ExtraBold"/>
                </a:rPr>
                <a:t>PHASE 3</a:t>
              </a:r>
              <a:endParaRPr sz="950" b="0">
                <a:solidFill>
                  <a:srgbClr val="7C3AED"/>
                </a:solidFill>
                <a:latin typeface="Poppins ExtraBold"/>
                <a:ea typeface="Poppins ExtraBold"/>
                <a:cs typeface="Poppins ExtraBold"/>
                <a:sym typeface="Poppins ExtraBold"/>
              </a:endParaRPr>
            </a:p>
            <a:p>
              <a:pPr marL="0" lvl="0" indent="0" algn="l" rtl="0">
                <a:spcBef>
                  <a:spcPts val="150"/>
                </a:spcBef>
                <a:spcAft>
                  <a:spcPts val="0"/>
                </a:spcAft>
                <a:buNone/>
              </a:pPr>
              <a:r>
                <a:rPr lang="en-US" sz="1150" b="1">
                  <a:solidFill>
                    <a:srgbClr val="0F172A"/>
                  </a:solidFill>
                  <a:latin typeface="Poppins"/>
                  <a:ea typeface="Poppins"/>
                  <a:cs typeface="Poppins"/>
                  <a:sym typeface="Poppins"/>
                </a:rPr>
                <a:t>Agentic AI Reasoning</a:t>
              </a:r>
              <a:endParaRPr sz="950" b="0">
                <a:solidFill>
                  <a:srgbClr val="7C3AED"/>
                </a:solidFill>
                <a:latin typeface="Poppins ExtraBold"/>
                <a:ea typeface="Poppins ExtraBold"/>
                <a:cs typeface="Poppins ExtraBold"/>
                <a:sym typeface="Poppins ExtraBold"/>
              </a:endParaRPr>
            </a:p>
            <a:p>
              <a:pPr marL="0" lvl="0" indent="0" algn="ctr" rtl="0">
                <a:spcBef>
                  <a:spcPts val="900"/>
                </a:spcBef>
                <a:spcAft>
                  <a:spcPts val="0"/>
                </a:spcAft>
                <a:buNone/>
              </a:pPr>
              <a:r>
                <a:rPr lang="en-US" sz="950" b="1">
                  <a:solidFill>
                    <a:srgbClr val="7C3AED"/>
                  </a:solidFill>
                  <a:latin typeface="Inter"/>
                  <a:ea typeface="Inter"/>
                  <a:cs typeface="Inter"/>
                  <a:sym typeface="Inter"/>
                </a:rPr>
                <a:t>LangGraph</a:t>
              </a:r>
              <a:endParaRPr sz="950" b="0">
                <a:solidFill>
                  <a:srgbClr val="7C3AED"/>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A855F7"/>
                  </a:solidFill>
                  <a:latin typeface="Inter"/>
                  <a:ea typeface="Inter"/>
                  <a:cs typeface="Inter"/>
                  <a:sym typeface="Inter"/>
                </a:rPr>
                <a:t>↓</a:t>
              </a:r>
              <a:endParaRPr sz="750" b="0">
                <a:solidFill>
                  <a:srgbClr val="7C3AED"/>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50" b="0">
                  <a:solidFill>
                    <a:srgbClr val="334155"/>
                  </a:solidFill>
                  <a:latin typeface="Inter"/>
                  <a:ea typeface="Inter"/>
                  <a:cs typeface="Inter"/>
                  <a:sym typeface="Inter"/>
                </a:rPr>
                <a:t>Obligation Extraction</a:t>
              </a:r>
              <a:endParaRPr sz="850" b="0">
                <a:solidFill>
                  <a:srgbClr val="7C3AED"/>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A855F7"/>
                  </a:solidFill>
                  <a:latin typeface="Inter"/>
                  <a:ea typeface="Inter"/>
                  <a:cs typeface="Inter"/>
                  <a:sym typeface="Inter"/>
                </a:rPr>
                <a:t>↓</a:t>
              </a:r>
              <a:endParaRPr sz="750" b="0">
                <a:solidFill>
                  <a:srgbClr val="7C3AED"/>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50" b="0">
                  <a:solidFill>
                    <a:srgbClr val="334155"/>
                  </a:solidFill>
                  <a:latin typeface="Inter"/>
                  <a:ea typeface="Inter"/>
                  <a:cs typeface="Inter"/>
                  <a:sym typeface="Inter"/>
                </a:rPr>
                <a:t>Risk Analysis Agent</a:t>
              </a:r>
              <a:endParaRPr sz="850" b="0">
                <a:solidFill>
                  <a:srgbClr val="7C3AED"/>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A855F7"/>
                  </a:solidFill>
                  <a:latin typeface="Inter"/>
                  <a:ea typeface="Inter"/>
                  <a:cs typeface="Inter"/>
                  <a:sym typeface="Inter"/>
                </a:rPr>
                <a:t>↓</a:t>
              </a:r>
              <a:endParaRPr sz="750" b="0">
                <a:solidFill>
                  <a:srgbClr val="7C3AED"/>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50" b="0">
                  <a:solidFill>
                    <a:srgbClr val="334155"/>
                  </a:solidFill>
                  <a:latin typeface="Inter"/>
                  <a:ea typeface="Inter"/>
                  <a:cs typeface="Inter"/>
                  <a:sym typeface="Inter"/>
                </a:rPr>
                <a:t>Compliance Reporting</a:t>
              </a:r>
              <a:endParaRPr sz="850" b="0">
                <a:solidFill>
                  <a:srgbClr val="7C3AED"/>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A855F7"/>
                  </a:solidFill>
                  <a:latin typeface="Inter"/>
                  <a:ea typeface="Inter"/>
                  <a:cs typeface="Inter"/>
                  <a:sym typeface="Inter"/>
                </a:rPr>
                <a:t>↓</a:t>
              </a:r>
              <a:endParaRPr sz="750" b="0">
                <a:solidFill>
                  <a:srgbClr val="7C3AED"/>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950" b="1">
                  <a:solidFill>
                    <a:srgbClr val="7C3AED"/>
                  </a:solidFill>
                  <a:latin typeface="Inter"/>
                  <a:ea typeface="Inter"/>
                  <a:cs typeface="Inter"/>
                  <a:sym typeface="Inter"/>
                </a:rPr>
                <a:t>MCP Tools</a:t>
              </a:r>
              <a:endParaRPr sz="950" b="0">
                <a:solidFill>
                  <a:srgbClr val="7C3AED"/>
                </a:solidFill>
                <a:latin typeface="Poppins ExtraBold"/>
                <a:ea typeface="Poppins ExtraBold"/>
                <a:cs typeface="Poppins ExtraBold"/>
                <a:sym typeface="Poppins ExtraBold"/>
              </a:endParaRPr>
            </a:p>
            <a:p>
              <a:pPr marL="0" lvl="0" indent="0" algn="l" rtl="0">
                <a:spcBef>
                  <a:spcPts val="1200"/>
                </a:spcBef>
                <a:spcAft>
                  <a:spcPts val="0"/>
                </a:spcAft>
                <a:buNone/>
              </a:pPr>
              <a:r>
                <a:rPr lang="en-US" sz="850" b="1">
                  <a:solidFill>
                    <a:srgbClr val="475569"/>
                  </a:solidFill>
                  <a:latin typeface="Poppins"/>
                  <a:ea typeface="Poppins"/>
                  <a:cs typeface="Poppins"/>
                  <a:sym typeface="Poppins"/>
                </a:rPr>
                <a:t>PURPOSE</a:t>
              </a:r>
              <a:endParaRPr sz="850" b="0">
                <a:solidFill>
                  <a:srgbClr val="7C3AED"/>
                </a:solidFill>
                <a:latin typeface="Poppins ExtraBold"/>
                <a:ea typeface="Poppins ExtraBold"/>
                <a:cs typeface="Poppins ExtraBold"/>
                <a:sym typeface="Poppins ExtraBold"/>
              </a:endParaRPr>
            </a:p>
            <a:p>
              <a:pPr marL="0" lvl="0" indent="0" algn="l" rtl="0">
                <a:spcBef>
                  <a:spcPts val="150"/>
                </a:spcBef>
                <a:spcAft>
                  <a:spcPts val="150"/>
                </a:spcAft>
                <a:buNone/>
              </a:pPr>
              <a:r>
                <a:rPr lang="en-US" sz="850" b="0" i="1">
                  <a:solidFill>
                    <a:srgbClr val="0F766E"/>
                  </a:solidFill>
                  <a:latin typeface="Inter Medium"/>
                  <a:ea typeface="Inter Medium"/>
                  <a:cs typeface="Inter Medium"/>
                  <a:sym typeface="Inter Medium"/>
                </a:rPr>
                <a:t>Automate multi-step compliance reasoning and enterprise knowledge retrieval.</a:t>
              </a:r>
              <a:endParaRPr sz="850" b="0">
                <a:solidFill>
                  <a:srgbClr val="7C3AED"/>
                </a:solidFill>
                <a:latin typeface="Poppins ExtraBold"/>
                <a:ea typeface="Poppins ExtraBold"/>
                <a:cs typeface="Poppins ExtraBold"/>
                <a:sym typeface="Poppins ExtraBold"/>
              </a:endParaRPr>
            </a:p>
          </p:txBody>
        </p:sp>
      </p:grpSp>
      <p:pic>
        <p:nvPicPr>
          <p:cNvPr id="287" name="Google Shape;287;p21"/>
          <p:cNvPicPr preferRelativeResize="0"/>
          <p:nvPr/>
        </p:nvPicPr>
        <p:blipFill rotWithShape="1">
          <a:blip r:embed="rId3">
            <a:alphaModFix/>
          </a:blip>
          <a:srcRect l="387" r="387"/>
          <a:stretch/>
        </p:blipFill>
        <p:spPr>
          <a:xfrm>
            <a:off x="7191375" y="3586163"/>
            <a:ext cx="152400" cy="19200"/>
          </a:xfrm>
          <a:prstGeom prst="rect">
            <a:avLst/>
          </a:prstGeom>
          <a:noFill/>
          <a:ln>
            <a:noFill/>
          </a:ln>
        </p:spPr>
      </p:pic>
      <p:pic>
        <p:nvPicPr>
          <p:cNvPr id="288" name="Google Shape;288;p21"/>
          <p:cNvPicPr preferRelativeResize="0"/>
          <p:nvPr/>
        </p:nvPicPr>
        <p:blipFill rotWithShape="1">
          <a:blip r:embed="rId4">
            <a:alphaModFix/>
          </a:blip>
          <a:srcRect/>
          <a:stretch/>
        </p:blipFill>
        <p:spPr>
          <a:xfrm>
            <a:off x="7343775" y="3557588"/>
            <a:ext cx="76200" cy="76200"/>
          </a:xfrm>
          <a:prstGeom prst="rect">
            <a:avLst/>
          </a:prstGeom>
          <a:noFill/>
          <a:ln>
            <a:noFill/>
          </a:ln>
        </p:spPr>
      </p:pic>
      <p:grpSp>
        <p:nvGrpSpPr>
          <p:cNvPr id="5" name="Google Shape;289;p21"/>
          <p:cNvGrpSpPr/>
          <p:nvPr/>
        </p:nvGrpSpPr>
        <p:grpSpPr>
          <a:xfrm>
            <a:off x="7419975" y="1571625"/>
            <a:ext cx="2019300" cy="3762300"/>
            <a:chOff x="7419975" y="1571625"/>
            <a:chExt cx="2019300" cy="3762300"/>
          </a:xfrm>
        </p:grpSpPr>
        <p:sp>
          <p:nvSpPr>
            <p:cNvPr id="290" name="Google Shape;290;p21"/>
            <p:cNvSpPr/>
            <p:nvPr/>
          </p:nvSpPr>
          <p:spPr>
            <a:xfrm>
              <a:off x="7419975" y="1571625"/>
              <a:ext cx="2019300" cy="3762300"/>
            </a:xfrm>
            <a:prstGeom prst="roundRect">
              <a:avLst>
                <a:gd name="adj" fmla="val 3773"/>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1" name="Google Shape;291;p21"/>
            <p:cNvSpPr/>
            <p:nvPr/>
          </p:nvSpPr>
          <p:spPr>
            <a:xfrm>
              <a:off x="7419975" y="1571625"/>
              <a:ext cx="2019300" cy="57300"/>
            </a:xfrm>
            <a:prstGeom prst="roundRect">
              <a:avLst>
                <a:gd name="adj" fmla="val 49999"/>
              </a:avLst>
            </a:prstGeom>
            <a:solidFill>
              <a:srgbClr val="EA580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2" name="Google Shape;292;p21"/>
            <p:cNvSpPr txBox="1"/>
            <p:nvPr/>
          </p:nvSpPr>
          <p:spPr>
            <a:xfrm>
              <a:off x="7534275" y="1724025"/>
              <a:ext cx="1790700" cy="3476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950" b="0">
                  <a:solidFill>
                    <a:srgbClr val="EA580C"/>
                  </a:solidFill>
                  <a:latin typeface="Poppins ExtraBold"/>
                  <a:ea typeface="Poppins ExtraBold"/>
                  <a:cs typeface="Poppins ExtraBold"/>
                  <a:sym typeface="Poppins ExtraBold"/>
                </a:rPr>
                <a:t>PHASE 4</a:t>
              </a:r>
              <a:endParaRPr sz="950" b="0">
                <a:solidFill>
                  <a:srgbClr val="EA580C"/>
                </a:solidFill>
                <a:latin typeface="Poppins ExtraBold"/>
                <a:ea typeface="Poppins ExtraBold"/>
                <a:cs typeface="Poppins ExtraBold"/>
                <a:sym typeface="Poppins ExtraBold"/>
              </a:endParaRPr>
            </a:p>
            <a:p>
              <a:pPr marL="0" lvl="0" indent="0" algn="l" rtl="0">
                <a:spcBef>
                  <a:spcPts val="150"/>
                </a:spcBef>
                <a:spcAft>
                  <a:spcPts val="0"/>
                </a:spcAft>
                <a:buNone/>
              </a:pPr>
              <a:r>
                <a:rPr lang="en-US" sz="1150" b="1">
                  <a:solidFill>
                    <a:srgbClr val="0F172A"/>
                  </a:solidFill>
                  <a:latin typeface="Poppins"/>
                  <a:ea typeface="Poppins"/>
                  <a:cs typeface="Poppins"/>
                  <a:sym typeface="Poppins"/>
                </a:rPr>
                <a:t>Explainability &amp; Safety</a:t>
              </a:r>
              <a:endParaRPr sz="950" b="0">
                <a:solidFill>
                  <a:srgbClr val="EA580C"/>
                </a:solidFill>
                <a:latin typeface="Poppins ExtraBold"/>
                <a:ea typeface="Poppins ExtraBold"/>
                <a:cs typeface="Poppins ExtraBold"/>
                <a:sym typeface="Poppins ExtraBold"/>
              </a:endParaRPr>
            </a:p>
            <a:p>
              <a:pPr marL="0" lvl="0" indent="0" algn="ctr" rtl="0">
                <a:spcBef>
                  <a:spcPts val="900"/>
                </a:spcBef>
                <a:spcAft>
                  <a:spcPts val="0"/>
                </a:spcAft>
                <a:buNone/>
              </a:pPr>
              <a:r>
                <a:rPr lang="en-US" sz="950" b="1">
                  <a:solidFill>
                    <a:srgbClr val="D97706"/>
                  </a:solidFill>
                  <a:latin typeface="Inter"/>
                  <a:ea typeface="Inter"/>
                  <a:cs typeface="Inter"/>
                  <a:sym typeface="Inter"/>
                </a:rPr>
                <a:t>SHAP + Guardrails AI</a:t>
              </a:r>
              <a:endParaRPr sz="950" b="0">
                <a:solidFill>
                  <a:srgbClr val="EA580C"/>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F97316"/>
                  </a:solidFill>
                  <a:latin typeface="Inter"/>
                  <a:ea typeface="Inter"/>
                  <a:cs typeface="Inter"/>
                  <a:sym typeface="Inter"/>
                </a:rPr>
                <a:t>↓</a:t>
              </a:r>
              <a:endParaRPr sz="750" b="0">
                <a:solidFill>
                  <a:srgbClr val="EA580C"/>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50" b="0">
                  <a:solidFill>
                    <a:srgbClr val="334155"/>
                  </a:solidFill>
                  <a:latin typeface="Inter"/>
                  <a:ea typeface="Inter"/>
                  <a:cs typeface="Inter"/>
                  <a:sym typeface="Inter"/>
                </a:rPr>
                <a:t>Validation</a:t>
              </a:r>
              <a:endParaRPr sz="850" b="0">
                <a:solidFill>
                  <a:srgbClr val="EA580C"/>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F97316"/>
                  </a:solidFill>
                  <a:latin typeface="Inter"/>
                  <a:ea typeface="Inter"/>
                  <a:cs typeface="Inter"/>
                  <a:sym typeface="Inter"/>
                </a:rPr>
                <a:t>↓</a:t>
              </a:r>
              <a:endParaRPr sz="750" b="0">
                <a:solidFill>
                  <a:srgbClr val="EA580C"/>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50" b="0">
                  <a:solidFill>
                    <a:srgbClr val="334155"/>
                  </a:solidFill>
                  <a:latin typeface="Inter"/>
                  <a:ea typeface="Inter"/>
                  <a:cs typeface="Inter"/>
                  <a:sym typeface="Inter"/>
                </a:rPr>
                <a:t>Hallucination Prevention</a:t>
              </a:r>
              <a:endParaRPr sz="850" b="0">
                <a:solidFill>
                  <a:srgbClr val="EA580C"/>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F97316"/>
                  </a:solidFill>
                  <a:latin typeface="Inter"/>
                  <a:ea typeface="Inter"/>
                  <a:cs typeface="Inter"/>
                  <a:sym typeface="Inter"/>
                </a:rPr>
                <a:t>↓</a:t>
              </a:r>
              <a:endParaRPr sz="750" b="0">
                <a:solidFill>
                  <a:srgbClr val="EA580C"/>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950" b="1">
                  <a:solidFill>
                    <a:srgbClr val="D97706"/>
                  </a:solidFill>
                  <a:latin typeface="Inter"/>
                  <a:ea typeface="Inter"/>
                  <a:cs typeface="Inter"/>
                  <a:sym typeface="Inter"/>
                </a:rPr>
                <a:t>Audit Trail</a:t>
              </a:r>
              <a:endParaRPr sz="950" b="0">
                <a:solidFill>
                  <a:srgbClr val="EA580C"/>
                </a:solidFill>
                <a:latin typeface="Poppins ExtraBold"/>
                <a:ea typeface="Poppins ExtraBold"/>
                <a:cs typeface="Poppins ExtraBold"/>
                <a:sym typeface="Poppins ExtraBold"/>
              </a:endParaRPr>
            </a:p>
            <a:p>
              <a:pPr marL="0" lvl="0" indent="0" algn="l" rtl="0">
                <a:spcBef>
                  <a:spcPts val="1200"/>
                </a:spcBef>
                <a:spcAft>
                  <a:spcPts val="0"/>
                </a:spcAft>
                <a:buNone/>
              </a:pPr>
              <a:r>
                <a:rPr lang="en-US" sz="850" b="1">
                  <a:solidFill>
                    <a:srgbClr val="475569"/>
                  </a:solidFill>
                  <a:latin typeface="Poppins"/>
                  <a:ea typeface="Poppins"/>
                  <a:cs typeface="Poppins"/>
                  <a:sym typeface="Poppins"/>
                </a:rPr>
                <a:t>PURPOSE</a:t>
              </a:r>
              <a:endParaRPr sz="850" b="0">
                <a:solidFill>
                  <a:srgbClr val="EA580C"/>
                </a:solidFill>
                <a:latin typeface="Poppins ExtraBold"/>
                <a:ea typeface="Poppins ExtraBold"/>
                <a:cs typeface="Poppins ExtraBold"/>
                <a:sym typeface="Poppins ExtraBold"/>
              </a:endParaRPr>
            </a:p>
            <a:p>
              <a:pPr marL="0" lvl="0" indent="0" algn="l" rtl="0">
                <a:spcBef>
                  <a:spcPts val="150"/>
                </a:spcBef>
                <a:spcAft>
                  <a:spcPts val="150"/>
                </a:spcAft>
                <a:buNone/>
              </a:pPr>
              <a:r>
                <a:rPr lang="en-US" sz="850" b="0" i="1">
                  <a:solidFill>
                    <a:srgbClr val="0F766E"/>
                  </a:solidFill>
                  <a:latin typeface="Inter Medium"/>
                  <a:ea typeface="Inter Medium"/>
                  <a:cs typeface="Inter Medium"/>
                  <a:sym typeface="Inter Medium"/>
                </a:rPr>
                <a:t>Ensure every AI decision is explainable, trustworthy, and policy compliant.</a:t>
              </a:r>
              <a:endParaRPr sz="850" b="0">
                <a:solidFill>
                  <a:srgbClr val="EA580C"/>
                </a:solidFill>
                <a:latin typeface="Poppins ExtraBold"/>
                <a:ea typeface="Poppins ExtraBold"/>
                <a:cs typeface="Poppins ExtraBold"/>
                <a:sym typeface="Poppins ExtraBold"/>
              </a:endParaRPr>
            </a:p>
          </p:txBody>
        </p:sp>
      </p:grpSp>
      <p:pic>
        <p:nvPicPr>
          <p:cNvPr id="293" name="Google Shape;293;p21"/>
          <p:cNvPicPr preferRelativeResize="0"/>
          <p:nvPr/>
        </p:nvPicPr>
        <p:blipFill rotWithShape="1">
          <a:blip r:embed="rId3">
            <a:alphaModFix/>
          </a:blip>
          <a:srcRect l="387" r="387"/>
          <a:stretch/>
        </p:blipFill>
        <p:spPr>
          <a:xfrm>
            <a:off x="9439275" y="3586163"/>
            <a:ext cx="152400" cy="19200"/>
          </a:xfrm>
          <a:prstGeom prst="rect">
            <a:avLst/>
          </a:prstGeom>
          <a:noFill/>
          <a:ln>
            <a:noFill/>
          </a:ln>
        </p:spPr>
      </p:pic>
      <p:pic>
        <p:nvPicPr>
          <p:cNvPr id="294" name="Google Shape;294;p21"/>
          <p:cNvPicPr preferRelativeResize="0"/>
          <p:nvPr/>
        </p:nvPicPr>
        <p:blipFill rotWithShape="1">
          <a:blip r:embed="rId4">
            <a:alphaModFix/>
          </a:blip>
          <a:srcRect/>
          <a:stretch/>
        </p:blipFill>
        <p:spPr>
          <a:xfrm>
            <a:off x="9591675" y="3557588"/>
            <a:ext cx="76200" cy="76200"/>
          </a:xfrm>
          <a:prstGeom prst="rect">
            <a:avLst/>
          </a:prstGeom>
          <a:noFill/>
          <a:ln>
            <a:noFill/>
          </a:ln>
        </p:spPr>
      </p:pic>
      <p:grpSp>
        <p:nvGrpSpPr>
          <p:cNvPr id="6" name="Google Shape;295;p21"/>
          <p:cNvGrpSpPr/>
          <p:nvPr/>
        </p:nvGrpSpPr>
        <p:grpSpPr>
          <a:xfrm>
            <a:off x="9667875" y="1571625"/>
            <a:ext cx="2019300" cy="3762300"/>
            <a:chOff x="9667875" y="1571625"/>
            <a:chExt cx="2019300" cy="3762300"/>
          </a:xfrm>
        </p:grpSpPr>
        <p:sp>
          <p:nvSpPr>
            <p:cNvPr id="296" name="Google Shape;296;p21"/>
            <p:cNvSpPr/>
            <p:nvPr/>
          </p:nvSpPr>
          <p:spPr>
            <a:xfrm>
              <a:off x="9667875" y="1571625"/>
              <a:ext cx="2019300" cy="3762300"/>
            </a:xfrm>
            <a:prstGeom prst="roundRect">
              <a:avLst>
                <a:gd name="adj" fmla="val 3773"/>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7" name="Google Shape;297;p21"/>
            <p:cNvSpPr/>
            <p:nvPr/>
          </p:nvSpPr>
          <p:spPr>
            <a:xfrm>
              <a:off x="9667875" y="1571625"/>
              <a:ext cx="2019300" cy="57300"/>
            </a:xfrm>
            <a:prstGeom prst="roundRect">
              <a:avLst>
                <a:gd name="adj" fmla="val 49999"/>
              </a:avLst>
            </a:prstGeom>
            <a:solidFill>
              <a:srgbClr val="E11D4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8" name="Google Shape;298;p21"/>
            <p:cNvSpPr txBox="1"/>
            <p:nvPr/>
          </p:nvSpPr>
          <p:spPr>
            <a:xfrm>
              <a:off x="9782175" y="1724025"/>
              <a:ext cx="1790700" cy="3476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950" b="0">
                  <a:solidFill>
                    <a:srgbClr val="E11D48"/>
                  </a:solidFill>
                  <a:latin typeface="Poppins ExtraBold"/>
                  <a:ea typeface="Poppins ExtraBold"/>
                  <a:cs typeface="Poppins ExtraBold"/>
                  <a:sym typeface="Poppins ExtraBold"/>
                </a:rPr>
                <a:t>PHASE 5</a:t>
              </a:r>
              <a:endParaRPr sz="950" b="0">
                <a:solidFill>
                  <a:srgbClr val="E11D48"/>
                </a:solidFill>
                <a:latin typeface="Poppins ExtraBold"/>
                <a:ea typeface="Poppins ExtraBold"/>
                <a:cs typeface="Poppins ExtraBold"/>
                <a:sym typeface="Poppins ExtraBold"/>
              </a:endParaRPr>
            </a:p>
            <a:p>
              <a:pPr marL="0" lvl="0" indent="0" algn="l" rtl="0">
                <a:spcBef>
                  <a:spcPts val="150"/>
                </a:spcBef>
                <a:spcAft>
                  <a:spcPts val="0"/>
                </a:spcAft>
                <a:buNone/>
              </a:pPr>
              <a:r>
                <a:rPr lang="en-US" sz="1150" b="1">
                  <a:solidFill>
                    <a:srgbClr val="0F172A"/>
                  </a:solidFill>
                  <a:latin typeface="Poppins"/>
                  <a:ea typeface="Poppins"/>
                  <a:cs typeface="Poppins"/>
                  <a:sym typeface="Poppins"/>
                </a:rPr>
                <a:t>System Evaluation</a:t>
              </a:r>
              <a:endParaRPr sz="950" b="0">
                <a:solidFill>
                  <a:srgbClr val="E11D48"/>
                </a:solidFill>
                <a:latin typeface="Poppins ExtraBold"/>
                <a:ea typeface="Poppins ExtraBold"/>
                <a:cs typeface="Poppins ExtraBold"/>
                <a:sym typeface="Poppins ExtraBold"/>
              </a:endParaRPr>
            </a:p>
            <a:p>
              <a:pPr marL="0" lvl="0" indent="0" algn="ctr" rtl="0">
                <a:spcBef>
                  <a:spcPts val="900"/>
                </a:spcBef>
                <a:spcAft>
                  <a:spcPts val="0"/>
                </a:spcAft>
                <a:buNone/>
              </a:pPr>
              <a:r>
                <a:rPr lang="en-US" sz="800" b="1">
                  <a:solidFill>
                    <a:srgbClr val="E11D48"/>
                  </a:solidFill>
                  <a:latin typeface="Inter"/>
                  <a:ea typeface="Inter"/>
                  <a:cs typeface="Inter"/>
                  <a:sym typeface="Inter"/>
                </a:rPr>
                <a:t>Metrics Box</a:t>
              </a:r>
              <a:endParaRPr sz="800" b="0">
                <a:solidFill>
                  <a:srgbClr val="E11D4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00" b="0">
                  <a:solidFill>
                    <a:srgbClr val="334155"/>
                  </a:solidFill>
                  <a:latin typeface="Inter"/>
                  <a:ea typeface="Inter"/>
                  <a:cs typeface="Inter"/>
                  <a:sym typeface="Inter"/>
                </a:rPr>
                <a:t>Precision • Recall • F1</a:t>
              </a:r>
              <a:endParaRPr sz="800" b="0">
                <a:solidFill>
                  <a:srgbClr val="E11D4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F43F5E"/>
                  </a:solidFill>
                  <a:latin typeface="Inter"/>
                  <a:ea typeface="Inter"/>
                  <a:cs typeface="Inter"/>
                  <a:sym typeface="Inter"/>
                </a:rPr>
                <a:t>↓</a:t>
              </a:r>
              <a:endParaRPr sz="750" b="0">
                <a:solidFill>
                  <a:srgbClr val="E11D48"/>
                </a:solidFill>
                <a:latin typeface="Poppins ExtraBold"/>
                <a:ea typeface="Poppins ExtraBold"/>
                <a:cs typeface="Poppins ExtraBold"/>
                <a:sym typeface="Poppins ExtraBold"/>
              </a:endParaRPr>
            </a:p>
            <a:p>
              <a:pPr marL="0" lvl="0" indent="0" algn="ctr" rtl="0">
                <a:spcBef>
                  <a:spcPts val="75"/>
                </a:spcBef>
                <a:spcAft>
                  <a:spcPts val="0"/>
                </a:spcAft>
                <a:buNone/>
              </a:pPr>
              <a:r>
                <a:rPr lang="en-US" sz="850" b="1">
                  <a:solidFill>
                    <a:srgbClr val="1E293B"/>
                  </a:solidFill>
                  <a:latin typeface="Inter"/>
                  <a:ea typeface="Inter"/>
                  <a:cs typeface="Inter"/>
                  <a:sym typeface="Inter"/>
                </a:rPr>
                <a:t>RAGAS Framework</a:t>
              </a:r>
              <a:endParaRPr sz="850" b="0">
                <a:solidFill>
                  <a:srgbClr val="E11D4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750" b="0">
                  <a:solidFill>
                    <a:srgbClr val="F43F5E"/>
                  </a:solidFill>
                  <a:latin typeface="Inter"/>
                  <a:ea typeface="Inter"/>
                  <a:cs typeface="Inter"/>
                  <a:sym typeface="Inter"/>
                </a:rPr>
                <a:t>↓</a:t>
              </a:r>
              <a:endParaRPr sz="750" b="0">
                <a:solidFill>
                  <a:srgbClr val="E11D48"/>
                </a:solidFill>
                <a:latin typeface="Poppins ExtraBold"/>
                <a:ea typeface="Poppins ExtraBold"/>
                <a:cs typeface="Poppins ExtraBold"/>
                <a:sym typeface="Poppins ExtraBold"/>
              </a:endParaRPr>
            </a:p>
            <a:p>
              <a:pPr marL="0" lvl="0" indent="0" algn="ctr" rtl="0">
                <a:spcBef>
                  <a:spcPts val="75"/>
                </a:spcBef>
                <a:spcAft>
                  <a:spcPts val="0"/>
                </a:spcAft>
                <a:buNone/>
              </a:pPr>
              <a:r>
                <a:rPr lang="en-US" sz="850" b="0">
                  <a:solidFill>
                    <a:srgbClr val="334155"/>
                  </a:solidFill>
                  <a:latin typeface="Inter"/>
                  <a:ea typeface="Inter"/>
                  <a:cs typeface="Inter"/>
                  <a:sym typeface="Inter"/>
                </a:rPr>
                <a:t>Hallucination Rate</a:t>
              </a:r>
              <a:endParaRPr sz="850" b="0">
                <a:solidFill>
                  <a:srgbClr val="E11D48"/>
                </a:solidFill>
                <a:latin typeface="Poppins ExtraBold"/>
                <a:ea typeface="Poppins ExtraBold"/>
                <a:cs typeface="Poppins ExtraBold"/>
                <a:sym typeface="Poppins ExtraBold"/>
              </a:endParaRPr>
            </a:p>
            <a:p>
              <a:pPr marL="0" lvl="0" indent="0" algn="ctr" rtl="0">
                <a:spcBef>
                  <a:spcPts val="150"/>
                </a:spcBef>
                <a:spcAft>
                  <a:spcPts val="0"/>
                </a:spcAft>
                <a:buNone/>
              </a:pPr>
              <a:r>
                <a:rPr lang="en-US" sz="850" b="0">
                  <a:solidFill>
                    <a:srgbClr val="334155"/>
                  </a:solidFill>
                  <a:latin typeface="Inter"/>
                  <a:ea typeface="Inter"/>
                  <a:cs typeface="Inter"/>
                  <a:sym typeface="Inter"/>
                </a:rPr>
                <a:t>Latency • Completion</a:t>
              </a:r>
              <a:endParaRPr sz="850" b="0">
                <a:solidFill>
                  <a:srgbClr val="E11D48"/>
                </a:solidFill>
                <a:latin typeface="Poppins ExtraBold"/>
                <a:ea typeface="Poppins ExtraBold"/>
                <a:cs typeface="Poppins ExtraBold"/>
                <a:sym typeface="Poppins ExtraBold"/>
              </a:endParaRPr>
            </a:p>
            <a:p>
              <a:pPr marL="0" lvl="0" indent="0" algn="l" rtl="0">
                <a:spcBef>
                  <a:spcPts val="1200"/>
                </a:spcBef>
                <a:spcAft>
                  <a:spcPts val="0"/>
                </a:spcAft>
                <a:buNone/>
              </a:pPr>
              <a:r>
                <a:rPr lang="en-US" sz="850" b="1">
                  <a:solidFill>
                    <a:srgbClr val="475569"/>
                  </a:solidFill>
                  <a:latin typeface="Poppins"/>
                  <a:ea typeface="Poppins"/>
                  <a:cs typeface="Poppins"/>
                  <a:sym typeface="Poppins"/>
                </a:rPr>
                <a:t>PURPOSE</a:t>
              </a:r>
              <a:endParaRPr sz="850" b="0">
                <a:solidFill>
                  <a:srgbClr val="E11D48"/>
                </a:solidFill>
                <a:latin typeface="Poppins ExtraBold"/>
                <a:ea typeface="Poppins ExtraBold"/>
                <a:cs typeface="Poppins ExtraBold"/>
                <a:sym typeface="Poppins ExtraBold"/>
              </a:endParaRPr>
            </a:p>
            <a:p>
              <a:pPr marL="0" lvl="0" indent="0" algn="l" rtl="0">
                <a:spcBef>
                  <a:spcPts val="150"/>
                </a:spcBef>
                <a:spcAft>
                  <a:spcPts val="150"/>
                </a:spcAft>
                <a:buNone/>
              </a:pPr>
              <a:r>
                <a:rPr lang="en-US" sz="850" b="0" i="1">
                  <a:solidFill>
                    <a:srgbClr val="0F766E"/>
                  </a:solidFill>
                  <a:latin typeface="Inter Medium"/>
                  <a:ea typeface="Inter Medium"/>
                  <a:cs typeface="Inter Medium"/>
                  <a:sym typeface="Inter Medium"/>
                </a:rPr>
                <a:t>Quantitatively validate framework accuracy, efficiency, and safety boundaries.</a:t>
              </a:r>
              <a:endParaRPr sz="850" b="0">
                <a:solidFill>
                  <a:srgbClr val="E11D48"/>
                </a:solidFill>
                <a:latin typeface="Poppins ExtraBold"/>
                <a:ea typeface="Poppins ExtraBold"/>
                <a:cs typeface="Poppins ExtraBold"/>
                <a:sym typeface="Poppins ExtraBold"/>
              </a:endParaRPr>
            </a:p>
          </p:txBody>
        </p:sp>
      </p:grpSp>
      <p:grpSp>
        <p:nvGrpSpPr>
          <p:cNvPr id="7" name="Google Shape;299;p21"/>
          <p:cNvGrpSpPr/>
          <p:nvPr/>
        </p:nvGrpSpPr>
        <p:grpSpPr>
          <a:xfrm>
            <a:off x="676275" y="5524500"/>
            <a:ext cx="11010900" cy="533400"/>
            <a:chOff x="676275" y="5524500"/>
            <a:chExt cx="11010900" cy="533400"/>
          </a:xfrm>
        </p:grpSpPr>
        <p:sp>
          <p:nvSpPr>
            <p:cNvPr id="300" name="Google Shape;300;p21"/>
            <p:cNvSpPr/>
            <p:nvPr/>
          </p:nvSpPr>
          <p:spPr>
            <a:xfrm>
              <a:off x="676275" y="5524500"/>
              <a:ext cx="11010900" cy="533400"/>
            </a:xfrm>
            <a:prstGeom prst="roundRect">
              <a:avLst>
                <a:gd name="adj" fmla="val 14285"/>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1" name="Google Shape;301;p21"/>
            <p:cNvSpPr txBox="1"/>
            <p:nvPr/>
          </p:nvSpPr>
          <p:spPr>
            <a:xfrm>
              <a:off x="866775" y="5524500"/>
              <a:ext cx="10629900" cy="533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a:solidFill>
                    <a:srgbClr val="FFFFFF"/>
                  </a:solidFill>
                  <a:latin typeface="Poppins"/>
                  <a:ea typeface="Poppins"/>
                  <a:cs typeface="Poppins"/>
                  <a:sym typeface="Poppins"/>
                </a:rPr>
                <a:t>METHODOLOGY FLOW:</a:t>
              </a:r>
              <a:r>
                <a:rPr lang="en-US" sz="1050" b="0">
                  <a:solidFill>
                    <a:srgbClr val="CCFBF1"/>
                  </a:solidFill>
                  <a:latin typeface="Poppins SemiBold"/>
                  <a:ea typeface="Poppins SemiBold"/>
                  <a:cs typeface="Poppins SemiBold"/>
                  <a:sym typeface="Poppins SemiBold"/>
                </a:rPr>
                <a:t>Data  </a:t>
              </a:r>
              <a:r>
                <a:rPr lang="en-US" sz="1050" b="0">
                  <a:solidFill>
                    <a:srgbClr val="2DD4BF"/>
                  </a:solidFill>
                  <a:latin typeface="Poppins SemiBold"/>
                  <a:ea typeface="Poppins SemiBold"/>
                  <a:cs typeface="Poppins SemiBold"/>
                  <a:sym typeface="Poppins SemiBold"/>
                </a:rPr>
                <a:t>➔</a:t>
              </a:r>
              <a:r>
                <a:rPr lang="en-US" sz="1050" b="0">
                  <a:solidFill>
                    <a:srgbClr val="CCFBF1"/>
                  </a:solidFill>
                  <a:latin typeface="Poppins SemiBold"/>
                  <a:ea typeface="Poppins SemiBold"/>
                  <a:cs typeface="Poppins SemiBold"/>
                  <a:sym typeface="Poppins SemiBold"/>
                </a:rPr>
                <a:t>  Understanding  </a:t>
              </a:r>
              <a:r>
                <a:rPr lang="en-US" sz="1050" b="0">
                  <a:solidFill>
                    <a:srgbClr val="2DD4BF"/>
                  </a:solidFill>
                  <a:latin typeface="Poppins SemiBold"/>
                  <a:ea typeface="Poppins SemiBold"/>
                  <a:cs typeface="Poppins SemiBold"/>
                  <a:sym typeface="Poppins SemiBold"/>
                </a:rPr>
                <a:t>➔</a:t>
              </a:r>
              <a:r>
                <a:rPr lang="en-US" sz="1050" b="0">
                  <a:solidFill>
                    <a:srgbClr val="CCFBF1"/>
                  </a:solidFill>
                  <a:latin typeface="Poppins SemiBold"/>
                  <a:ea typeface="Poppins SemiBold"/>
                  <a:cs typeface="Poppins SemiBold"/>
                  <a:sym typeface="Poppins SemiBold"/>
                </a:rPr>
                <a:t>  Reasoning  </a:t>
              </a:r>
              <a:r>
                <a:rPr lang="en-US" sz="1050" b="0">
                  <a:solidFill>
                    <a:srgbClr val="2DD4BF"/>
                  </a:solidFill>
                  <a:latin typeface="Poppins SemiBold"/>
                  <a:ea typeface="Poppins SemiBold"/>
                  <a:cs typeface="Poppins SemiBold"/>
                  <a:sym typeface="Poppins SemiBold"/>
                </a:rPr>
                <a:t>➔</a:t>
              </a:r>
              <a:r>
                <a:rPr lang="en-US" sz="1050" b="0">
                  <a:solidFill>
                    <a:srgbClr val="CCFBF1"/>
                  </a:solidFill>
                  <a:latin typeface="Poppins SemiBold"/>
                  <a:ea typeface="Poppins SemiBold"/>
                  <a:cs typeface="Poppins SemiBold"/>
                  <a:sym typeface="Poppins SemiBold"/>
                </a:rPr>
                <a:t>  Validation  </a:t>
              </a:r>
              <a:r>
                <a:rPr lang="en-US" sz="1050" b="0">
                  <a:solidFill>
                    <a:srgbClr val="2DD4BF"/>
                  </a:solidFill>
                  <a:latin typeface="Poppins SemiBold"/>
                  <a:ea typeface="Poppins SemiBold"/>
                  <a:cs typeface="Poppins SemiBold"/>
                  <a:sym typeface="Poppins SemiBold"/>
                </a:rPr>
                <a:t>➔</a:t>
              </a:r>
              <a:r>
                <a:rPr lang="en-US" sz="1050" b="0">
                  <a:solidFill>
                    <a:srgbClr val="CCFBF1"/>
                  </a:solidFill>
                  <a:latin typeface="Poppins SemiBold"/>
                  <a:ea typeface="Poppins SemiBold"/>
                  <a:cs typeface="Poppins SemiBold"/>
                  <a:sym typeface="Poppins SemiBold"/>
                </a:rPr>
                <a:t>  Evaluation</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6"/>
        <p:cNvGrpSpPr/>
        <p:nvPr/>
      </p:nvGrpSpPr>
      <p:grpSpPr>
        <a:xfrm>
          <a:off x="0" y="0"/>
          <a:ext cx="0" cy="0"/>
          <a:chOff x="0" y="0"/>
          <a:chExt cx="0" cy="0"/>
        </a:xfrm>
      </p:grpSpPr>
      <p:pic>
        <p:nvPicPr>
          <p:cNvPr id="287" name="Google Shape;287;p19"/>
          <p:cNvPicPr preferRelativeResize="0"/>
          <p:nvPr/>
        </p:nvPicPr>
        <p:blipFill rotWithShape="1">
          <a:blip r:embed="rId4">
            <a:alphaModFix/>
          </a:blip>
          <a:srcRect/>
          <a:stretch/>
        </p:blipFill>
        <p:spPr>
          <a:xfrm>
            <a:off x="0" y="0"/>
            <a:ext cx="12192000" cy="6858000"/>
          </a:xfrm>
          <a:prstGeom prst="roundRect">
            <a:avLst>
              <a:gd name="adj" fmla="val 0"/>
            </a:avLst>
          </a:prstGeom>
          <a:noFill/>
          <a:ln>
            <a:noFill/>
          </a:ln>
        </p:spPr>
      </p:pic>
      <p:grpSp>
        <p:nvGrpSpPr>
          <p:cNvPr id="288" name="Google Shape;288;p19"/>
          <p:cNvGrpSpPr/>
          <p:nvPr/>
        </p:nvGrpSpPr>
        <p:grpSpPr>
          <a:xfrm>
            <a:off x="590550" y="495300"/>
            <a:ext cx="11010900" cy="1000125"/>
            <a:chOff x="590550" y="495300"/>
            <a:chExt cx="11010900" cy="1000125"/>
          </a:xfrm>
        </p:grpSpPr>
        <p:sp>
          <p:nvSpPr>
            <p:cNvPr id="289" name="Google Shape;289;p19"/>
            <p:cNvSpPr txBox="1"/>
            <p:nvPr/>
          </p:nvSpPr>
          <p:spPr>
            <a:xfrm>
              <a:off x="590550" y="495300"/>
              <a:ext cx="110109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000" b="1" dirty="0" smtClean="0">
                  <a:solidFill>
                    <a:srgbClr val="0F172A"/>
                  </a:solidFill>
                  <a:latin typeface="Urbanist"/>
                  <a:ea typeface="Urbanist"/>
                  <a:cs typeface="Urbanist"/>
                  <a:sym typeface="Urbanist"/>
                </a:rPr>
                <a:t> Technology </a:t>
              </a:r>
              <a:r>
                <a:rPr lang="en-US" sz="3000" b="1" dirty="0">
                  <a:solidFill>
                    <a:srgbClr val="0F172A"/>
                  </a:solidFill>
                  <a:latin typeface="Urbanist"/>
                  <a:ea typeface="Urbanist"/>
                  <a:cs typeface="Urbanist"/>
                  <a:sym typeface="Urbanist"/>
                </a:rPr>
                <a:t>Capabilities &amp; Synthesis</a:t>
              </a:r>
              <a:endParaRPr sz="3000" b="1" dirty="0">
                <a:solidFill>
                  <a:srgbClr val="0F172A"/>
                </a:solidFill>
                <a:latin typeface="Urbanist"/>
                <a:ea typeface="Urbanist"/>
                <a:cs typeface="Urbanist"/>
                <a:sym typeface="Urbanist"/>
              </a:endParaRPr>
            </a:p>
          </p:txBody>
        </p:sp>
        <p:sp>
          <p:nvSpPr>
            <p:cNvPr id="290" name="Google Shape;290;p19"/>
            <p:cNvSpPr/>
            <p:nvPr/>
          </p:nvSpPr>
          <p:spPr>
            <a:xfrm>
              <a:off x="590550" y="1095375"/>
              <a:ext cx="11010900" cy="192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1" name="Google Shape;291;p19"/>
            <p:cNvSpPr txBox="1"/>
            <p:nvPr/>
          </p:nvSpPr>
          <p:spPr>
            <a:xfrm>
              <a:off x="590550" y="1190625"/>
              <a:ext cx="11010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500" b="0">
                  <a:solidFill>
                    <a:srgbClr val="334155"/>
                  </a:solidFill>
                  <a:latin typeface="Urbanist"/>
                  <a:ea typeface="Urbanist"/>
                  <a:cs typeface="Urbanist"/>
                  <a:sym typeface="Urbanist"/>
                </a:rPr>
                <a:t>Comprehensive mapping of compliance technologies highlights individual strengths and the necessity of unified orchestration.</a:t>
              </a:r>
              <a:endParaRPr sz="1500" b="0">
                <a:solidFill>
                  <a:srgbClr val="334155"/>
                </a:solidFill>
                <a:latin typeface="Urbanist"/>
                <a:ea typeface="Urbanist"/>
                <a:cs typeface="Urbanist"/>
                <a:sym typeface="Urbanist"/>
              </a:endParaRPr>
            </a:p>
          </p:txBody>
        </p:sp>
      </p:grpSp>
      <p:grpSp>
        <p:nvGrpSpPr>
          <p:cNvPr id="292" name="Google Shape;292;p19"/>
          <p:cNvGrpSpPr/>
          <p:nvPr/>
        </p:nvGrpSpPr>
        <p:grpSpPr>
          <a:xfrm>
            <a:off x="590550" y="1714500"/>
            <a:ext cx="11010900" cy="2905200"/>
            <a:chOff x="590550" y="1714500"/>
            <a:chExt cx="11010900" cy="2905200"/>
          </a:xfrm>
        </p:grpSpPr>
        <p:sp>
          <p:nvSpPr>
            <p:cNvPr id="293" name="Google Shape;293;p19"/>
            <p:cNvSpPr/>
            <p:nvPr/>
          </p:nvSpPr>
          <p:spPr>
            <a:xfrm>
              <a:off x="590550" y="1714500"/>
              <a:ext cx="11010900" cy="2905200"/>
            </a:xfrm>
            <a:prstGeom prst="roundRect">
              <a:avLst>
                <a:gd name="adj" fmla="val 3934"/>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4" name="Google Shape;294;p19"/>
            <p:cNvSpPr/>
            <p:nvPr/>
          </p:nvSpPr>
          <p:spPr>
            <a:xfrm>
              <a:off x="590550" y="1714500"/>
              <a:ext cx="11010900" cy="381000"/>
            </a:xfrm>
            <a:prstGeom prst="roundRect">
              <a:avLst>
                <a:gd name="adj" fmla="val 30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5" name="Google Shape;295;p19"/>
            <p:cNvSpPr/>
            <p:nvPr/>
          </p:nvSpPr>
          <p:spPr>
            <a:xfrm>
              <a:off x="590550" y="2000250"/>
              <a:ext cx="11010900" cy="954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96" name="Google Shape;296;p19"/>
            <p:cNvGrpSpPr/>
            <p:nvPr/>
          </p:nvGrpSpPr>
          <p:grpSpPr>
            <a:xfrm>
              <a:off x="781050" y="1809750"/>
              <a:ext cx="10629900" cy="228600"/>
              <a:chOff x="781050" y="1809750"/>
              <a:chExt cx="10629900" cy="228600"/>
            </a:xfrm>
          </p:grpSpPr>
          <p:sp>
            <p:nvSpPr>
              <p:cNvPr id="297" name="Google Shape;297;p19"/>
              <p:cNvSpPr txBox="1"/>
              <p:nvPr/>
            </p:nvSpPr>
            <p:spPr>
              <a:xfrm>
                <a:off x="781050" y="1809750"/>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0F172A"/>
                    </a:solidFill>
                    <a:latin typeface="Urbanist"/>
                    <a:ea typeface="Urbanist"/>
                    <a:cs typeface="Urbanist"/>
                    <a:sym typeface="Urbanist"/>
                  </a:rPr>
                  <a:t>Technology</a:t>
                </a:r>
                <a:endParaRPr sz="1200" b="1">
                  <a:solidFill>
                    <a:srgbClr val="0F172A"/>
                  </a:solidFill>
                  <a:latin typeface="Urbanist"/>
                  <a:ea typeface="Urbanist"/>
                  <a:cs typeface="Urbanist"/>
                  <a:sym typeface="Urbanist"/>
                </a:endParaRPr>
              </a:p>
            </p:txBody>
          </p:sp>
          <p:sp>
            <p:nvSpPr>
              <p:cNvPr id="298" name="Google Shape;298;p19"/>
              <p:cNvSpPr txBox="1"/>
              <p:nvPr/>
            </p:nvSpPr>
            <p:spPr>
              <a:xfrm>
                <a:off x="2114550" y="1809750"/>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0F172A"/>
                    </a:solidFill>
                    <a:latin typeface="Urbanist"/>
                    <a:ea typeface="Urbanist"/>
                    <a:cs typeface="Urbanist"/>
                    <a:sym typeface="Urbanist"/>
                  </a:rPr>
                  <a:t>Primary Purpose</a:t>
                </a:r>
                <a:endParaRPr sz="1200" b="1">
                  <a:solidFill>
                    <a:srgbClr val="0F172A"/>
                  </a:solidFill>
                  <a:latin typeface="Urbanist"/>
                  <a:ea typeface="Urbanist"/>
                  <a:cs typeface="Urbanist"/>
                  <a:sym typeface="Urbanist"/>
                </a:endParaRPr>
              </a:p>
            </p:txBody>
          </p:sp>
          <p:sp>
            <p:nvSpPr>
              <p:cNvPr id="299" name="Google Shape;299;p19"/>
              <p:cNvSpPr txBox="1"/>
              <p:nvPr/>
            </p:nvSpPr>
            <p:spPr>
              <a:xfrm>
                <a:off x="4400550" y="1809750"/>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0F172A"/>
                    </a:solidFill>
                    <a:latin typeface="Urbanist"/>
                    <a:ea typeface="Urbanist"/>
                    <a:cs typeface="Urbanist"/>
                    <a:sym typeface="Urbanist"/>
                  </a:rPr>
                  <a:t>Major Strength</a:t>
                </a:r>
                <a:endParaRPr sz="1200" b="1">
                  <a:solidFill>
                    <a:srgbClr val="0F172A"/>
                  </a:solidFill>
                  <a:latin typeface="Urbanist"/>
                  <a:ea typeface="Urbanist"/>
                  <a:cs typeface="Urbanist"/>
                  <a:sym typeface="Urbanist"/>
                </a:endParaRPr>
              </a:p>
            </p:txBody>
          </p:sp>
          <p:sp>
            <p:nvSpPr>
              <p:cNvPr id="300" name="Google Shape;300;p19"/>
              <p:cNvSpPr txBox="1"/>
              <p:nvPr/>
            </p:nvSpPr>
            <p:spPr>
              <a:xfrm>
                <a:off x="6591300" y="1809750"/>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0F172A"/>
                    </a:solidFill>
                    <a:latin typeface="Urbanist"/>
                    <a:ea typeface="Urbanist"/>
                    <a:cs typeface="Urbanist"/>
                    <a:sym typeface="Urbanist"/>
                  </a:rPr>
                  <a:t>Key Limitation</a:t>
                </a:r>
                <a:endParaRPr sz="1200" b="1">
                  <a:solidFill>
                    <a:srgbClr val="0F172A"/>
                  </a:solidFill>
                  <a:latin typeface="Urbanist"/>
                  <a:ea typeface="Urbanist"/>
                  <a:cs typeface="Urbanist"/>
                  <a:sym typeface="Urbanist"/>
                </a:endParaRPr>
              </a:p>
            </p:txBody>
          </p:sp>
          <p:sp>
            <p:nvSpPr>
              <p:cNvPr id="301" name="Google Shape;301;p19"/>
              <p:cNvSpPr txBox="1"/>
              <p:nvPr/>
            </p:nvSpPr>
            <p:spPr>
              <a:xfrm>
                <a:off x="8972550" y="1809750"/>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0D9488"/>
                    </a:solidFill>
                    <a:latin typeface="Urbanist"/>
                    <a:ea typeface="Urbanist"/>
                    <a:cs typeface="Urbanist"/>
                    <a:sym typeface="Urbanist"/>
                  </a:rPr>
                  <a:t>Proposed Role</a:t>
                </a:r>
                <a:endParaRPr sz="1200" b="1">
                  <a:solidFill>
                    <a:srgbClr val="0D9488"/>
                  </a:solidFill>
                  <a:latin typeface="Urbanist"/>
                  <a:ea typeface="Urbanist"/>
                  <a:cs typeface="Urbanist"/>
                  <a:sym typeface="Urbanist"/>
                </a:endParaRPr>
              </a:p>
            </p:txBody>
          </p:sp>
        </p:grpSp>
        <p:cxnSp>
          <p:nvCxnSpPr>
            <p:cNvPr id="302" name="Google Shape;302;p19"/>
            <p:cNvCxnSpPr/>
            <p:nvPr/>
          </p:nvCxnSpPr>
          <p:spPr>
            <a:xfrm>
              <a:off x="590550" y="2095500"/>
              <a:ext cx="11010900" cy="0"/>
            </a:xfrm>
            <a:prstGeom prst="straightConnector1">
              <a:avLst/>
            </a:prstGeom>
            <a:solidFill>
              <a:srgbClr val="FFFFFF"/>
            </a:solidFill>
            <a:ln w="9525" cap="flat" cmpd="sng">
              <a:solidFill>
                <a:srgbClr val="E2E8F0"/>
              </a:solidFill>
              <a:prstDash val="solid"/>
              <a:round/>
              <a:headEnd type="none" w="sm" len="sm"/>
              <a:tailEnd type="none" w="sm" len="sm"/>
            </a:ln>
          </p:spPr>
        </p:cxnSp>
        <p:grpSp>
          <p:nvGrpSpPr>
            <p:cNvPr id="303" name="Google Shape;303;p19"/>
            <p:cNvGrpSpPr/>
            <p:nvPr/>
          </p:nvGrpSpPr>
          <p:grpSpPr>
            <a:xfrm>
              <a:off x="781050" y="2171700"/>
              <a:ext cx="10629900" cy="228600"/>
              <a:chOff x="781050" y="2171700"/>
              <a:chExt cx="10629900" cy="228600"/>
            </a:xfrm>
          </p:grpSpPr>
          <p:sp>
            <p:nvSpPr>
              <p:cNvPr id="304" name="Google Shape;304;p19"/>
              <p:cNvSpPr txBox="1"/>
              <p:nvPr/>
            </p:nvSpPr>
            <p:spPr>
              <a:xfrm>
                <a:off x="781050" y="2171700"/>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F172A"/>
                    </a:solidFill>
                    <a:latin typeface="Urbanist"/>
                    <a:ea typeface="Urbanist"/>
                    <a:cs typeface="Urbanist"/>
                    <a:sym typeface="Urbanist"/>
                  </a:rPr>
                  <a:t>IDP</a:t>
                </a:r>
                <a:endParaRPr sz="1150" b="1">
                  <a:solidFill>
                    <a:srgbClr val="0F172A"/>
                  </a:solidFill>
                  <a:latin typeface="Urbanist"/>
                  <a:ea typeface="Urbanist"/>
                  <a:cs typeface="Urbanist"/>
                  <a:sym typeface="Urbanist"/>
                </a:endParaRPr>
              </a:p>
            </p:txBody>
          </p:sp>
          <p:sp>
            <p:nvSpPr>
              <p:cNvPr id="305" name="Google Shape;305;p19"/>
              <p:cNvSpPr txBox="1"/>
              <p:nvPr/>
            </p:nvSpPr>
            <p:spPr>
              <a:xfrm>
                <a:off x="2114550" y="2171700"/>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Document digitization</a:t>
                </a:r>
                <a:endParaRPr sz="1150" b="0">
                  <a:solidFill>
                    <a:srgbClr val="475569"/>
                  </a:solidFill>
                  <a:latin typeface="Urbanist"/>
                  <a:ea typeface="Urbanist"/>
                  <a:cs typeface="Urbanist"/>
                  <a:sym typeface="Urbanist"/>
                </a:endParaRPr>
              </a:p>
            </p:txBody>
          </p:sp>
          <p:sp>
            <p:nvSpPr>
              <p:cNvPr id="306" name="Google Shape;306;p19"/>
              <p:cNvSpPr txBox="1"/>
              <p:nvPr/>
            </p:nvSpPr>
            <p:spPr>
              <a:xfrm>
                <a:off x="4400550" y="2171700"/>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Structured extraction</a:t>
                </a:r>
                <a:endParaRPr sz="1150" b="0">
                  <a:solidFill>
                    <a:srgbClr val="475569"/>
                  </a:solidFill>
                  <a:latin typeface="Urbanist"/>
                  <a:ea typeface="Urbanist"/>
                  <a:cs typeface="Urbanist"/>
                  <a:sym typeface="Urbanist"/>
                </a:endParaRPr>
              </a:p>
            </p:txBody>
          </p:sp>
          <p:sp>
            <p:nvSpPr>
              <p:cNvPr id="307" name="Google Shape;307;p19"/>
              <p:cNvSpPr txBox="1"/>
              <p:nvPr/>
            </p:nvSpPr>
            <p:spPr>
              <a:xfrm>
                <a:off x="6591300" y="2171700"/>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Limited legal reasoning</a:t>
                </a:r>
                <a:endParaRPr sz="1150" b="0">
                  <a:solidFill>
                    <a:srgbClr val="475569"/>
                  </a:solidFill>
                  <a:latin typeface="Urbanist"/>
                  <a:ea typeface="Urbanist"/>
                  <a:cs typeface="Urbanist"/>
                  <a:sym typeface="Urbanist"/>
                </a:endParaRPr>
              </a:p>
            </p:txBody>
          </p:sp>
          <p:sp>
            <p:nvSpPr>
              <p:cNvPr id="308" name="Google Shape;308;p19"/>
              <p:cNvSpPr txBox="1"/>
              <p:nvPr/>
            </p:nvSpPr>
            <p:spPr>
              <a:xfrm>
                <a:off x="8972550" y="2171700"/>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D9488"/>
                    </a:solidFill>
                    <a:latin typeface="Urbanist"/>
                    <a:ea typeface="Urbanist"/>
                    <a:cs typeface="Urbanist"/>
                    <a:sym typeface="Urbanist"/>
                  </a:rPr>
                  <a:t>Ingestion</a:t>
                </a:r>
                <a:endParaRPr sz="1150" b="1">
                  <a:solidFill>
                    <a:srgbClr val="0D9488"/>
                  </a:solidFill>
                  <a:latin typeface="Urbanist"/>
                  <a:ea typeface="Urbanist"/>
                  <a:cs typeface="Urbanist"/>
                  <a:sym typeface="Urbanist"/>
                </a:endParaRPr>
              </a:p>
            </p:txBody>
          </p:sp>
        </p:grpSp>
        <p:cxnSp>
          <p:nvCxnSpPr>
            <p:cNvPr id="309" name="Google Shape;309;p19"/>
            <p:cNvCxnSpPr/>
            <p:nvPr/>
          </p:nvCxnSpPr>
          <p:spPr>
            <a:xfrm>
              <a:off x="590550" y="2438400"/>
              <a:ext cx="110109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10" name="Google Shape;310;p19"/>
            <p:cNvGrpSpPr/>
            <p:nvPr/>
          </p:nvGrpSpPr>
          <p:grpSpPr>
            <a:xfrm>
              <a:off x="781050" y="2486025"/>
              <a:ext cx="10629900" cy="228600"/>
              <a:chOff x="781050" y="2486025"/>
              <a:chExt cx="10629900" cy="228600"/>
            </a:xfrm>
          </p:grpSpPr>
          <p:sp>
            <p:nvSpPr>
              <p:cNvPr id="311" name="Google Shape;311;p19"/>
              <p:cNvSpPr txBox="1"/>
              <p:nvPr/>
            </p:nvSpPr>
            <p:spPr>
              <a:xfrm>
                <a:off x="781050" y="2486025"/>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F172A"/>
                    </a:solidFill>
                    <a:latin typeface="Urbanist"/>
                    <a:ea typeface="Urbanist"/>
                    <a:cs typeface="Urbanist"/>
                    <a:sym typeface="Urbanist"/>
                  </a:rPr>
                  <a:t>MDU</a:t>
                </a:r>
                <a:endParaRPr sz="1150" b="1">
                  <a:solidFill>
                    <a:srgbClr val="0F172A"/>
                  </a:solidFill>
                  <a:latin typeface="Urbanist"/>
                  <a:ea typeface="Urbanist"/>
                  <a:cs typeface="Urbanist"/>
                  <a:sym typeface="Urbanist"/>
                </a:endParaRPr>
              </a:p>
            </p:txBody>
          </p:sp>
          <p:sp>
            <p:nvSpPr>
              <p:cNvPr id="312" name="Google Shape;312;p19"/>
              <p:cNvSpPr txBox="1"/>
              <p:nvPr/>
            </p:nvSpPr>
            <p:spPr>
              <a:xfrm>
                <a:off x="2114550" y="2486025"/>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Joint text-layout-image</a:t>
                </a:r>
                <a:endParaRPr sz="1150" b="0">
                  <a:solidFill>
                    <a:srgbClr val="475569"/>
                  </a:solidFill>
                  <a:latin typeface="Urbanist"/>
                  <a:ea typeface="Urbanist"/>
                  <a:cs typeface="Urbanist"/>
                  <a:sym typeface="Urbanist"/>
                </a:endParaRPr>
              </a:p>
            </p:txBody>
          </p:sp>
          <p:sp>
            <p:nvSpPr>
              <p:cNvPr id="313" name="Google Shape;313;p19"/>
              <p:cNvSpPr txBox="1"/>
              <p:nvPr/>
            </p:nvSpPr>
            <p:spPr>
              <a:xfrm>
                <a:off x="4400550" y="2486025"/>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Improved comprehension</a:t>
                </a:r>
                <a:endParaRPr sz="1150" b="0">
                  <a:solidFill>
                    <a:srgbClr val="475569"/>
                  </a:solidFill>
                  <a:latin typeface="Urbanist"/>
                  <a:ea typeface="Urbanist"/>
                  <a:cs typeface="Urbanist"/>
                  <a:sym typeface="Urbanist"/>
                </a:endParaRPr>
              </a:p>
            </p:txBody>
          </p:sp>
          <p:sp>
            <p:nvSpPr>
              <p:cNvPr id="314" name="Google Shape;314;p19"/>
              <p:cNvSpPr txBox="1"/>
              <p:nvPr/>
            </p:nvSpPr>
            <p:spPr>
              <a:xfrm>
                <a:off x="6591300" y="2486025"/>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Limited governance</a:t>
                </a:r>
                <a:endParaRPr sz="1150" b="0">
                  <a:solidFill>
                    <a:srgbClr val="475569"/>
                  </a:solidFill>
                  <a:latin typeface="Urbanist"/>
                  <a:ea typeface="Urbanist"/>
                  <a:cs typeface="Urbanist"/>
                  <a:sym typeface="Urbanist"/>
                </a:endParaRPr>
              </a:p>
            </p:txBody>
          </p:sp>
          <p:sp>
            <p:nvSpPr>
              <p:cNvPr id="315" name="Google Shape;315;p19"/>
              <p:cNvSpPr txBox="1"/>
              <p:nvPr/>
            </p:nvSpPr>
            <p:spPr>
              <a:xfrm>
                <a:off x="8972550" y="2486025"/>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D9488"/>
                    </a:solidFill>
                    <a:latin typeface="Urbanist"/>
                    <a:ea typeface="Urbanist"/>
                    <a:cs typeface="Urbanist"/>
                    <a:sym typeface="Urbanist"/>
                  </a:rPr>
                  <a:t>Perception</a:t>
                </a:r>
                <a:endParaRPr sz="1150" b="1">
                  <a:solidFill>
                    <a:srgbClr val="0D9488"/>
                  </a:solidFill>
                  <a:latin typeface="Urbanist"/>
                  <a:ea typeface="Urbanist"/>
                  <a:cs typeface="Urbanist"/>
                  <a:sym typeface="Urbanist"/>
                </a:endParaRPr>
              </a:p>
            </p:txBody>
          </p:sp>
        </p:grpSp>
        <p:cxnSp>
          <p:nvCxnSpPr>
            <p:cNvPr id="316" name="Google Shape;316;p19"/>
            <p:cNvCxnSpPr/>
            <p:nvPr/>
          </p:nvCxnSpPr>
          <p:spPr>
            <a:xfrm>
              <a:off x="590550" y="2752725"/>
              <a:ext cx="110109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17" name="Google Shape;317;p19"/>
            <p:cNvGrpSpPr/>
            <p:nvPr/>
          </p:nvGrpSpPr>
          <p:grpSpPr>
            <a:xfrm>
              <a:off x="781050" y="2800350"/>
              <a:ext cx="10629900" cy="228600"/>
              <a:chOff x="781050" y="2800350"/>
              <a:chExt cx="10629900" cy="228600"/>
            </a:xfrm>
          </p:grpSpPr>
          <p:sp>
            <p:nvSpPr>
              <p:cNvPr id="318" name="Google Shape;318;p19"/>
              <p:cNvSpPr txBox="1"/>
              <p:nvPr/>
            </p:nvSpPr>
            <p:spPr>
              <a:xfrm>
                <a:off x="781050" y="2800350"/>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F172A"/>
                    </a:solidFill>
                    <a:latin typeface="Urbanist"/>
                    <a:ea typeface="Urbanist"/>
                    <a:cs typeface="Urbanist"/>
                    <a:sym typeface="Urbanist"/>
                  </a:rPr>
                  <a:t>Legal LLMs</a:t>
                </a:r>
                <a:endParaRPr sz="1150" b="1">
                  <a:solidFill>
                    <a:srgbClr val="0F172A"/>
                  </a:solidFill>
                  <a:latin typeface="Urbanist"/>
                  <a:ea typeface="Urbanist"/>
                  <a:cs typeface="Urbanist"/>
                  <a:sym typeface="Urbanist"/>
                </a:endParaRPr>
              </a:p>
            </p:txBody>
          </p:sp>
          <p:sp>
            <p:nvSpPr>
              <p:cNvPr id="319" name="Google Shape;319;p19"/>
              <p:cNvSpPr txBox="1"/>
              <p:nvPr/>
            </p:nvSpPr>
            <p:spPr>
              <a:xfrm>
                <a:off x="2114550" y="2800350"/>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Semantic understanding</a:t>
                </a:r>
                <a:endParaRPr sz="1150" b="0">
                  <a:solidFill>
                    <a:srgbClr val="475569"/>
                  </a:solidFill>
                  <a:latin typeface="Urbanist"/>
                  <a:ea typeface="Urbanist"/>
                  <a:cs typeface="Urbanist"/>
                  <a:sym typeface="Urbanist"/>
                </a:endParaRPr>
              </a:p>
            </p:txBody>
          </p:sp>
          <p:sp>
            <p:nvSpPr>
              <p:cNvPr id="320" name="Google Shape;320;p19"/>
              <p:cNvSpPr txBox="1"/>
              <p:nvPr/>
            </p:nvSpPr>
            <p:spPr>
              <a:xfrm>
                <a:off x="4400550" y="2800350"/>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Domain-specific knowledge</a:t>
                </a:r>
                <a:endParaRPr sz="1150" b="0">
                  <a:solidFill>
                    <a:srgbClr val="475569"/>
                  </a:solidFill>
                  <a:latin typeface="Urbanist"/>
                  <a:ea typeface="Urbanist"/>
                  <a:cs typeface="Urbanist"/>
                  <a:sym typeface="Urbanist"/>
                </a:endParaRPr>
              </a:p>
            </p:txBody>
          </p:sp>
          <p:sp>
            <p:nvSpPr>
              <p:cNvPr id="321" name="Google Shape;321;p19"/>
              <p:cNvSpPr txBox="1"/>
              <p:nvPr/>
            </p:nvSpPr>
            <p:spPr>
              <a:xfrm>
                <a:off x="6591300" y="2800350"/>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Static knowledge base</a:t>
                </a:r>
                <a:endParaRPr sz="1150" b="0">
                  <a:solidFill>
                    <a:srgbClr val="475569"/>
                  </a:solidFill>
                  <a:latin typeface="Urbanist"/>
                  <a:ea typeface="Urbanist"/>
                  <a:cs typeface="Urbanist"/>
                  <a:sym typeface="Urbanist"/>
                </a:endParaRPr>
              </a:p>
            </p:txBody>
          </p:sp>
          <p:sp>
            <p:nvSpPr>
              <p:cNvPr id="322" name="Google Shape;322;p19"/>
              <p:cNvSpPr txBox="1"/>
              <p:nvPr/>
            </p:nvSpPr>
            <p:spPr>
              <a:xfrm>
                <a:off x="8972550" y="2800350"/>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D9488"/>
                    </a:solidFill>
                    <a:latin typeface="Urbanist"/>
                    <a:ea typeface="Urbanist"/>
                    <a:cs typeface="Urbanist"/>
                    <a:sym typeface="Urbanist"/>
                  </a:rPr>
                  <a:t>Interpretation</a:t>
                </a:r>
                <a:endParaRPr sz="1150" b="1">
                  <a:solidFill>
                    <a:srgbClr val="0D9488"/>
                  </a:solidFill>
                  <a:latin typeface="Urbanist"/>
                  <a:ea typeface="Urbanist"/>
                  <a:cs typeface="Urbanist"/>
                  <a:sym typeface="Urbanist"/>
                </a:endParaRPr>
              </a:p>
            </p:txBody>
          </p:sp>
        </p:grpSp>
        <p:cxnSp>
          <p:nvCxnSpPr>
            <p:cNvPr id="323" name="Google Shape;323;p19"/>
            <p:cNvCxnSpPr/>
            <p:nvPr/>
          </p:nvCxnSpPr>
          <p:spPr>
            <a:xfrm>
              <a:off x="590550" y="3067050"/>
              <a:ext cx="110109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24" name="Google Shape;324;p19"/>
            <p:cNvGrpSpPr/>
            <p:nvPr/>
          </p:nvGrpSpPr>
          <p:grpSpPr>
            <a:xfrm>
              <a:off x="781050" y="3114675"/>
              <a:ext cx="10629900" cy="228600"/>
              <a:chOff x="781050" y="3114675"/>
              <a:chExt cx="10629900" cy="228600"/>
            </a:xfrm>
          </p:grpSpPr>
          <p:sp>
            <p:nvSpPr>
              <p:cNvPr id="325" name="Google Shape;325;p19"/>
              <p:cNvSpPr txBox="1"/>
              <p:nvPr/>
            </p:nvSpPr>
            <p:spPr>
              <a:xfrm>
                <a:off x="781050" y="3114675"/>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F172A"/>
                    </a:solidFill>
                    <a:latin typeface="Urbanist"/>
                    <a:ea typeface="Urbanist"/>
                    <a:cs typeface="Urbanist"/>
                    <a:sym typeface="Urbanist"/>
                  </a:rPr>
                  <a:t>RAG</a:t>
                </a:r>
                <a:endParaRPr sz="1150" b="1">
                  <a:solidFill>
                    <a:srgbClr val="0F172A"/>
                  </a:solidFill>
                  <a:latin typeface="Urbanist"/>
                  <a:ea typeface="Urbanist"/>
                  <a:cs typeface="Urbanist"/>
                  <a:sym typeface="Urbanist"/>
                </a:endParaRPr>
              </a:p>
            </p:txBody>
          </p:sp>
          <p:sp>
            <p:nvSpPr>
              <p:cNvPr id="326" name="Google Shape;326;p19"/>
              <p:cNvSpPr txBox="1"/>
              <p:nvPr/>
            </p:nvSpPr>
            <p:spPr>
              <a:xfrm>
                <a:off x="2114550" y="3114675"/>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Knowledge grounding</a:t>
                </a:r>
                <a:endParaRPr sz="1150" b="0">
                  <a:solidFill>
                    <a:srgbClr val="475569"/>
                  </a:solidFill>
                  <a:latin typeface="Urbanist"/>
                  <a:ea typeface="Urbanist"/>
                  <a:cs typeface="Urbanist"/>
                  <a:sym typeface="Urbanist"/>
                </a:endParaRPr>
              </a:p>
            </p:txBody>
          </p:sp>
          <p:sp>
            <p:nvSpPr>
              <p:cNvPr id="327" name="Google Shape;327;p19"/>
              <p:cNvSpPr txBox="1"/>
              <p:nvPr/>
            </p:nvSpPr>
            <p:spPr>
              <a:xfrm>
                <a:off x="4400550" y="3114675"/>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Reduced hallucinations</a:t>
                </a:r>
                <a:endParaRPr sz="1150" b="0">
                  <a:solidFill>
                    <a:srgbClr val="475569"/>
                  </a:solidFill>
                  <a:latin typeface="Urbanist"/>
                  <a:ea typeface="Urbanist"/>
                  <a:cs typeface="Urbanist"/>
                  <a:sym typeface="Urbanist"/>
                </a:endParaRPr>
              </a:p>
            </p:txBody>
          </p:sp>
          <p:sp>
            <p:nvSpPr>
              <p:cNvPr id="328" name="Google Shape;328;p19"/>
              <p:cNvSpPr txBox="1"/>
              <p:nvPr/>
            </p:nvSpPr>
            <p:spPr>
              <a:xfrm>
                <a:off x="6591300" y="3114675"/>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Retrieval dependency</a:t>
                </a:r>
                <a:endParaRPr sz="1150" b="0">
                  <a:solidFill>
                    <a:srgbClr val="475569"/>
                  </a:solidFill>
                  <a:latin typeface="Urbanist"/>
                  <a:ea typeface="Urbanist"/>
                  <a:cs typeface="Urbanist"/>
                  <a:sym typeface="Urbanist"/>
                </a:endParaRPr>
              </a:p>
            </p:txBody>
          </p:sp>
          <p:sp>
            <p:nvSpPr>
              <p:cNvPr id="329" name="Google Shape;329;p19"/>
              <p:cNvSpPr txBox="1"/>
              <p:nvPr/>
            </p:nvSpPr>
            <p:spPr>
              <a:xfrm>
                <a:off x="8972550" y="3114675"/>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D9488"/>
                    </a:solidFill>
                    <a:latin typeface="Urbanist"/>
                    <a:ea typeface="Urbanist"/>
                    <a:cs typeface="Urbanist"/>
                    <a:sym typeface="Urbanist"/>
                  </a:rPr>
                  <a:t>Retrieval</a:t>
                </a:r>
                <a:endParaRPr sz="1150" b="1">
                  <a:solidFill>
                    <a:srgbClr val="0D9488"/>
                  </a:solidFill>
                  <a:latin typeface="Urbanist"/>
                  <a:ea typeface="Urbanist"/>
                  <a:cs typeface="Urbanist"/>
                  <a:sym typeface="Urbanist"/>
                </a:endParaRPr>
              </a:p>
            </p:txBody>
          </p:sp>
        </p:grpSp>
        <p:cxnSp>
          <p:nvCxnSpPr>
            <p:cNvPr id="330" name="Google Shape;330;p19"/>
            <p:cNvCxnSpPr/>
            <p:nvPr/>
          </p:nvCxnSpPr>
          <p:spPr>
            <a:xfrm>
              <a:off x="590550" y="3381375"/>
              <a:ext cx="110109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31" name="Google Shape;331;p19"/>
            <p:cNvGrpSpPr/>
            <p:nvPr/>
          </p:nvGrpSpPr>
          <p:grpSpPr>
            <a:xfrm>
              <a:off x="781050" y="3429000"/>
              <a:ext cx="10629900" cy="228600"/>
              <a:chOff x="781050" y="3429000"/>
              <a:chExt cx="10629900" cy="228600"/>
            </a:xfrm>
          </p:grpSpPr>
          <p:sp>
            <p:nvSpPr>
              <p:cNvPr id="332" name="Google Shape;332;p19"/>
              <p:cNvSpPr txBox="1"/>
              <p:nvPr/>
            </p:nvSpPr>
            <p:spPr>
              <a:xfrm>
                <a:off x="781050" y="3429000"/>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F172A"/>
                    </a:solidFill>
                    <a:latin typeface="Urbanist"/>
                    <a:ea typeface="Urbanist"/>
                    <a:cs typeface="Urbanist"/>
                    <a:sym typeface="Urbanist"/>
                  </a:rPr>
                  <a:t>Agentic AI</a:t>
                </a:r>
                <a:endParaRPr sz="1150" b="1">
                  <a:solidFill>
                    <a:srgbClr val="0F172A"/>
                  </a:solidFill>
                  <a:latin typeface="Urbanist"/>
                  <a:ea typeface="Urbanist"/>
                  <a:cs typeface="Urbanist"/>
                  <a:sym typeface="Urbanist"/>
                </a:endParaRPr>
              </a:p>
            </p:txBody>
          </p:sp>
          <p:sp>
            <p:nvSpPr>
              <p:cNvPr id="333" name="Google Shape;333;p19"/>
              <p:cNvSpPr txBox="1"/>
              <p:nvPr/>
            </p:nvSpPr>
            <p:spPr>
              <a:xfrm>
                <a:off x="2114550" y="3429000"/>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Workflow execution</a:t>
                </a:r>
                <a:endParaRPr sz="1150" b="0">
                  <a:solidFill>
                    <a:srgbClr val="475569"/>
                  </a:solidFill>
                  <a:latin typeface="Urbanist"/>
                  <a:ea typeface="Urbanist"/>
                  <a:cs typeface="Urbanist"/>
                  <a:sym typeface="Urbanist"/>
                </a:endParaRPr>
              </a:p>
            </p:txBody>
          </p:sp>
          <p:sp>
            <p:nvSpPr>
              <p:cNvPr id="334" name="Google Shape;334;p19"/>
              <p:cNvSpPr txBox="1"/>
              <p:nvPr/>
            </p:nvSpPr>
            <p:spPr>
              <a:xfrm>
                <a:off x="4400550" y="3429000"/>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Multi-step reasoning</a:t>
                </a:r>
                <a:endParaRPr sz="1150" b="0">
                  <a:solidFill>
                    <a:srgbClr val="475569"/>
                  </a:solidFill>
                  <a:latin typeface="Urbanist"/>
                  <a:ea typeface="Urbanist"/>
                  <a:cs typeface="Urbanist"/>
                  <a:sym typeface="Urbanist"/>
                </a:endParaRPr>
              </a:p>
            </p:txBody>
          </p:sp>
          <p:sp>
            <p:nvSpPr>
              <p:cNvPr id="335" name="Google Shape;335;p19"/>
              <p:cNvSpPr txBox="1"/>
              <p:nvPr/>
            </p:nvSpPr>
            <p:spPr>
              <a:xfrm>
                <a:off x="6591300" y="3429000"/>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Limited governance</a:t>
                </a:r>
                <a:endParaRPr sz="1150" b="0">
                  <a:solidFill>
                    <a:srgbClr val="475569"/>
                  </a:solidFill>
                  <a:latin typeface="Urbanist"/>
                  <a:ea typeface="Urbanist"/>
                  <a:cs typeface="Urbanist"/>
                  <a:sym typeface="Urbanist"/>
                </a:endParaRPr>
              </a:p>
            </p:txBody>
          </p:sp>
          <p:sp>
            <p:nvSpPr>
              <p:cNvPr id="336" name="Google Shape;336;p19"/>
              <p:cNvSpPr txBox="1"/>
              <p:nvPr/>
            </p:nvSpPr>
            <p:spPr>
              <a:xfrm>
                <a:off x="8972550" y="3429000"/>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D9488"/>
                    </a:solidFill>
                    <a:latin typeface="Urbanist"/>
                    <a:ea typeface="Urbanist"/>
                    <a:cs typeface="Urbanist"/>
                    <a:sym typeface="Urbanist"/>
                  </a:rPr>
                  <a:t>Orchestration</a:t>
                </a:r>
                <a:endParaRPr sz="1150" b="1">
                  <a:solidFill>
                    <a:srgbClr val="0D9488"/>
                  </a:solidFill>
                  <a:latin typeface="Urbanist"/>
                  <a:ea typeface="Urbanist"/>
                  <a:cs typeface="Urbanist"/>
                  <a:sym typeface="Urbanist"/>
                </a:endParaRPr>
              </a:p>
            </p:txBody>
          </p:sp>
        </p:grpSp>
        <p:cxnSp>
          <p:nvCxnSpPr>
            <p:cNvPr id="337" name="Google Shape;337;p19"/>
            <p:cNvCxnSpPr/>
            <p:nvPr/>
          </p:nvCxnSpPr>
          <p:spPr>
            <a:xfrm>
              <a:off x="590550" y="3695700"/>
              <a:ext cx="110109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38" name="Google Shape;338;p19"/>
            <p:cNvGrpSpPr/>
            <p:nvPr/>
          </p:nvGrpSpPr>
          <p:grpSpPr>
            <a:xfrm>
              <a:off x="781050" y="3743325"/>
              <a:ext cx="10629900" cy="228600"/>
              <a:chOff x="781050" y="3743325"/>
              <a:chExt cx="10629900" cy="228600"/>
            </a:xfrm>
          </p:grpSpPr>
          <p:sp>
            <p:nvSpPr>
              <p:cNvPr id="339" name="Google Shape;339;p19"/>
              <p:cNvSpPr txBox="1"/>
              <p:nvPr/>
            </p:nvSpPr>
            <p:spPr>
              <a:xfrm>
                <a:off x="781050" y="3743325"/>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F172A"/>
                    </a:solidFill>
                    <a:latin typeface="Urbanist"/>
                    <a:ea typeface="Urbanist"/>
                    <a:cs typeface="Urbanist"/>
                    <a:sym typeface="Urbanist"/>
                  </a:rPr>
                  <a:t>XAI</a:t>
                </a:r>
                <a:endParaRPr sz="1150" b="1">
                  <a:solidFill>
                    <a:srgbClr val="0F172A"/>
                  </a:solidFill>
                  <a:latin typeface="Urbanist"/>
                  <a:ea typeface="Urbanist"/>
                  <a:cs typeface="Urbanist"/>
                  <a:sym typeface="Urbanist"/>
                </a:endParaRPr>
              </a:p>
            </p:txBody>
          </p:sp>
          <p:sp>
            <p:nvSpPr>
              <p:cNvPr id="340" name="Google Shape;340;p19"/>
              <p:cNvSpPr txBox="1"/>
              <p:nvPr/>
            </p:nvSpPr>
            <p:spPr>
              <a:xfrm>
                <a:off x="2114550" y="3743325"/>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Decision transparency</a:t>
                </a:r>
                <a:endParaRPr sz="1150" b="0">
                  <a:solidFill>
                    <a:srgbClr val="475569"/>
                  </a:solidFill>
                  <a:latin typeface="Urbanist"/>
                  <a:ea typeface="Urbanist"/>
                  <a:cs typeface="Urbanist"/>
                  <a:sym typeface="Urbanist"/>
                </a:endParaRPr>
              </a:p>
            </p:txBody>
          </p:sp>
          <p:sp>
            <p:nvSpPr>
              <p:cNvPr id="341" name="Google Shape;341;p19"/>
              <p:cNvSpPr txBox="1"/>
              <p:nvPr/>
            </p:nvSpPr>
            <p:spPr>
              <a:xfrm>
                <a:off x="4400550" y="3743325"/>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Trust &amp; interpretability</a:t>
                </a:r>
                <a:endParaRPr sz="1150" b="0">
                  <a:solidFill>
                    <a:srgbClr val="475569"/>
                  </a:solidFill>
                  <a:latin typeface="Urbanist"/>
                  <a:ea typeface="Urbanist"/>
                  <a:cs typeface="Urbanist"/>
                  <a:sym typeface="Urbanist"/>
                </a:endParaRPr>
              </a:p>
            </p:txBody>
          </p:sp>
          <p:sp>
            <p:nvSpPr>
              <p:cNvPr id="342" name="Google Shape;342;p19"/>
              <p:cNvSpPr txBox="1"/>
              <p:nvPr/>
            </p:nvSpPr>
            <p:spPr>
              <a:xfrm>
                <a:off x="6591300" y="3743325"/>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Limited process-level</a:t>
                </a:r>
                <a:endParaRPr sz="1150" b="0">
                  <a:solidFill>
                    <a:srgbClr val="475569"/>
                  </a:solidFill>
                  <a:latin typeface="Urbanist"/>
                  <a:ea typeface="Urbanist"/>
                  <a:cs typeface="Urbanist"/>
                  <a:sym typeface="Urbanist"/>
                </a:endParaRPr>
              </a:p>
            </p:txBody>
          </p:sp>
          <p:sp>
            <p:nvSpPr>
              <p:cNvPr id="343" name="Google Shape;343;p19"/>
              <p:cNvSpPr txBox="1"/>
              <p:nvPr/>
            </p:nvSpPr>
            <p:spPr>
              <a:xfrm>
                <a:off x="8972550" y="3743325"/>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D9488"/>
                    </a:solidFill>
                    <a:latin typeface="Urbanist"/>
                    <a:ea typeface="Urbanist"/>
                    <a:cs typeface="Urbanist"/>
                    <a:sym typeface="Urbanist"/>
                  </a:rPr>
                  <a:t>Explainability</a:t>
                </a:r>
                <a:endParaRPr sz="1150" b="1">
                  <a:solidFill>
                    <a:srgbClr val="0D9488"/>
                  </a:solidFill>
                  <a:latin typeface="Urbanist"/>
                  <a:ea typeface="Urbanist"/>
                  <a:cs typeface="Urbanist"/>
                  <a:sym typeface="Urbanist"/>
                </a:endParaRPr>
              </a:p>
            </p:txBody>
          </p:sp>
        </p:grpSp>
        <p:cxnSp>
          <p:nvCxnSpPr>
            <p:cNvPr id="344" name="Google Shape;344;p19"/>
            <p:cNvCxnSpPr/>
            <p:nvPr/>
          </p:nvCxnSpPr>
          <p:spPr>
            <a:xfrm>
              <a:off x="590550" y="4010025"/>
              <a:ext cx="110109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45" name="Google Shape;345;p19"/>
            <p:cNvGrpSpPr/>
            <p:nvPr/>
          </p:nvGrpSpPr>
          <p:grpSpPr>
            <a:xfrm>
              <a:off x="781050" y="4057650"/>
              <a:ext cx="10629900" cy="228600"/>
              <a:chOff x="781050" y="4057650"/>
              <a:chExt cx="10629900" cy="228600"/>
            </a:xfrm>
          </p:grpSpPr>
          <p:sp>
            <p:nvSpPr>
              <p:cNvPr id="346" name="Google Shape;346;p19"/>
              <p:cNvSpPr txBox="1"/>
              <p:nvPr/>
            </p:nvSpPr>
            <p:spPr>
              <a:xfrm>
                <a:off x="781050" y="4057650"/>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F172A"/>
                    </a:solidFill>
                    <a:latin typeface="Urbanist"/>
                    <a:ea typeface="Urbanist"/>
                    <a:cs typeface="Urbanist"/>
                    <a:sym typeface="Urbanist"/>
                  </a:rPr>
                  <a:t>Guardrails</a:t>
                </a:r>
                <a:endParaRPr sz="1150" b="1">
                  <a:solidFill>
                    <a:srgbClr val="0F172A"/>
                  </a:solidFill>
                  <a:latin typeface="Urbanist"/>
                  <a:ea typeface="Urbanist"/>
                  <a:cs typeface="Urbanist"/>
                  <a:sym typeface="Urbanist"/>
                </a:endParaRPr>
              </a:p>
            </p:txBody>
          </p:sp>
          <p:sp>
            <p:nvSpPr>
              <p:cNvPr id="347" name="Google Shape;347;p19"/>
              <p:cNvSpPr txBox="1"/>
              <p:nvPr/>
            </p:nvSpPr>
            <p:spPr>
              <a:xfrm>
                <a:off x="2114550" y="4057650"/>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Runtime governance</a:t>
                </a:r>
                <a:endParaRPr sz="1150" b="0">
                  <a:solidFill>
                    <a:srgbClr val="475569"/>
                  </a:solidFill>
                  <a:latin typeface="Urbanist"/>
                  <a:ea typeface="Urbanist"/>
                  <a:cs typeface="Urbanist"/>
                  <a:sym typeface="Urbanist"/>
                </a:endParaRPr>
              </a:p>
            </p:txBody>
          </p:sp>
          <p:sp>
            <p:nvSpPr>
              <p:cNvPr id="348" name="Google Shape;348;p19"/>
              <p:cNvSpPr txBox="1"/>
              <p:nvPr/>
            </p:nvSpPr>
            <p:spPr>
              <a:xfrm>
                <a:off x="4400550" y="4057650"/>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Policy enforcement</a:t>
                </a:r>
                <a:endParaRPr sz="1150" b="0">
                  <a:solidFill>
                    <a:srgbClr val="475569"/>
                  </a:solidFill>
                  <a:latin typeface="Urbanist"/>
                  <a:ea typeface="Urbanist"/>
                  <a:cs typeface="Urbanist"/>
                  <a:sym typeface="Urbanist"/>
                </a:endParaRPr>
              </a:p>
            </p:txBody>
          </p:sp>
          <p:sp>
            <p:nvSpPr>
              <p:cNvPr id="349" name="Google Shape;349;p19"/>
              <p:cNvSpPr txBox="1"/>
              <p:nvPr/>
            </p:nvSpPr>
            <p:spPr>
              <a:xfrm>
                <a:off x="6591300" y="4057650"/>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Output-focused</a:t>
                </a:r>
                <a:endParaRPr sz="1150" b="0">
                  <a:solidFill>
                    <a:srgbClr val="475569"/>
                  </a:solidFill>
                  <a:latin typeface="Urbanist"/>
                  <a:ea typeface="Urbanist"/>
                  <a:cs typeface="Urbanist"/>
                  <a:sym typeface="Urbanist"/>
                </a:endParaRPr>
              </a:p>
            </p:txBody>
          </p:sp>
          <p:sp>
            <p:nvSpPr>
              <p:cNvPr id="350" name="Google Shape;350;p19"/>
              <p:cNvSpPr txBox="1"/>
              <p:nvPr/>
            </p:nvSpPr>
            <p:spPr>
              <a:xfrm>
                <a:off x="8972550" y="4057650"/>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D9488"/>
                    </a:solidFill>
                    <a:latin typeface="Urbanist"/>
                    <a:ea typeface="Urbanist"/>
                    <a:cs typeface="Urbanist"/>
                    <a:sym typeface="Urbanist"/>
                  </a:rPr>
                  <a:t>Validation</a:t>
                </a:r>
                <a:endParaRPr sz="1150" b="1">
                  <a:solidFill>
                    <a:srgbClr val="0D9488"/>
                  </a:solidFill>
                  <a:latin typeface="Urbanist"/>
                  <a:ea typeface="Urbanist"/>
                  <a:cs typeface="Urbanist"/>
                  <a:sym typeface="Urbanist"/>
                </a:endParaRPr>
              </a:p>
            </p:txBody>
          </p:sp>
        </p:grpSp>
        <p:cxnSp>
          <p:nvCxnSpPr>
            <p:cNvPr id="351" name="Google Shape;351;p19"/>
            <p:cNvCxnSpPr/>
            <p:nvPr/>
          </p:nvCxnSpPr>
          <p:spPr>
            <a:xfrm>
              <a:off x="590550" y="4324350"/>
              <a:ext cx="110109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52" name="Google Shape;352;p19"/>
            <p:cNvGrpSpPr/>
            <p:nvPr/>
          </p:nvGrpSpPr>
          <p:grpSpPr>
            <a:xfrm>
              <a:off x="781050" y="4371975"/>
              <a:ext cx="10629900" cy="228600"/>
              <a:chOff x="781050" y="4371975"/>
              <a:chExt cx="10629900" cy="228600"/>
            </a:xfrm>
          </p:grpSpPr>
          <p:sp>
            <p:nvSpPr>
              <p:cNvPr id="353" name="Google Shape;353;p19"/>
              <p:cNvSpPr txBox="1"/>
              <p:nvPr/>
            </p:nvSpPr>
            <p:spPr>
              <a:xfrm>
                <a:off x="781050" y="4371975"/>
                <a:ext cx="1143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F172A"/>
                    </a:solidFill>
                    <a:latin typeface="Urbanist"/>
                    <a:ea typeface="Urbanist"/>
                    <a:cs typeface="Urbanist"/>
                    <a:sym typeface="Urbanist"/>
                  </a:rPr>
                  <a:t>MCP</a:t>
                </a:r>
                <a:endParaRPr sz="1150" b="1">
                  <a:solidFill>
                    <a:srgbClr val="0F172A"/>
                  </a:solidFill>
                  <a:latin typeface="Urbanist"/>
                  <a:ea typeface="Urbanist"/>
                  <a:cs typeface="Urbanist"/>
                  <a:sym typeface="Urbanist"/>
                </a:endParaRPr>
              </a:p>
            </p:txBody>
          </p:sp>
          <p:sp>
            <p:nvSpPr>
              <p:cNvPr id="354" name="Google Shape;354;p19"/>
              <p:cNvSpPr txBox="1"/>
              <p:nvPr/>
            </p:nvSpPr>
            <p:spPr>
              <a:xfrm>
                <a:off x="2114550" y="4371975"/>
                <a:ext cx="2095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Standardized interoperability</a:t>
                </a:r>
                <a:endParaRPr sz="1150" b="0">
                  <a:solidFill>
                    <a:srgbClr val="475569"/>
                  </a:solidFill>
                  <a:latin typeface="Urbanist"/>
                  <a:ea typeface="Urbanist"/>
                  <a:cs typeface="Urbanist"/>
                  <a:sym typeface="Urbanist"/>
                </a:endParaRPr>
              </a:p>
            </p:txBody>
          </p:sp>
          <p:sp>
            <p:nvSpPr>
              <p:cNvPr id="355" name="Google Shape;355;p19"/>
              <p:cNvSpPr txBox="1"/>
              <p:nvPr/>
            </p:nvSpPr>
            <p:spPr>
              <a:xfrm>
                <a:off x="4400550" y="4371975"/>
                <a:ext cx="20001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Vendor-neutral integration</a:t>
                </a:r>
                <a:endParaRPr sz="1150" b="0">
                  <a:solidFill>
                    <a:srgbClr val="475569"/>
                  </a:solidFill>
                  <a:latin typeface="Urbanist"/>
                  <a:ea typeface="Urbanist"/>
                  <a:cs typeface="Urbanist"/>
                  <a:sym typeface="Urbanist"/>
                </a:endParaRPr>
              </a:p>
            </p:txBody>
          </p:sp>
          <p:sp>
            <p:nvSpPr>
              <p:cNvPr id="356" name="Google Shape;356;p19"/>
              <p:cNvSpPr txBox="1"/>
              <p:nvPr/>
            </p:nvSpPr>
            <p:spPr>
              <a:xfrm>
                <a:off x="6591300" y="4371975"/>
                <a:ext cx="2190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0">
                    <a:solidFill>
                      <a:srgbClr val="475569"/>
                    </a:solidFill>
                    <a:latin typeface="Urbanist"/>
                    <a:ea typeface="Urbanist"/>
                    <a:cs typeface="Urbanist"/>
                    <a:sym typeface="Urbanist"/>
                  </a:rPr>
                  <a:t>Emerging ecosystem</a:t>
                </a:r>
                <a:endParaRPr sz="1150" b="0">
                  <a:solidFill>
                    <a:srgbClr val="475569"/>
                  </a:solidFill>
                  <a:latin typeface="Urbanist"/>
                  <a:ea typeface="Urbanist"/>
                  <a:cs typeface="Urbanist"/>
                  <a:sym typeface="Urbanist"/>
                </a:endParaRPr>
              </a:p>
            </p:txBody>
          </p:sp>
          <p:sp>
            <p:nvSpPr>
              <p:cNvPr id="357" name="Google Shape;357;p19"/>
              <p:cNvSpPr txBox="1"/>
              <p:nvPr/>
            </p:nvSpPr>
            <p:spPr>
              <a:xfrm>
                <a:off x="8972550" y="4371975"/>
                <a:ext cx="24384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50" b="1">
                    <a:solidFill>
                      <a:srgbClr val="0D9488"/>
                    </a:solidFill>
                    <a:latin typeface="Urbanist"/>
                    <a:ea typeface="Urbanist"/>
                    <a:cs typeface="Urbanist"/>
                    <a:sym typeface="Urbanist"/>
                  </a:rPr>
                  <a:t>Connectivity</a:t>
                </a:r>
                <a:endParaRPr sz="1150" b="1">
                  <a:solidFill>
                    <a:srgbClr val="0D9488"/>
                  </a:solidFill>
                  <a:latin typeface="Urbanist"/>
                  <a:ea typeface="Urbanist"/>
                  <a:cs typeface="Urbanist"/>
                  <a:sym typeface="Urbanist"/>
                </a:endParaRPr>
              </a:p>
            </p:txBody>
          </p:sp>
        </p:grpSp>
      </p:grpSp>
      <p:grpSp>
        <p:nvGrpSpPr>
          <p:cNvPr id="358" name="Google Shape;358;p19"/>
          <p:cNvGrpSpPr/>
          <p:nvPr/>
        </p:nvGrpSpPr>
        <p:grpSpPr>
          <a:xfrm>
            <a:off x="590550" y="4762500"/>
            <a:ext cx="11010900" cy="1571700"/>
            <a:chOff x="590550" y="4762500"/>
            <a:chExt cx="11010900" cy="1571700"/>
          </a:xfrm>
        </p:grpSpPr>
        <p:sp>
          <p:nvSpPr>
            <p:cNvPr id="359" name="Google Shape;359;p19"/>
            <p:cNvSpPr/>
            <p:nvPr/>
          </p:nvSpPr>
          <p:spPr>
            <a:xfrm>
              <a:off x="590550" y="4762500"/>
              <a:ext cx="11010900" cy="1571700"/>
            </a:xfrm>
            <a:prstGeom prst="roundRect">
              <a:avLst>
                <a:gd name="adj" fmla="val 9696"/>
              </a:avLst>
            </a:prstGeom>
            <a:solidFill>
              <a:srgbClr val="F0F9FF"/>
            </a:solidFill>
            <a:ln w="14300"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360" name="Google Shape;360;p19"/>
            <p:cNvPicPr preferRelativeResize="0"/>
            <p:nvPr/>
          </p:nvPicPr>
          <p:blipFill rotWithShape="1">
            <a:blip r:embed="rId5">
              <a:alphaModFix/>
            </a:blip>
            <a:srcRect/>
            <a:stretch/>
          </p:blipFill>
          <p:spPr>
            <a:xfrm>
              <a:off x="590550" y="4762500"/>
              <a:ext cx="495300" cy="1571700"/>
            </a:xfrm>
            <a:prstGeom prst="rect">
              <a:avLst/>
            </a:prstGeom>
            <a:noFill/>
            <a:ln>
              <a:noFill/>
            </a:ln>
          </p:spPr>
        </p:pic>
        <p:sp>
          <p:nvSpPr>
            <p:cNvPr id="361" name="Google Shape;361;p19"/>
            <p:cNvSpPr txBox="1"/>
            <p:nvPr/>
          </p:nvSpPr>
          <p:spPr>
            <a:xfrm>
              <a:off x="1333500" y="4905375"/>
              <a:ext cx="98871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500" b="1">
                  <a:solidFill>
                    <a:srgbClr val="0369A1"/>
                  </a:solidFill>
                  <a:latin typeface="Urbanist"/>
                  <a:ea typeface="Urbanist"/>
                  <a:cs typeface="Urbanist"/>
                  <a:sym typeface="Urbanist"/>
                </a:rPr>
                <a:t>Core Gap Identified &amp; Platform Synthesis</a:t>
              </a:r>
              <a:endParaRPr sz="1500" b="1">
                <a:solidFill>
                  <a:srgbClr val="0369A1"/>
                </a:solidFill>
                <a:latin typeface="Urbanist"/>
                <a:ea typeface="Urbanist"/>
                <a:cs typeface="Urbanist"/>
                <a:sym typeface="Urbanist"/>
              </a:endParaRPr>
            </a:p>
          </p:txBody>
        </p:sp>
        <p:sp>
          <p:nvSpPr>
            <p:cNvPr id="362" name="Google Shape;362;p19"/>
            <p:cNvSpPr txBox="1"/>
            <p:nvPr/>
          </p:nvSpPr>
          <p:spPr>
            <a:xfrm>
              <a:off x="1333500" y="5238750"/>
              <a:ext cx="98871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50" b="1">
                  <a:solidFill>
                    <a:srgbClr val="0F172A"/>
                  </a:solidFill>
                  <a:latin typeface="Urbanist"/>
                  <a:ea typeface="Urbanist"/>
                  <a:cs typeface="Urbanist"/>
                  <a:sym typeface="Urbanist"/>
                </a:rPr>
                <a:t>The Integration Imperative:</a:t>
              </a:r>
              <a:r>
                <a:rPr lang="en-US" sz="1250" b="0">
                  <a:solidFill>
                    <a:srgbClr val="0F172A"/>
                  </a:solidFill>
                  <a:latin typeface="Urbanist"/>
                  <a:ea typeface="Urbanist"/>
                  <a:cs typeface="Urbanist"/>
                  <a:sym typeface="Urbanist"/>
                </a:rPr>
                <a:t> No standalone technology currently integrates these features. Existing banking systems remain siloed, executing isolated stages—document extraction, Q&amp;A, and compliance checks—independently.</a:t>
              </a:r>
              <a:endParaRPr sz="1250" b="0">
                <a:solidFill>
                  <a:srgbClr val="0F172A"/>
                </a:solidFill>
                <a:latin typeface="Urbanist"/>
                <a:ea typeface="Urbanist"/>
                <a:cs typeface="Urbanist"/>
                <a:sym typeface="Urbanist"/>
              </a:endParaRPr>
            </a:p>
            <a:p>
              <a:pPr marL="0" lvl="0" indent="0" algn="l" rtl="0">
                <a:spcBef>
                  <a:spcPts val="450"/>
                </a:spcBef>
                <a:spcAft>
                  <a:spcPts val="0"/>
                </a:spcAft>
                <a:buNone/>
              </a:pPr>
              <a:r>
                <a:rPr lang="en-US" sz="1250" b="1">
                  <a:solidFill>
                    <a:srgbClr val="0F172A"/>
                  </a:solidFill>
                  <a:latin typeface="Urbanist"/>
                  <a:ea typeface="Urbanist"/>
                  <a:cs typeface="Urbanist"/>
                  <a:sym typeface="Urbanist"/>
                </a:rPr>
                <a:t>Unified Framework:</a:t>
              </a:r>
              <a:r>
                <a:rPr lang="en-US" sz="1250" b="0">
                  <a:solidFill>
                    <a:srgbClr val="0F172A"/>
                  </a:solidFill>
                  <a:latin typeface="Urbanist"/>
                  <a:ea typeface="Urbanist"/>
                  <a:cs typeface="Urbanist"/>
                  <a:sym typeface="Urbanist"/>
                </a:rPr>
                <a:t> Banking operations mandate end-to-end auditability and absolute traceability. Our proposed platform bridges these structural gaps, dynamically binding ingestion, retrieval, reasoning, and governance into a singular, cohesive regulatory workflow.</a:t>
              </a:r>
              <a:endParaRPr sz="1250" b="0">
                <a:solidFill>
                  <a:srgbClr val="0F172A"/>
                </a:solidFill>
                <a:latin typeface="Urbanist"/>
                <a:ea typeface="Urbanist"/>
                <a:cs typeface="Urbanist"/>
                <a:sym typeface="Urbanist"/>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306" name="Google Shape;306;p22"/>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08" name="Google Shape;308;p22"/>
          <p:cNvSpPr txBox="1"/>
          <p:nvPr/>
        </p:nvSpPr>
        <p:spPr>
          <a:xfrm>
            <a:off x="657225" y="528638"/>
            <a:ext cx="106299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400" b="1" dirty="0">
                <a:solidFill>
                  <a:srgbClr val="0F172A"/>
                </a:solidFill>
                <a:latin typeface="Poppins"/>
                <a:ea typeface="Poppins"/>
                <a:cs typeface="Poppins"/>
                <a:sym typeface="Poppins"/>
              </a:rPr>
              <a:t>Proposed </a:t>
            </a:r>
            <a:r>
              <a:rPr lang="en-US" sz="2400" b="1" dirty="0">
                <a:solidFill>
                  <a:srgbClr val="0F766E"/>
                </a:solidFill>
                <a:latin typeface="Poppins"/>
                <a:ea typeface="Poppins"/>
                <a:cs typeface="Poppins"/>
                <a:sym typeface="Poppins"/>
              </a:rPr>
              <a:t>Explainable Agentic AI Architecture</a:t>
            </a:r>
            <a:endParaRPr sz="2400" b="1" dirty="0">
              <a:solidFill>
                <a:srgbClr val="0F172A"/>
              </a:solidFill>
              <a:latin typeface="Poppins"/>
              <a:ea typeface="Poppins"/>
              <a:cs typeface="Poppins"/>
              <a:sym typeface="Poppins"/>
            </a:endParaRPr>
          </a:p>
        </p:txBody>
      </p:sp>
      <p:sp>
        <p:nvSpPr>
          <p:cNvPr id="309" name="Google Shape;309;p22"/>
          <p:cNvSpPr txBox="1"/>
          <p:nvPr/>
        </p:nvSpPr>
        <p:spPr>
          <a:xfrm>
            <a:off x="676275" y="971550"/>
            <a:ext cx="108396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50" b="0">
                <a:solidFill>
                  <a:srgbClr val="475569"/>
                </a:solidFill>
                <a:latin typeface="Inter"/>
                <a:ea typeface="Inter"/>
                <a:cs typeface="Inter"/>
                <a:sym typeface="Inter"/>
              </a:rPr>
              <a:t>The proposed Regulatory Guardian platform integrates multimodal document understanding, autonomous AI agents, secure enterprise tool integration, explainability, and AI safety into a unified architecture for banking contract review and continuous regulatory lifecycle management.</a:t>
            </a:r>
            <a:endParaRPr sz="1050" b="0">
              <a:solidFill>
                <a:srgbClr val="475569"/>
              </a:solidFill>
              <a:latin typeface="Inter"/>
              <a:ea typeface="Inter"/>
              <a:cs typeface="Inter"/>
              <a:sym typeface="Inter"/>
            </a:endParaRPr>
          </a:p>
        </p:txBody>
      </p:sp>
      <p:grpSp>
        <p:nvGrpSpPr>
          <p:cNvPr id="2" name="Google Shape;310;p22"/>
          <p:cNvGrpSpPr/>
          <p:nvPr/>
        </p:nvGrpSpPr>
        <p:grpSpPr>
          <a:xfrm>
            <a:off x="666750" y="1466850"/>
            <a:ext cx="2114700" cy="1066800"/>
            <a:chOff x="666750" y="1466850"/>
            <a:chExt cx="2114700" cy="1066800"/>
          </a:xfrm>
        </p:grpSpPr>
        <p:pic>
          <p:nvPicPr>
            <p:cNvPr id="311" name="Google Shape;311;p22"/>
            <p:cNvPicPr preferRelativeResize="0"/>
            <p:nvPr/>
          </p:nvPicPr>
          <p:blipFill rotWithShape="1">
            <a:blip r:embed="rId4">
              <a:alphaModFix/>
            </a:blip>
            <a:srcRect/>
            <a:stretch/>
          </p:blipFill>
          <p:spPr>
            <a:xfrm>
              <a:off x="666750" y="1466850"/>
              <a:ext cx="2114700" cy="1066800"/>
            </a:xfrm>
            <a:prstGeom prst="rect">
              <a:avLst/>
            </a:prstGeom>
            <a:noFill/>
            <a:ln>
              <a:noFill/>
            </a:ln>
          </p:spPr>
        </p:pic>
        <p:sp>
          <p:nvSpPr>
            <p:cNvPr id="312" name="Google Shape;312;p22"/>
            <p:cNvSpPr txBox="1"/>
            <p:nvPr/>
          </p:nvSpPr>
          <p:spPr>
            <a:xfrm>
              <a:off x="809625" y="1571625"/>
              <a:ext cx="18096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0" dirty="0">
                  <a:solidFill>
                    <a:srgbClr val="0F766E"/>
                  </a:solidFill>
                  <a:latin typeface="Poppins ExtraBold"/>
                  <a:ea typeface="Poppins ExtraBold"/>
                  <a:cs typeface="Poppins ExtraBold"/>
                  <a:sym typeface="Poppins ExtraBold"/>
                </a:rPr>
                <a:t>1</a:t>
              </a:r>
              <a:r>
                <a:rPr lang="en-US" sz="1000" b="1" dirty="0">
                  <a:solidFill>
                    <a:srgbClr val="0F766E"/>
                  </a:solidFill>
                  <a:latin typeface="Poppins"/>
                  <a:ea typeface="Poppins"/>
                  <a:cs typeface="Poppins"/>
                  <a:sym typeface="Poppins"/>
                </a:rPr>
                <a:t>Input Layer</a:t>
              </a:r>
              <a:endParaRPr dirty="0"/>
            </a:p>
            <a:p>
              <a:pPr marL="0" lvl="0" indent="0" algn="l" rtl="0">
                <a:spcBef>
                  <a:spcPts val="450"/>
                </a:spcBef>
                <a:spcAft>
                  <a:spcPts val="0"/>
                </a:spcAft>
                <a:buNone/>
              </a:pPr>
              <a:r>
                <a:rPr lang="en-US" sz="723" b="0" dirty="0">
                  <a:solidFill>
                    <a:srgbClr val="1E293B"/>
                  </a:solidFill>
                  <a:latin typeface="Inter Medium"/>
                  <a:ea typeface="Inter Medium"/>
                  <a:cs typeface="Inter Medium"/>
                  <a:sym typeface="Inter Medium"/>
                </a:rPr>
                <a:t>📄 </a:t>
              </a:r>
              <a:r>
                <a:rPr lang="en-US" sz="723" b="0" dirty="0" smtClean="0">
                  <a:solidFill>
                    <a:srgbClr val="1E293B"/>
                  </a:solidFill>
                  <a:latin typeface="Inter Medium"/>
                  <a:ea typeface="Inter Medium"/>
                  <a:cs typeface="Inter Medium"/>
                  <a:sym typeface="Inter Medium"/>
                </a:rPr>
                <a:t>  Banking </a:t>
              </a:r>
              <a:r>
                <a:rPr lang="en-US" sz="723" b="0" dirty="0">
                  <a:solidFill>
                    <a:srgbClr val="1E293B"/>
                  </a:solidFill>
                  <a:latin typeface="Inter Medium"/>
                  <a:ea typeface="Inter Medium"/>
                  <a:cs typeface="Inter Medium"/>
                  <a:sym typeface="Inter Medium"/>
                </a:rPr>
                <a:t>Contracts</a:t>
              </a:r>
              <a:endParaRPr sz="723" b="0" dirty="0">
                <a:solidFill>
                  <a:srgbClr val="1E293B"/>
                </a:solidFill>
                <a:latin typeface="Inter Medium"/>
                <a:ea typeface="Inter Medium"/>
                <a:cs typeface="Inter Medium"/>
                <a:sym typeface="Inter Medium"/>
              </a:endParaRPr>
            </a:p>
            <a:p>
              <a:pPr marL="0" lvl="0" indent="0" algn="l" rtl="0">
                <a:spcBef>
                  <a:spcPts val="0"/>
                </a:spcBef>
                <a:spcAft>
                  <a:spcPts val="0"/>
                </a:spcAft>
                <a:buNone/>
              </a:pPr>
              <a:r>
                <a:rPr lang="en-US" sz="723" b="0" dirty="0">
                  <a:solidFill>
                    <a:srgbClr val="1E293B"/>
                  </a:solidFill>
                  <a:latin typeface="Inter Medium"/>
                  <a:ea typeface="Inter Medium"/>
                  <a:cs typeface="Inter Medium"/>
                  <a:sym typeface="Inter Medium"/>
                </a:rPr>
                <a:t>📄 </a:t>
              </a:r>
              <a:r>
                <a:rPr lang="en-US" sz="723" b="0" dirty="0" smtClean="0">
                  <a:solidFill>
                    <a:srgbClr val="1E293B"/>
                  </a:solidFill>
                  <a:latin typeface="Inter Medium"/>
                  <a:ea typeface="Inter Medium"/>
                  <a:cs typeface="Inter Medium"/>
                  <a:sym typeface="Inter Medium"/>
                </a:rPr>
                <a:t>  RBI </a:t>
              </a:r>
              <a:r>
                <a:rPr lang="en-US" sz="723" b="0" dirty="0">
                  <a:solidFill>
                    <a:srgbClr val="1E293B"/>
                  </a:solidFill>
                  <a:latin typeface="Inter Medium"/>
                  <a:ea typeface="Inter Medium"/>
                  <a:cs typeface="Inter Medium"/>
                  <a:sym typeface="Inter Medium"/>
                </a:rPr>
                <a:t>Circulars</a:t>
              </a:r>
              <a:endParaRPr sz="723" b="0" dirty="0">
                <a:solidFill>
                  <a:srgbClr val="1E293B"/>
                </a:solidFill>
                <a:latin typeface="Inter Medium"/>
                <a:ea typeface="Inter Medium"/>
                <a:cs typeface="Inter Medium"/>
                <a:sym typeface="Inter Medium"/>
              </a:endParaRPr>
            </a:p>
            <a:p>
              <a:pPr marL="0" lvl="0" indent="0" algn="l" rtl="0">
                <a:spcBef>
                  <a:spcPts val="0"/>
                </a:spcBef>
                <a:spcAft>
                  <a:spcPts val="0"/>
                </a:spcAft>
                <a:buNone/>
              </a:pPr>
              <a:r>
                <a:rPr lang="en-US" sz="723" b="0" dirty="0">
                  <a:solidFill>
                    <a:srgbClr val="1E293B"/>
                  </a:solidFill>
                  <a:latin typeface="Inter Medium"/>
                  <a:ea typeface="Inter Medium"/>
                  <a:cs typeface="Inter Medium"/>
                  <a:sym typeface="Inter Medium"/>
                </a:rPr>
                <a:t>📄 </a:t>
              </a:r>
              <a:r>
                <a:rPr lang="en-US" sz="723" b="0" dirty="0" smtClean="0">
                  <a:solidFill>
                    <a:srgbClr val="1E293B"/>
                  </a:solidFill>
                  <a:latin typeface="Inter Medium"/>
                  <a:ea typeface="Inter Medium"/>
                  <a:cs typeface="Inter Medium"/>
                  <a:sym typeface="Inter Medium"/>
                </a:rPr>
                <a:t>  Internal </a:t>
              </a:r>
              <a:r>
                <a:rPr lang="en-US" sz="723" b="0" dirty="0">
                  <a:solidFill>
                    <a:srgbClr val="1E293B"/>
                  </a:solidFill>
                  <a:latin typeface="Inter Medium"/>
                  <a:ea typeface="Inter Medium"/>
                  <a:cs typeface="Inter Medium"/>
                  <a:sym typeface="Inter Medium"/>
                </a:rPr>
                <a:t>Policies</a:t>
              </a:r>
              <a:endParaRPr sz="723" b="0" dirty="0">
                <a:solidFill>
                  <a:srgbClr val="1E293B"/>
                </a:solidFill>
                <a:latin typeface="Inter Medium"/>
                <a:ea typeface="Inter Medium"/>
                <a:cs typeface="Inter Medium"/>
                <a:sym typeface="Inter Medium"/>
              </a:endParaRPr>
            </a:p>
          </p:txBody>
        </p:sp>
      </p:grpSp>
      <p:pic>
        <p:nvPicPr>
          <p:cNvPr id="313" name="Google Shape;313;p22"/>
          <p:cNvPicPr preferRelativeResize="0"/>
          <p:nvPr/>
        </p:nvPicPr>
        <p:blipFill rotWithShape="1">
          <a:blip r:embed="rId5">
            <a:alphaModFix/>
          </a:blip>
          <a:srcRect/>
          <a:stretch/>
        </p:blipFill>
        <p:spPr>
          <a:xfrm>
            <a:off x="2771775" y="1957388"/>
            <a:ext cx="342900" cy="85800"/>
          </a:xfrm>
          <a:prstGeom prst="rect">
            <a:avLst/>
          </a:prstGeom>
          <a:noFill/>
          <a:ln>
            <a:noFill/>
          </a:ln>
        </p:spPr>
      </p:pic>
      <p:grpSp>
        <p:nvGrpSpPr>
          <p:cNvPr id="3" name="Google Shape;314;p22"/>
          <p:cNvGrpSpPr/>
          <p:nvPr/>
        </p:nvGrpSpPr>
        <p:grpSpPr>
          <a:xfrm>
            <a:off x="3143250" y="1466850"/>
            <a:ext cx="2209800" cy="1066800"/>
            <a:chOff x="3143250" y="1466850"/>
            <a:chExt cx="2209800" cy="1066800"/>
          </a:xfrm>
        </p:grpSpPr>
        <p:pic>
          <p:nvPicPr>
            <p:cNvPr id="315" name="Google Shape;315;p22"/>
            <p:cNvPicPr preferRelativeResize="0"/>
            <p:nvPr/>
          </p:nvPicPr>
          <p:blipFill rotWithShape="1">
            <a:blip r:embed="rId6">
              <a:alphaModFix/>
            </a:blip>
            <a:srcRect/>
            <a:stretch/>
          </p:blipFill>
          <p:spPr>
            <a:xfrm>
              <a:off x="3143250" y="1466850"/>
              <a:ext cx="2209800" cy="1066800"/>
            </a:xfrm>
            <a:prstGeom prst="rect">
              <a:avLst/>
            </a:prstGeom>
            <a:noFill/>
            <a:ln>
              <a:noFill/>
            </a:ln>
          </p:spPr>
        </p:pic>
        <p:sp>
          <p:nvSpPr>
            <p:cNvPr id="316" name="Google Shape;316;p22"/>
            <p:cNvSpPr txBox="1"/>
            <p:nvPr/>
          </p:nvSpPr>
          <p:spPr>
            <a:xfrm>
              <a:off x="3286125" y="1571625"/>
              <a:ext cx="19050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0">
                  <a:solidFill>
                    <a:srgbClr val="0F766E"/>
                  </a:solidFill>
                  <a:latin typeface="Poppins ExtraBold"/>
                  <a:ea typeface="Poppins ExtraBold"/>
                  <a:cs typeface="Poppins ExtraBold"/>
                  <a:sym typeface="Poppins ExtraBold"/>
                </a:rPr>
                <a:t>2</a:t>
              </a:r>
              <a:r>
                <a:rPr lang="en-US" sz="1000" b="1">
                  <a:solidFill>
                    <a:srgbClr val="166534"/>
                  </a:solidFill>
                  <a:latin typeface="Poppins"/>
                  <a:ea typeface="Poppins"/>
                  <a:cs typeface="Poppins"/>
                  <a:sym typeface="Poppins"/>
                </a:rPr>
                <a:t>Doc Intelligence</a:t>
              </a:r>
              <a:endParaRPr/>
            </a:p>
            <a:p>
              <a:pPr marL="0" lvl="0" indent="0" algn="l" rtl="0">
                <a:spcBef>
                  <a:spcPts val="450"/>
                </a:spcBef>
                <a:spcAft>
                  <a:spcPts val="0"/>
                </a:spcAft>
                <a:buNone/>
              </a:pPr>
              <a:r>
                <a:rPr lang="en-US" sz="723" b="0">
                  <a:solidFill>
                    <a:srgbClr val="14532D"/>
                  </a:solidFill>
                  <a:latin typeface="Inter Medium"/>
                  <a:ea typeface="Inter Medium"/>
                  <a:cs typeface="Inter Medium"/>
                  <a:sym typeface="Inter Medium"/>
                </a:rPr>
                <a:t>LayoutLMv3 + OCR</a:t>
              </a:r>
              <a:endParaRPr sz="723" b="0">
                <a:solidFill>
                  <a:srgbClr val="14532D"/>
                </a:solidFill>
                <a:latin typeface="Inter Medium"/>
                <a:ea typeface="Inter Medium"/>
                <a:cs typeface="Inter Medium"/>
                <a:sym typeface="Inter Medium"/>
              </a:endParaRPr>
            </a:p>
            <a:p>
              <a:pPr marL="0" lvl="0" indent="0" algn="l" rtl="0">
                <a:spcBef>
                  <a:spcPts val="150"/>
                </a:spcBef>
                <a:spcAft>
                  <a:spcPts val="0"/>
                </a:spcAft>
                <a:buNone/>
              </a:pPr>
              <a:r>
                <a:rPr lang="en-US" sz="800" b="0">
                  <a:solidFill>
                    <a:srgbClr val="64748B"/>
                  </a:solidFill>
                  <a:latin typeface="Inter"/>
                  <a:ea typeface="Inter"/>
                  <a:cs typeface="Inter"/>
                  <a:sym typeface="Inter"/>
                </a:rPr>
                <a:t>Visual Layout Analysis</a:t>
              </a:r>
              <a:endParaRPr sz="800" b="0">
                <a:solidFill>
                  <a:srgbClr val="64748B"/>
                </a:solidFill>
                <a:latin typeface="Inter"/>
                <a:ea typeface="Inter"/>
                <a:cs typeface="Inter"/>
                <a:sym typeface="Inter"/>
              </a:endParaRPr>
            </a:p>
            <a:p>
              <a:pPr marL="0" lvl="0" indent="0" algn="l" rtl="0">
                <a:spcBef>
                  <a:spcPts val="0"/>
                </a:spcBef>
                <a:spcAft>
                  <a:spcPts val="0"/>
                </a:spcAft>
                <a:buNone/>
              </a:pPr>
              <a:r>
                <a:rPr lang="en-US" sz="723" b="0">
                  <a:solidFill>
                    <a:srgbClr val="14532D"/>
                  </a:solidFill>
                  <a:latin typeface="Inter Medium"/>
                  <a:ea typeface="Inter Medium"/>
                  <a:cs typeface="Inter Medium"/>
                  <a:sym typeface="Inter Medium"/>
                </a:rPr>
                <a:t>Legal-BERT</a:t>
              </a:r>
              <a:endParaRPr sz="723" b="0">
                <a:solidFill>
                  <a:srgbClr val="14532D"/>
                </a:solidFill>
                <a:latin typeface="Inter Medium"/>
                <a:ea typeface="Inter Medium"/>
                <a:cs typeface="Inter Medium"/>
                <a:sym typeface="Inter Medium"/>
              </a:endParaRPr>
            </a:p>
            <a:p>
              <a:pPr marL="0" lvl="0" indent="0" algn="l" rtl="0">
                <a:spcBef>
                  <a:spcPts val="150"/>
                </a:spcBef>
                <a:spcAft>
                  <a:spcPts val="0"/>
                </a:spcAft>
                <a:buNone/>
              </a:pPr>
              <a:r>
                <a:rPr lang="en-US" sz="800" b="0">
                  <a:solidFill>
                    <a:srgbClr val="64748B"/>
                  </a:solidFill>
                  <a:latin typeface="Inter"/>
                  <a:ea typeface="Inter"/>
                  <a:cs typeface="Inter"/>
                  <a:sym typeface="Inter"/>
                </a:rPr>
                <a:t>Clause Classification</a:t>
              </a:r>
              <a:endParaRPr sz="800" b="0">
                <a:solidFill>
                  <a:srgbClr val="64748B"/>
                </a:solidFill>
                <a:latin typeface="Inter"/>
                <a:ea typeface="Inter"/>
                <a:cs typeface="Inter"/>
                <a:sym typeface="Inter"/>
              </a:endParaRPr>
            </a:p>
          </p:txBody>
        </p:sp>
      </p:grpSp>
      <p:pic>
        <p:nvPicPr>
          <p:cNvPr id="317" name="Google Shape;317;p22"/>
          <p:cNvPicPr preferRelativeResize="0"/>
          <p:nvPr/>
        </p:nvPicPr>
        <p:blipFill rotWithShape="1">
          <a:blip r:embed="rId7">
            <a:alphaModFix/>
          </a:blip>
          <a:srcRect/>
          <a:stretch/>
        </p:blipFill>
        <p:spPr>
          <a:xfrm>
            <a:off x="5343525" y="1990725"/>
            <a:ext cx="285900" cy="19200"/>
          </a:xfrm>
          <a:prstGeom prst="rect">
            <a:avLst/>
          </a:prstGeom>
          <a:noFill/>
          <a:ln>
            <a:noFill/>
          </a:ln>
        </p:spPr>
      </p:pic>
      <p:grpSp>
        <p:nvGrpSpPr>
          <p:cNvPr id="4" name="Google Shape;318;p22"/>
          <p:cNvGrpSpPr/>
          <p:nvPr/>
        </p:nvGrpSpPr>
        <p:grpSpPr>
          <a:xfrm>
            <a:off x="5724525" y="1476375"/>
            <a:ext cx="5791200" cy="1428900"/>
            <a:chOff x="5724525" y="1476375"/>
            <a:chExt cx="5791200" cy="1428900"/>
          </a:xfrm>
        </p:grpSpPr>
        <p:sp>
          <p:nvSpPr>
            <p:cNvPr id="319" name="Google Shape;319;p22"/>
            <p:cNvSpPr/>
            <p:nvPr/>
          </p:nvSpPr>
          <p:spPr>
            <a:xfrm>
              <a:off x="5724525" y="1476375"/>
              <a:ext cx="5791200" cy="1428900"/>
            </a:xfrm>
            <a:prstGeom prst="roundRect">
              <a:avLst>
                <a:gd name="adj" fmla="val 5333"/>
              </a:avLst>
            </a:prstGeom>
            <a:solidFill>
              <a:srgbClr val="0F766E"/>
            </a:solidFill>
            <a:ln w="14300" cap="flat" cmpd="sng">
              <a:solidFill>
                <a:srgbClr val="0D948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0" name="Google Shape;320;p22"/>
            <p:cNvSpPr txBox="1"/>
            <p:nvPr/>
          </p:nvSpPr>
          <p:spPr>
            <a:xfrm>
              <a:off x="5857875" y="1571625"/>
              <a:ext cx="5524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0">
                  <a:solidFill>
                    <a:srgbClr val="CCFBF1"/>
                  </a:solidFill>
                  <a:latin typeface="Poppins ExtraBold"/>
                  <a:ea typeface="Poppins ExtraBold"/>
                  <a:cs typeface="Poppins ExtraBold"/>
                  <a:sym typeface="Poppins ExtraBold"/>
                </a:rPr>
                <a:t>3</a:t>
              </a:r>
              <a:r>
                <a:rPr lang="en-US" sz="1000" b="1">
                  <a:solidFill>
                    <a:srgbClr val="CCFBF1"/>
                  </a:solidFill>
                  <a:latin typeface="Poppins"/>
                  <a:ea typeface="Poppins"/>
                  <a:cs typeface="Poppins"/>
                  <a:sym typeface="Poppins"/>
                </a:rPr>
                <a:t>Agentic AI Layer (LangGraph Orchestrator)</a:t>
              </a:r>
              <a:endParaRPr/>
            </a:p>
          </p:txBody>
        </p:sp>
        <p:grpSp>
          <p:nvGrpSpPr>
            <p:cNvPr id="5" name="Google Shape;321;p22"/>
            <p:cNvGrpSpPr/>
            <p:nvPr/>
          </p:nvGrpSpPr>
          <p:grpSpPr>
            <a:xfrm>
              <a:off x="5857875" y="1905000"/>
              <a:ext cx="1714500" cy="571500"/>
              <a:chOff x="5857875" y="1905000"/>
              <a:chExt cx="1714500" cy="571500"/>
            </a:xfrm>
          </p:grpSpPr>
          <p:sp>
            <p:nvSpPr>
              <p:cNvPr id="322" name="Google Shape;322;p22"/>
              <p:cNvSpPr/>
              <p:nvPr/>
            </p:nvSpPr>
            <p:spPr>
              <a:xfrm>
                <a:off x="5857875" y="1905000"/>
                <a:ext cx="1714500" cy="571500"/>
              </a:xfrm>
              <a:prstGeom prst="roundRect">
                <a:avLst>
                  <a:gd name="adj" fmla="val 10000"/>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3" name="Google Shape;323;p22"/>
              <p:cNvSpPr txBox="1"/>
              <p:nvPr/>
            </p:nvSpPr>
            <p:spPr>
              <a:xfrm>
                <a:off x="5953125" y="1952625"/>
                <a:ext cx="1524000" cy="47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23" b="1">
                    <a:solidFill>
                      <a:srgbClr val="FFFFFF"/>
                    </a:solidFill>
                    <a:latin typeface="Poppins"/>
                    <a:ea typeface="Poppins"/>
                    <a:cs typeface="Poppins"/>
                    <a:sym typeface="Poppins"/>
                  </a:rPr>
                  <a:t>Obligation Extraction</a:t>
                </a:r>
                <a:endParaRPr sz="723" b="1">
                  <a:solidFill>
                    <a:srgbClr val="FFFFFF"/>
                  </a:solidFill>
                  <a:latin typeface="Poppins"/>
                  <a:ea typeface="Poppins"/>
                  <a:cs typeface="Poppins"/>
                  <a:sym typeface="Poppins"/>
                </a:endParaRPr>
              </a:p>
              <a:p>
                <a:pPr marL="0" lvl="0" indent="0" algn="ctr" rtl="0">
                  <a:spcBef>
                    <a:spcPts val="0"/>
                  </a:spcBef>
                  <a:spcAft>
                    <a:spcPts val="0"/>
                  </a:spcAft>
                  <a:buNone/>
                </a:pPr>
                <a:r>
                  <a:rPr lang="en-US" sz="638" b="0">
                    <a:solidFill>
                      <a:srgbClr val="CCFBF1"/>
                    </a:solidFill>
                    <a:latin typeface="Inter Medium"/>
                    <a:ea typeface="Inter Medium"/>
                    <a:cs typeface="Inter Medium"/>
                    <a:sym typeface="Inter Medium"/>
                  </a:rPr>
                  <a:t>Extracts commitments</a:t>
                </a:r>
                <a:endParaRPr sz="638" b="0">
                  <a:solidFill>
                    <a:srgbClr val="CCFBF1"/>
                  </a:solidFill>
                  <a:latin typeface="Inter Medium"/>
                  <a:ea typeface="Inter Medium"/>
                  <a:cs typeface="Inter Medium"/>
                  <a:sym typeface="Inter Medium"/>
                </a:endParaRPr>
              </a:p>
            </p:txBody>
          </p:sp>
        </p:grpSp>
        <p:grpSp>
          <p:nvGrpSpPr>
            <p:cNvPr id="6" name="Google Shape;324;p22"/>
            <p:cNvGrpSpPr/>
            <p:nvPr/>
          </p:nvGrpSpPr>
          <p:grpSpPr>
            <a:xfrm>
              <a:off x="7762875" y="1905000"/>
              <a:ext cx="1714500" cy="571500"/>
              <a:chOff x="7762875" y="1905000"/>
              <a:chExt cx="1714500" cy="571500"/>
            </a:xfrm>
          </p:grpSpPr>
          <p:sp>
            <p:nvSpPr>
              <p:cNvPr id="325" name="Google Shape;325;p22"/>
              <p:cNvSpPr/>
              <p:nvPr/>
            </p:nvSpPr>
            <p:spPr>
              <a:xfrm>
                <a:off x="7762875" y="1905000"/>
                <a:ext cx="1714500" cy="571500"/>
              </a:xfrm>
              <a:prstGeom prst="roundRect">
                <a:avLst>
                  <a:gd name="adj" fmla="val 10000"/>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6" name="Google Shape;326;p22"/>
              <p:cNvSpPr txBox="1"/>
              <p:nvPr/>
            </p:nvSpPr>
            <p:spPr>
              <a:xfrm>
                <a:off x="7858125" y="1952625"/>
                <a:ext cx="1524000" cy="47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23" b="1">
                    <a:solidFill>
                      <a:srgbClr val="FFFFFF"/>
                    </a:solidFill>
                    <a:latin typeface="Poppins"/>
                    <a:ea typeface="Poppins"/>
                    <a:cs typeface="Poppins"/>
                    <a:sym typeface="Poppins"/>
                  </a:rPr>
                  <a:t>Risk Analysis</a:t>
                </a:r>
                <a:endParaRPr sz="723" b="1">
                  <a:solidFill>
                    <a:srgbClr val="FFFFFF"/>
                  </a:solidFill>
                  <a:latin typeface="Poppins"/>
                  <a:ea typeface="Poppins"/>
                  <a:cs typeface="Poppins"/>
                  <a:sym typeface="Poppins"/>
                </a:endParaRPr>
              </a:p>
              <a:p>
                <a:pPr marL="0" lvl="0" indent="0" algn="ctr" rtl="0">
                  <a:spcBef>
                    <a:spcPts val="0"/>
                  </a:spcBef>
                  <a:spcAft>
                    <a:spcPts val="0"/>
                  </a:spcAft>
                  <a:buNone/>
                </a:pPr>
                <a:r>
                  <a:rPr lang="en-US" sz="638" b="0">
                    <a:solidFill>
                      <a:srgbClr val="CCFBF1"/>
                    </a:solidFill>
                    <a:latin typeface="Inter Medium"/>
                    <a:ea typeface="Inter Medium"/>
                    <a:cs typeface="Inter Medium"/>
                    <a:sym typeface="Inter Medium"/>
                  </a:rPr>
                  <a:t>Identifies compliance gaps</a:t>
                </a:r>
                <a:endParaRPr sz="638" b="0">
                  <a:solidFill>
                    <a:srgbClr val="CCFBF1"/>
                  </a:solidFill>
                  <a:latin typeface="Inter Medium"/>
                  <a:ea typeface="Inter Medium"/>
                  <a:cs typeface="Inter Medium"/>
                  <a:sym typeface="Inter Medium"/>
                </a:endParaRPr>
              </a:p>
            </p:txBody>
          </p:sp>
        </p:grpSp>
        <p:grpSp>
          <p:nvGrpSpPr>
            <p:cNvPr id="7" name="Google Shape;327;p22"/>
            <p:cNvGrpSpPr/>
            <p:nvPr/>
          </p:nvGrpSpPr>
          <p:grpSpPr>
            <a:xfrm>
              <a:off x="9667875" y="1905000"/>
              <a:ext cx="1714500" cy="571500"/>
              <a:chOff x="9667875" y="1905000"/>
              <a:chExt cx="1714500" cy="571500"/>
            </a:xfrm>
          </p:grpSpPr>
          <p:sp>
            <p:nvSpPr>
              <p:cNvPr id="328" name="Google Shape;328;p22"/>
              <p:cNvSpPr/>
              <p:nvPr/>
            </p:nvSpPr>
            <p:spPr>
              <a:xfrm>
                <a:off x="9667875" y="1905000"/>
                <a:ext cx="1714500" cy="571500"/>
              </a:xfrm>
              <a:prstGeom prst="roundRect">
                <a:avLst>
                  <a:gd name="adj" fmla="val 10000"/>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9" name="Google Shape;329;p22"/>
              <p:cNvSpPr txBox="1"/>
              <p:nvPr/>
            </p:nvSpPr>
            <p:spPr>
              <a:xfrm>
                <a:off x="9763125" y="1952625"/>
                <a:ext cx="1524000" cy="47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23" b="1">
                    <a:solidFill>
                      <a:srgbClr val="FFFFFF"/>
                    </a:solidFill>
                    <a:latin typeface="Poppins"/>
                    <a:ea typeface="Poppins"/>
                    <a:cs typeface="Poppins"/>
                    <a:sym typeface="Poppins"/>
                  </a:rPr>
                  <a:t>Compliance Reporting</a:t>
                </a:r>
                <a:endParaRPr sz="723" b="1">
                  <a:solidFill>
                    <a:srgbClr val="FFFFFF"/>
                  </a:solidFill>
                  <a:latin typeface="Poppins"/>
                  <a:ea typeface="Poppins"/>
                  <a:cs typeface="Poppins"/>
                  <a:sym typeface="Poppins"/>
                </a:endParaRPr>
              </a:p>
              <a:p>
                <a:pPr marL="0" lvl="0" indent="0" algn="ctr" rtl="0">
                  <a:spcBef>
                    <a:spcPts val="0"/>
                  </a:spcBef>
                  <a:spcAft>
                    <a:spcPts val="0"/>
                  </a:spcAft>
                  <a:buNone/>
                </a:pPr>
                <a:r>
                  <a:rPr lang="en-US" sz="638" b="0">
                    <a:solidFill>
                      <a:srgbClr val="CCFBF1"/>
                    </a:solidFill>
                    <a:latin typeface="Inter Medium"/>
                    <a:ea typeface="Inter Medium"/>
                    <a:cs typeface="Inter Medium"/>
                    <a:sym typeface="Inter Medium"/>
                  </a:rPr>
                  <a:t>Generates audit ready PDFs</a:t>
                </a:r>
                <a:endParaRPr sz="638" b="0">
                  <a:solidFill>
                    <a:srgbClr val="CCFBF1"/>
                  </a:solidFill>
                  <a:latin typeface="Inter Medium"/>
                  <a:ea typeface="Inter Medium"/>
                  <a:cs typeface="Inter Medium"/>
                  <a:sym typeface="Inter Medium"/>
                </a:endParaRPr>
              </a:p>
            </p:txBody>
          </p:sp>
        </p:grpSp>
        <p:sp>
          <p:nvSpPr>
            <p:cNvPr id="330" name="Google Shape;330;p22"/>
            <p:cNvSpPr/>
            <p:nvPr/>
          </p:nvSpPr>
          <p:spPr>
            <a:xfrm>
              <a:off x="5857875" y="2571750"/>
              <a:ext cx="5524500" cy="238200"/>
            </a:xfrm>
            <a:prstGeom prst="roundRect">
              <a:avLst>
                <a:gd name="adj" fmla="val 16000"/>
              </a:avLst>
            </a:prstGeom>
            <a:solidFill>
              <a:srgbClr val="115E5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1" name="Google Shape;331;p22"/>
            <p:cNvSpPr txBox="1"/>
            <p:nvPr/>
          </p:nvSpPr>
          <p:spPr>
            <a:xfrm>
              <a:off x="5857875" y="2571750"/>
              <a:ext cx="5524500" cy="238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1">
                  <a:solidFill>
                    <a:srgbClr val="CCFBF1"/>
                  </a:solidFill>
                  <a:latin typeface="Poppins"/>
                  <a:ea typeface="Poppins"/>
                  <a:cs typeface="Poppins"/>
                  <a:sym typeface="Poppins"/>
                </a:rPr>
                <a:t>SHARED AGENT STATE (THREADING &amp; CONTEXT)</a:t>
              </a:r>
              <a:endParaRPr sz="800" b="1">
                <a:solidFill>
                  <a:srgbClr val="CCFBF1"/>
                </a:solidFill>
                <a:latin typeface="Poppins"/>
                <a:ea typeface="Poppins"/>
                <a:cs typeface="Poppins"/>
                <a:sym typeface="Poppins"/>
              </a:endParaRPr>
            </a:p>
          </p:txBody>
        </p:sp>
      </p:grpSp>
      <p:pic>
        <p:nvPicPr>
          <p:cNvPr id="332" name="Google Shape;332;p22"/>
          <p:cNvPicPr preferRelativeResize="0"/>
          <p:nvPr/>
        </p:nvPicPr>
        <p:blipFill rotWithShape="1">
          <a:blip r:embed="rId8">
            <a:alphaModFix/>
          </a:blip>
          <a:srcRect/>
          <a:stretch/>
        </p:blipFill>
        <p:spPr>
          <a:xfrm>
            <a:off x="8610600" y="2905125"/>
            <a:ext cx="19200" cy="238200"/>
          </a:xfrm>
          <a:prstGeom prst="rect">
            <a:avLst/>
          </a:prstGeom>
          <a:noFill/>
          <a:ln>
            <a:noFill/>
          </a:ln>
        </p:spPr>
      </p:pic>
      <p:grpSp>
        <p:nvGrpSpPr>
          <p:cNvPr id="8" name="Google Shape;333;p22"/>
          <p:cNvGrpSpPr/>
          <p:nvPr/>
        </p:nvGrpSpPr>
        <p:grpSpPr>
          <a:xfrm>
            <a:off x="5715000" y="3228975"/>
            <a:ext cx="5810400" cy="1114500"/>
            <a:chOff x="5715000" y="3228975"/>
            <a:chExt cx="5810400" cy="1114500"/>
          </a:xfrm>
        </p:grpSpPr>
        <p:pic>
          <p:nvPicPr>
            <p:cNvPr id="334" name="Google Shape;334;p22"/>
            <p:cNvPicPr preferRelativeResize="0"/>
            <p:nvPr/>
          </p:nvPicPr>
          <p:blipFill rotWithShape="1">
            <a:blip r:embed="rId9">
              <a:alphaModFix/>
            </a:blip>
            <a:srcRect/>
            <a:stretch/>
          </p:blipFill>
          <p:spPr>
            <a:xfrm>
              <a:off x="5715000" y="3228975"/>
              <a:ext cx="5810400" cy="1114500"/>
            </a:xfrm>
            <a:prstGeom prst="rect">
              <a:avLst/>
            </a:prstGeom>
            <a:noFill/>
            <a:ln>
              <a:noFill/>
            </a:ln>
          </p:spPr>
        </p:pic>
        <p:sp>
          <p:nvSpPr>
            <p:cNvPr id="335" name="Google Shape;335;p22"/>
            <p:cNvSpPr txBox="1"/>
            <p:nvPr/>
          </p:nvSpPr>
          <p:spPr>
            <a:xfrm>
              <a:off x="5857875" y="3314700"/>
              <a:ext cx="55245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0">
                  <a:solidFill>
                    <a:srgbClr val="6B21A8"/>
                  </a:solidFill>
                  <a:latin typeface="Poppins ExtraBold"/>
                  <a:ea typeface="Poppins ExtraBold"/>
                  <a:cs typeface="Poppins ExtraBold"/>
                  <a:sym typeface="Poppins ExtraBold"/>
                </a:rPr>
                <a:t>4</a:t>
              </a:r>
              <a:r>
                <a:rPr lang="en-US" sz="900" b="1">
                  <a:solidFill>
                    <a:srgbClr val="6B21A8"/>
                  </a:solidFill>
                  <a:latin typeface="Poppins"/>
                  <a:ea typeface="Poppins"/>
                  <a:cs typeface="Poppins"/>
                  <a:sym typeface="Poppins"/>
                </a:rPr>
                <a:t>Enterprise Integration (Model Context Protocol - MCP)</a:t>
              </a:r>
              <a:endParaRPr/>
            </a:p>
          </p:txBody>
        </p:sp>
        <p:grpSp>
          <p:nvGrpSpPr>
            <p:cNvPr id="9" name="Google Shape;336;p22"/>
            <p:cNvGrpSpPr/>
            <p:nvPr/>
          </p:nvGrpSpPr>
          <p:grpSpPr>
            <a:xfrm>
              <a:off x="5857875" y="3600450"/>
              <a:ext cx="1714500" cy="619200"/>
              <a:chOff x="5857875" y="3600450"/>
              <a:chExt cx="1714500" cy="619200"/>
            </a:xfrm>
          </p:grpSpPr>
          <p:sp>
            <p:nvSpPr>
              <p:cNvPr id="337" name="Google Shape;337;p22"/>
              <p:cNvSpPr/>
              <p:nvPr/>
            </p:nvSpPr>
            <p:spPr>
              <a:xfrm>
                <a:off x="5857875" y="3600450"/>
                <a:ext cx="1714500" cy="619200"/>
              </a:xfrm>
              <a:prstGeom prst="roundRect">
                <a:avLst>
                  <a:gd name="adj" fmla="val 9230"/>
                </a:avLst>
              </a:prstGeom>
              <a:solidFill>
                <a:srgbClr val="FFFFFF"/>
              </a:solidFill>
              <a:ln w="9525" cap="flat" cmpd="sng">
                <a:solidFill>
                  <a:srgbClr val="E9D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8" name="Google Shape;338;p22"/>
              <p:cNvSpPr txBox="1"/>
              <p:nvPr/>
            </p:nvSpPr>
            <p:spPr>
              <a:xfrm>
                <a:off x="5953125" y="3657600"/>
                <a:ext cx="1524000" cy="504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23" b="1">
                    <a:solidFill>
                      <a:srgbClr val="1E293B"/>
                    </a:solidFill>
                    <a:latin typeface="Poppins"/>
                    <a:ea typeface="Poppins"/>
                    <a:cs typeface="Poppins"/>
                    <a:sym typeface="Poppins"/>
                  </a:rPr>
                  <a:t>Policy Repository</a:t>
                </a:r>
                <a:endParaRPr sz="723" b="1">
                  <a:solidFill>
                    <a:srgbClr val="1E293B"/>
                  </a:solidFill>
                  <a:latin typeface="Poppins"/>
                  <a:ea typeface="Poppins"/>
                  <a:cs typeface="Poppins"/>
                  <a:sym typeface="Poppins"/>
                </a:endParaRPr>
              </a:p>
              <a:p>
                <a:pPr marL="0" lvl="0" indent="0" algn="ctr" rtl="0">
                  <a:spcBef>
                    <a:spcPts val="0"/>
                  </a:spcBef>
                  <a:spcAft>
                    <a:spcPts val="0"/>
                  </a:spcAft>
                  <a:buNone/>
                </a:pPr>
                <a:r>
                  <a:rPr lang="en-US" sz="638" b="0">
                    <a:solidFill>
                      <a:srgbClr val="475569"/>
                    </a:solidFill>
                    <a:latin typeface="Inter"/>
                    <a:ea typeface="Inter"/>
                    <a:cs typeface="Inter"/>
                    <a:sym typeface="Inter"/>
                  </a:rPr>
                  <a:t>Internal operational &amp; lending rules</a:t>
                </a:r>
                <a:endParaRPr sz="638" b="0">
                  <a:solidFill>
                    <a:srgbClr val="475569"/>
                  </a:solidFill>
                  <a:latin typeface="Inter"/>
                  <a:ea typeface="Inter"/>
                  <a:cs typeface="Inter"/>
                  <a:sym typeface="Inter"/>
                </a:endParaRPr>
              </a:p>
            </p:txBody>
          </p:sp>
        </p:grpSp>
        <p:grpSp>
          <p:nvGrpSpPr>
            <p:cNvPr id="10" name="Google Shape;339;p22"/>
            <p:cNvGrpSpPr/>
            <p:nvPr/>
          </p:nvGrpSpPr>
          <p:grpSpPr>
            <a:xfrm>
              <a:off x="7762875" y="3600450"/>
              <a:ext cx="1714500" cy="619200"/>
              <a:chOff x="7762875" y="3600450"/>
              <a:chExt cx="1714500" cy="619200"/>
            </a:xfrm>
          </p:grpSpPr>
          <p:sp>
            <p:nvSpPr>
              <p:cNvPr id="340" name="Google Shape;340;p22"/>
              <p:cNvSpPr/>
              <p:nvPr/>
            </p:nvSpPr>
            <p:spPr>
              <a:xfrm>
                <a:off x="7762875" y="3600450"/>
                <a:ext cx="1714500" cy="619200"/>
              </a:xfrm>
              <a:prstGeom prst="roundRect">
                <a:avLst>
                  <a:gd name="adj" fmla="val 9230"/>
                </a:avLst>
              </a:prstGeom>
              <a:solidFill>
                <a:srgbClr val="FFFFFF"/>
              </a:solidFill>
              <a:ln w="9525" cap="flat" cmpd="sng">
                <a:solidFill>
                  <a:srgbClr val="E9D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1" name="Google Shape;341;p22"/>
              <p:cNvSpPr txBox="1"/>
              <p:nvPr/>
            </p:nvSpPr>
            <p:spPr>
              <a:xfrm>
                <a:off x="7858125" y="3657600"/>
                <a:ext cx="1524000" cy="504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23" b="1">
                    <a:solidFill>
                      <a:srgbClr val="1E293B"/>
                    </a:solidFill>
                    <a:latin typeface="Poppins"/>
                    <a:ea typeface="Poppins"/>
                    <a:cs typeface="Poppins"/>
                    <a:sym typeface="Poppins"/>
                  </a:rPr>
                  <a:t>Legal Database</a:t>
                </a:r>
                <a:endParaRPr sz="723" b="1">
                  <a:solidFill>
                    <a:srgbClr val="1E293B"/>
                  </a:solidFill>
                  <a:latin typeface="Poppins"/>
                  <a:ea typeface="Poppins"/>
                  <a:cs typeface="Poppins"/>
                  <a:sym typeface="Poppins"/>
                </a:endParaRPr>
              </a:p>
              <a:p>
                <a:pPr marL="0" lvl="0" indent="0" algn="ctr" rtl="0">
                  <a:spcBef>
                    <a:spcPts val="0"/>
                  </a:spcBef>
                  <a:spcAft>
                    <a:spcPts val="0"/>
                  </a:spcAft>
                  <a:buNone/>
                </a:pPr>
                <a:r>
                  <a:rPr lang="en-US" sz="638" b="0">
                    <a:solidFill>
                      <a:srgbClr val="475569"/>
                    </a:solidFill>
                    <a:latin typeface="Inter"/>
                    <a:ea typeface="Inter"/>
                    <a:cs typeface="Inter"/>
                    <a:sym typeface="Inter"/>
                  </a:rPr>
                  <a:t>Jurisprudence &amp; contract templates</a:t>
                </a:r>
                <a:endParaRPr sz="638" b="0">
                  <a:solidFill>
                    <a:srgbClr val="475569"/>
                  </a:solidFill>
                  <a:latin typeface="Inter"/>
                  <a:ea typeface="Inter"/>
                  <a:cs typeface="Inter"/>
                  <a:sym typeface="Inter"/>
                </a:endParaRPr>
              </a:p>
            </p:txBody>
          </p:sp>
        </p:grpSp>
        <p:grpSp>
          <p:nvGrpSpPr>
            <p:cNvPr id="11" name="Google Shape;342;p22"/>
            <p:cNvGrpSpPr/>
            <p:nvPr/>
          </p:nvGrpSpPr>
          <p:grpSpPr>
            <a:xfrm>
              <a:off x="9667875" y="3600450"/>
              <a:ext cx="1714500" cy="619200"/>
              <a:chOff x="9667875" y="3600450"/>
              <a:chExt cx="1714500" cy="619200"/>
            </a:xfrm>
          </p:grpSpPr>
          <p:sp>
            <p:nvSpPr>
              <p:cNvPr id="343" name="Google Shape;343;p22"/>
              <p:cNvSpPr/>
              <p:nvPr/>
            </p:nvSpPr>
            <p:spPr>
              <a:xfrm>
                <a:off x="9667875" y="3600450"/>
                <a:ext cx="1714500" cy="619200"/>
              </a:xfrm>
              <a:prstGeom prst="roundRect">
                <a:avLst>
                  <a:gd name="adj" fmla="val 9230"/>
                </a:avLst>
              </a:prstGeom>
              <a:solidFill>
                <a:srgbClr val="FFFFFF"/>
              </a:solidFill>
              <a:ln w="9525" cap="flat" cmpd="sng">
                <a:solidFill>
                  <a:srgbClr val="E9D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4" name="Google Shape;344;p22"/>
              <p:cNvSpPr txBox="1"/>
              <p:nvPr/>
            </p:nvSpPr>
            <p:spPr>
              <a:xfrm>
                <a:off x="9763125" y="3657600"/>
                <a:ext cx="1524000" cy="504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23" b="1">
                    <a:solidFill>
                      <a:srgbClr val="1E293B"/>
                    </a:solidFill>
                    <a:latin typeface="Poppins"/>
                    <a:ea typeface="Poppins"/>
                    <a:cs typeface="Poppins"/>
                    <a:sym typeface="Poppins"/>
                  </a:rPr>
                  <a:t>Regulatory Feed</a:t>
                </a:r>
                <a:endParaRPr sz="723" b="1">
                  <a:solidFill>
                    <a:srgbClr val="1E293B"/>
                  </a:solidFill>
                  <a:latin typeface="Poppins"/>
                  <a:ea typeface="Poppins"/>
                  <a:cs typeface="Poppins"/>
                  <a:sym typeface="Poppins"/>
                </a:endParaRPr>
              </a:p>
              <a:p>
                <a:pPr marL="0" lvl="0" indent="0" algn="ctr" rtl="0">
                  <a:spcBef>
                    <a:spcPts val="0"/>
                  </a:spcBef>
                  <a:spcAft>
                    <a:spcPts val="0"/>
                  </a:spcAft>
                  <a:buNone/>
                </a:pPr>
                <a:r>
                  <a:rPr lang="en-US" sz="638" b="0">
                    <a:solidFill>
                      <a:srgbClr val="475569"/>
                    </a:solidFill>
                    <a:latin typeface="Inter"/>
                    <a:ea typeface="Inter"/>
                    <a:cs typeface="Inter"/>
                    <a:sym typeface="Inter"/>
                  </a:rPr>
                  <a:t>Live RBI updates &amp; circular feeds</a:t>
                </a:r>
                <a:endParaRPr sz="638" b="0">
                  <a:solidFill>
                    <a:srgbClr val="475569"/>
                  </a:solidFill>
                  <a:latin typeface="Inter"/>
                  <a:ea typeface="Inter"/>
                  <a:cs typeface="Inter"/>
                  <a:sym typeface="Inter"/>
                </a:endParaRPr>
              </a:p>
            </p:txBody>
          </p:sp>
        </p:grpSp>
      </p:grpSp>
      <p:pic>
        <p:nvPicPr>
          <p:cNvPr id="345" name="Google Shape;345;p22"/>
          <p:cNvPicPr preferRelativeResize="0"/>
          <p:nvPr/>
        </p:nvPicPr>
        <p:blipFill rotWithShape="1">
          <a:blip r:embed="rId7">
            <a:alphaModFix/>
          </a:blip>
          <a:srcRect/>
          <a:stretch/>
        </p:blipFill>
        <p:spPr>
          <a:xfrm>
            <a:off x="2867025" y="4038600"/>
            <a:ext cx="285900" cy="19200"/>
          </a:xfrm>
          <a:prstGeom prst="rect">
            <a:avLst/>
          </a:prstGeom>
          <a:noFill/>
          <a:ln>
            <a:noFill/>
          </a:ln>
        </p:spPr>
      </p:pic>
      <p:grpSp>
        <p:nvGrpSpPr>
          <p:cNvPr id="12" name="Google Shape;346;p22"/>
          <p:cNvGrpSpPr/>
          <p:nvPr/>
        </p:nvGrpSpPr>
        <p:grpSpPr>
          <a:xfrm>
            <a:off x="666750" y="2657475"/>
            <a:ext cx="4686300" cy="2686200"/>
            <a:chOff x="666750" y="2657475"/>
            <a:chExt cx="4686300" cy="2686200"/>
          </a:xfrm>
        </p:grpSpPr>
        <p:pic>
          <p:nvPicPr>
            <p:cNvPr id="347" name="Google Shape;347;p22"/>
            <p:cNvPicPr preferRelativeResize="0"/>
            <p:nvPr/>
          </p:nvPicPr>
          <p:blipFill rotWithShape="1">
            <a:blip r:embed="rId10">
              <a:alphaModFix/>
            </a:blip>
            <a:srcRect/>
            <a:stretch/>
          </p:blipFill>
          <p:spPr>
            <a:xfrm>
              <a:off x="666750" y="2657475"/>
              <a:ext cx="4686300" cy="2686200"/>
            </a:xfrm>
            <a:prstGeom prst="rect">
              <a:avLst/>
            </a:prstGeom>
            <a:noFill/>
            <a:ln>
              <a:noFill/>
            </a:ln>
          </p:spPr>
        </p:pic>
        <p:sp>
          <p:nvSpPr>
            <p:cNvPr id="348" name="Google Shape;348;p22"/>
            <p:cNvSpPr txBox="1"/>
            <p:nvPr/>
          </p:nvSpPr>
          <p:spPr>
            <a:xfrm>
              <a:off x="809625" y="2781300"/>
              <a:ext cx="4381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0">
                  <a:solidFill>
                    <a:srgbClr val="0F766E"/>
                  </a:solidFill>
                  <a:latin typeface="Poppins ExtraBold"/>
                  <a:ea typeface="Poppins ExtraBold"/>
                  <a:cs typeface="Poppins ExtraBold"/>
                  <a:sym typeface="Poppins ExtraBold"/>
                </a:rPr>
                <a:t>5</a:t>
              </a:r>
              <a:r>
                <a:rPr lang="en-US" sz="1000" b="1">
                  <a:solidFill>
                    <a:srgbClr val="0F766E"/>
                  </a:solidFill>
                  <a:latin typeface="Poppins"/>
                  <a:ea typeface="Poppins"/>
                  <a:cs typeface="Poppins"/>
                  <a:sym typeface="Poppins"/>
                </a:rPr>
                <a:t>Trust, Explainability &amp; Safety Layer</a:t>
              </a:r>
              <a:endParaRPr/>
            </a:p>
          </p:txBody>
        </p:sp>
        <p:grpSp>
          <p:nvGrpSpPr>
            <p:cNvPr id="13" name="Google Shape;349;p22"/>
            <p:cNvGrpSpPr/>
            <p:nvPr/>
          </p:nvGrpSpPr>
          <p:grpSpPr>
            <a:xfrm>
              <a:off x="809625" y="3162300"/>
              <a:ext cx="2095500" cy="952500"/>
              <a:chOff x="809625" y="3162300"/>
              <a:chExt cx="2095500" cy="952500"/>
            </a:xfrm>
          </p:grpSpPr>
          <p:sp>
            <p:nvSpPr>
              <p:cNvPr id="350" name="Google Shape;350;p22"/>
              <p:cNvSpPr/>
              <p:nvPr/>
            </p:nvSpPr>
            <p:spPr>
              <a:xfrm>
                <a:off x="809625" y="3162300"/>
                <a:ext cx="2095500" cy="952500"/>
              </a:xfrm>
              <a:prstGeom prst="roundRect">
                <a:avLst>
                  <a:gd name="adj" fmla="val 6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1" name="Google Shape;351;p22"/>
              <p:cNvSpPr txBox="1"/>
              <p:nvPr/>
            </p:nvSpPr>
            <p:spPr>
              <a:xfrm>
                <a:off x="904875" y="3238500"/>
                <a:ext cx="1905000" cy="800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0F766E"/>
                    </a:solidFill>
                    <a:latin typeface="Poppins"/>
                    <a:ea typeface="Poppins"/>
                    <a:cs typeface="Poppins"/>
                    <a:sym typeface="Poppins"/>
                  </a:rPr>
                  <a:t>SHAP Explainability</a:t>
                </a:r>
                <a:endParaRPr sz="1000" b="1">
                  <a:solidFill>
                    <a:srgbClr val="0F766E"/>
                  </a:solidFill>
                  <a:latin typeface="Poppins"/>
                  <a:ea typeface="Poppins"/>
                  <a:cs typeface="Poppins"/>
                  <a:sym typeface="Poppins"/>
                </a:endParaRPr>
              </a:p>
              <a:p>
                <a:pPr marL="0" lvl="0" indent="0" algn="l" rtl="0">
                  <a:spcBef>
                    <a:spcPts val="150"/>
                  </a:spcBef>
                  <a:spcAft>
                    <a:spcPts val="0"/>
                  </a:spcAft>
                  <a:buNone/>
                </a:pPr>
                <a:r>
                  <a:rPr lang="en-US" sz="800" b="0">
                    <a:solidFill>
                      <a:srgbClr val="334155"/>
                    </a:solidFill>
                    <a:latin typeface="Inter SemiBold"/>
                    <a:ea typeface="Inter SemiBold"/>
                    <a:cs typeface="Inter SemiBold"/>
                    <a:sym typeface="Inter SemiBold"/>
                  </a:rPr>
                  <a:t>Feature Attribution Engine</a:t>
                </a:r>
                <a:endParaRPr sz="800" b="0">
                  <a:solidFill>
                    <a:srgbClr val="334155"/>
                  </a:solidFill>
                  <a:latin typeface="Inter SemiBold"/>
                  <a:ea typeface="Inter SemiBold"/>
                  <a:cs typeface="Inter SemiBold"/>
                  <a:sym typeface="Inter SemiBold"/>
                </a:endParaRPr>
              </a:p>
              <a:p>
                <a:pPr marL="0" lvl="0" indent="0" algn="l" rtl="0">
                  <a:spcBef>
                    <a:spcPts val="300"/>
                  </a:spcBef>
                  <a:spcAft>
                    <a:spcPts val="0"/>
                  </a:spcAft>
                  <a:buNone/>
                </a:pPr>
                <a:r>
                  <a:rPr lang="en-US" sz="638" b="0">
                    <a:solidFill>
                      <a:srgbClr val="475569"/>
                    </a:solidFill>
                    <a:latin typeface="Inter"/>
                    <a:ea typeface="Inter"/>
                    <a:cs typeface="Inter"/>
                    <a:sym typeface="Inter"/>
                  </a:rPr>
                  <a:t>Calculates token-level contribution scores to explain why specific clauses were flagged as high-risk.</a:t>
                </a:r>
                <a:endParaRPr sz="638" b="0">
                  <a:solidFill>
                    <a:srgbClr val="475569"/>
                  </a:solidFill>
                  <a:latin typeface="Inter"/>
                  <a:ea typeface="Inter"/>
                  <a:cs typeface="Inter"/>
                  <a:sym typeface="Inter"/>
                </a:endParaRPr>
              </a:p>
            </p:txBody>
          </p:sp>
        </p:grpSp>
        <p:grpSp>
          <p:nvGrpSpPr>
            <p:cNvPr id="14" name="Google Shape;352;p22"/>
            <p:cNvGrpSpPr/>
            <p:nvPr/>
          </p:nvGrpSpPr>
          <p:grpSpPr>
            <a:xfrm>
              <a:off x="3000375" y="3162300"/>
              <a:ext cx="2190900" cy="952500"/>
              <a:chOff x="3000375" y="3162300"/>
              <a:chExt cx="2190900" cy="952500"/>
            </a:xfrm>
          </p:grpSpPr>
          <p:sp>
            <p:nvSpPr>
              <p:cNvPr id="353" name="Google Shape;353;p22"/>
              <p:cNvSpPr/>
              <p:nvPr/>
            </p:nvSpPr>
            <p:spPr>
              <a:xfrm>
                <a:off x="3000375" y="3162300"/>
                <a:ext cx="2190900" cy="952500"/>
              </a:xfrm>
              <a:prstGeom prst="roundRect">
                <a:avLst>
                  <a:gd name="adj" fmla="val 6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4" name="Google Shape;354;p22"/>
              <p:cNvSpPr txBox="1"/>
              <p:nvPr/>
            </p:nvSpPr>
            <p:spPr>
              <a:xfrm>
                <a:off x="3095625" y="3238500"/>
                <a:ext cx="2000100" cy="800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dirty="0">
                    <a:solidFill>
                      <a:srgbClr val="D97706"/>
                    </a:solidFill>
                    <a:latin typeface="Poppins"/>
                    <a:ea typeface="Poppins"/>
                    <a:cs typeface="Poppins"/>
                    <a:sym typeface="Poppins"/>
                  </a:rPr>
                  <a:t>Guardrails AI</a:t>
                </a:r>
                <a:endParaRPr sz="1000" b="1" dirty="0">
                  <a:solidFill>
                    <a:srgbClr val="D97706"/>
                  </a:solidFill>
                  <a:latin typeface="Poppins"/>
                  <a:ea typeface="Poppins"/>
                  <a:cs typeface="Poppins"/>
                  <a:sym typeface="Poppins"/>
                </a:endParaRPr>
              </a:p>
              <a:p>
                <a:pPr marL="0" lvl="0" indent="0" algn="l" rtl="0">
                  <a:spcBef>
                    <a:spcPts val="150"/>
                  </a:spcBef>
                  <a:spcAft>
                    <a:spcPts val="0"/>
                  </a:spcAft>
                  <a:buNone/>
                </a:pPr>
                <a:r>
                  <a:rPr lang="en-US" sz="800" b="0" dirty="0">
                    <a:solidFill>
                      <a:srgbClr val="334155"/>
                    </a:solidFill>
                    <a:latin typeface="Inter SemiBold"/>
                    <a:ea typeface="Inter SemiBold"/>
                    <a:cs typeface="Inter SemiBold"/>
                    <a:sym typeface="Inter SemiBold"/>
                  </a:rPr>
                  <a:t>Runtime Validation Shield</a:t>
                </a:r>
                <a:endParaRPr sz="800" b="0" dirty="0">
                  <a:solidFill>
                    <a:srgbClr val="334155"/>
                  </a:solidFill>
                  <a:latin typeface="Inter SemiBold"/>
                  <a:ea typeface="Inter SemiBold"/>
                  <a:cs typeface="Inter SemiBold"/>
                  <a:sym typeface="Inter SemiBold"/>
                </a:endParaRPr>
              </a:p>
              <a:p>
                <a:pPr marL="0" lvl="0" indent="0" algn="l" rtl="0">
                  <a:spcBef>
                    <a:spcPts val="300"/>
                  </a:spcBef>
                  <a:spcAft>
                    <a:spcPts val="0"/>
                  </a:spcAft>
                  <a:buNone/>
                </a:pPr>
                <a:r>
                  <a:rPr lang="en-US" sz="638" b="0" dirty="0">
                    <a:solidFill>
                      <a:srgbClr val="475569"/>
                    </a:solidFill>
                    <a:latin typeface="Inter"/>
                    <a:ea typeface="Inter"/>
                    <a:cs typeface="Inter"/>
                    <a:sym typeface="Inter"/>
                  </a:rPr>
                  <a:t>Intercepts and validates structured LLM outputs to prevent hallucinations and enforce schema compliance.</a:t>
                </a:r>
                <a:endParaRPr sz="638" b="0" dirty="0">
                  <a:solidFill>
                    <a:srgbClr val="475569"/>
                  </a:solidFill>
                  <a:latin typeface="Inter"/>
                  <a:ea typeface="Inter"/>
                  <a:cs typeface="Inter"/>
                  <a:sym typeface="Inter"/>
                </a:endParaRPr>
              </a:p>
            </p:txBody>
          </p:sp>
        </p:grpSp>
        <p:sp>
          <p:nvSpPr>
            <p:cNvPr id="355" name="Google Shape;355;p22"/>
            <p:cNvSpPr/>
            <p:nvPr/>
          </p:nvSpPr>
          <p:spPr>
            <a:xfrm>
              <a:off x="809625" y="4210050"/>
              <a:ext cx="4381500" cy="1000200"/>
            </a:xfrm>
            <a:prstGeom prst="roundRect">
              <a:avLst>
                <a:gd name="adj" fmla="val 5714"/>
              </a:avLst>
            </a:prstGeom>
            <a:solidFill>
              <a:srgbClr val="F0FDFA"/>
            </a:solidFill>
            <a:ln w="9525" cap="flat" cmpd="sng">
              <a:solidFill>
                <a:srgbClr val="5EEAD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6" name="Google Shape;356;p22"/>
            <p:cNvSpPr txBox="1"/>
            <p:nvPr/>
          </p:nvSpPr>
          <p:spPr>
            <a:xfrm>
              <a:off x="952500" y="4305300"/>
              <a:ext cx="4095900" cy="80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50" b="1">
                  <a:solidFill>
                    <a:srgbClr val="0F766E"/>
                  </a:solidFill>
                  <a:latin typeface="Poppins"/>
                  <a:ea typeface="Poppins"/>
                  <a:cs typeface="Poppins"/>
                  <a:sym typeface="Poppins"/>
                </a:rPr>
                <a:t>🔒 Verifiable Decision Boundary Protection</a:t>
              </a:r>
              <a:endParaRPr sz="950" b="1">
                <a:solidFill>
                  <a:srgbClr val="0F766E"/>
                </a:solidFill>
                <a:latin typeface="Poppins"/>
                <a:ea typeface="Poppins"/>
                <a:cs typeface="Poppins"/>
                <a:sym typeface="Poppins"/>
              </a:endParaRPr>
            </a:p>
            <a:p>
              <a:pPr marL="0" lvl="0" indent="0" algn="l" rtl="0">
                <a:spcBef>
                  <a:spcPts val="300"/>
                </a:spcBef>
                <a:spcAft>
                  <a:spcPts val="0"/>
                </a:spcAft>
                <a:buNone/>
              </a:pPr>
              <a:r>
                <a:rPr lang="en-US" sz="638" b="1">
                  <a:solidFill>
                    <a:srgbClr val="0F766E"/>
                  </a:solidFill>
                  <a:latin typeface="Inter"/>
                  <a:ea typeface="Inter"/>
                  <a:cs typeface="Inter"/>
                  <a:sym typeface="Inter"/>
                </a:rPr>
                <a:t>HALLUCINATION SHIELD</a:t>
              </a:r>
              <a:endParaRPr sz="638" b="1">
                <a:solidFill>
                  <a:srgbClr val="0F766E"/>
                </a:solidFill>
                <a:latin typeface="Inter"/>
                <a:ea typeface="Inter"/>
                <a:cs typeface="Inter"/>
                <a:sym typeface="Inter"/>
              </a:endParaRPr>
            </a:p>
            <a:p>
              <a:pPr marL="0" lvl="0" indent="0" algn="l" rtl="0">
                <a:spcBef>
                  <a:spcPts val="0"/>
                </a:spcBef>
                <a:spcAft>
                  <a:spcPts val="0"/>
                </a:spcAft>
                <a:buNone/>
              </a:pPr>
              <a:r>
                <a:rPr lang="en-US" sz="638" b="0">
                  <a:solidFill>
                    <a:srgbClr val="475569"/>
                  </a:solidFill>
                  <a:latin typeface="Inter"/>
                  <a:ea typeface="Inter"/>
                  <a:cs typeface="Inter"/>
                  <a:sym typeface="Inter"/>
                </a:rPr>
                <a:t>Validates facts directly against verified sources via strict citation mapping.</a:t>
              </a:r>
              <a:endParaRPr sz="638" b="0">
                <a:solidFill>
                  <a:srgbClr val="475569"/>
                </a:solidFill>
                <a:latin typeface="Inter"/>
                <a:ea typeface="Inter"/>
                <a:cs typeface="Inter"/>
                <a:sym typeface="Inter"/>
              </a:endParaRPr>
            </a:p>
            <a:p>
              <a:pPr marL="0" lvl="0" indent="0" algn="l" rtl="0">
                <a:spcBef>
                  <a:spcPts val="0"/>
                </a:spcBef>
                <a:spcAft>
                  <a:spcPts val="0"/>
                </a:spcAft>
                <a:buNone/>
              </a:pPr>
              <a:r>
                <a:rPr lang="en-US" sz="638" b="1">
                  <a:solidFill>
                    <a:srgbClr val="0F766E"/>
                  </a:solidFill>
                  <a:latin typeface="Inter"/>
                  <a:ea typeface="Inter"/>
                  <a:cs typeface="Inter"/>
                  <a:sym typeface="Inter"/>
                </a:rPr>
                <a:t>SECURE AUDIT TRAIL</a:t>
              </a:r>
              <a:endParaRPr sz="638" b="1">
                <a:solidFill>
                  <a:srgbClr val="0F766E"/>
                </a:solidFill>
                <a:latin typeface="Inter"/>
                <a:ea typeface="Inter"/>
                <a:cs typeface="Inter"/>
                <a:sym typeface="Inter"/>
              </a:endParaRPr>
            </a:p>
            <a:p>
              <a:pPr marL="0" lvl="0" indent="0" algn="l" rtl="0">
                <a:spcBef>
                  <a:spcPts val="0"/>
                </a:spcBef>
                <a:spcAft>
                  <a:spcPts val="0"/>
                </a:spcAft>
                <a:buNone/>
              </a:pPr>
              <a:r>
                <a:rPr lang="en-US" sz="638" b="0">
                  <a:solidFill>
                    <a:srgbClr val="475569"/>
                  </a:solidFill>
                  <a:latin typeface="Inter"/>
                  <a:ea typeface="Inter"/>
                  <a:cs typeface="Inter"/>
                  <a:sym typeface="Inter"/>
                </a:rPr>
                <a:t>Generates mathematical proof of compliance steps for regulators.</a:t>
              </a:r>
              <a:endParaRPr sz="638" b="0">
                <a:solidFill>
                  <a:srgbClr val="475569"/>
                </a:solidFill>
                <a:latin typeface="Inter"/>
                <a:ea typeface="Inter"/>
                <a:cs typeface="Inter"/>
                <a:sym typeface="Inter"/>
              </a:endParaRPr>
            </a:p>
          </p:txBody>
        </p:sp>
      </p:grpSp>
      <p:pic>
        <p:nvPicPr>
          <p:cNvPr id="357" name="Google Shape;357;p22"/>
          <p:cNvPicPr preferRelativeResize="0"/>
          <p:nvPr/>
        </p:nvPicPr>
        <p:blipFill rotWithShape="1">
          <a:blip r:embed="rId11">
            <a:alphaModFix/>
          </a:blip>
          <a:srcRect/>
          <a:stretch/>
        </p:blipFill>
        <p:spPr>
          <a:xfrm>
            <a:off x="1133475" y="2524125"/>
            <a:ext cx="19200" cy="142800"/>
          </a:xfrm>
          <a:prstGeom prst="rect">
            <a:avLst/>
          </a:prstGeom>
          <a:noFill/>
          <a:ln>
            <a:noFill/>
          </a:ln>
        </p:spPr>
      </p:pic>
      <p:pic>
        <p:nvPicPr>
          <p:cNvPr id="358" name="Google Shape;358;p22"/>
          <p:cNvPicPr preferRelativeResize="0"/>
          <p:nvPr/>
        </p:nvPicPr>
        <p:blipFill rotWithShape="1">
          <a:blip r:embed="rId11">
            <a:alphaModFix/>
          </a:blip>
          <a:srcRect/>
          <a:stretch/>
        </p:blipFill>
        <p:spPr>
          <a:xfrm>
            <a:off x="4371975" y="2524125"/>
            <a:ext cx="19200" cy="142800"/>
          </a:xfrm>
          <a:prstGeom prst="rect">
            <a:avLst/>
          </a:prstGeom>
          <a:noFill/>
          <a:ln>
            <a:noFill/>
          </a:ln>
        </p:spPr>
      </p:pic>
      <p:pic>
        <p:nvPicPr>
          <p:cNvPr id="359" name="Google Shape;359;p22"/>
          <p:cNvPicPr preferRelativeResize="0"/>
          <p:nvPr/>
        </p:nvPicPr>
        <p:blipFill rotWithShape="1">
          <a:blip r:embed="rId12">
            <a:alphaModFix/>
          </a:blip>
          <a:srcRect/>
          <a:stretch/>
        </p:blipFill>
        <p:spPr>
          <a:xfrm>
            <a:off x="5343525" y="4038600"/>
            <a:ext cx="381000" cy="19200"/>
          </a:xfrm>
          <a:prstGeom prst="rect">
            <a:avLst/>
          </a:prstGeom>
          <a:noFill/>
          <a:ln>
            <a:noFill/>
          </a:ln>
        </p:spPr>
      </p:pic>
      <p:grpSp>
        <p:nvGrpSpPr>
          <p:cNvPr id="15" name="Google Shape;360;p22"/>
          <p:cNvGrpSpPr/>
          <p:nvPr/>
        </p:nvGrpSpPr>
        <p:grpSpPr>
          <a:xfrm>
            <a:off x="676275" y="5524500"/>
            <a:ext cx="10839600" cy="857400"/>
            <a:chOff x="676275" y="5524500"/>
            <a:chExt cx="10839600" cy="857400"/>
          </a:xfrm>
        </p:grpSpPr>
        <p:sp>
          <p:nvSpPr>
            <p:cNvPr id="361" name="Google Shape;361;p22"/>
            <p:cNvSpPr/>
            <p:nvPr/>
          </p:nvSpPr>
          <p:spPr>
            <a:xfrm>
              <a:off x="676275" y="5524500"/>
              <a:ext cx="10839600" cy="857400"/>
            </a:xfrm>
            <a:prstGeom prst="roundRect">
              <a:avLst>
                <a:gd name="adj" fmla="val 8888"/>
              </a:avLst>
            </a:prstGeom>
            <a:solidFill>
              <a:srgbClr val="0F172A"/>
            </a:solidFill>
            <a:ln w="14300"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2" name="Google Shape;362;p22"/>
            <p:cNvSpPr txBox="1"/>
            <p:nvPr/>
          </p:nvSpPr>
          <p:spPr>
            <a:xfrm>
              <a:off x="809625" y="5600700"/>
              <a:ext cx="105729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0">
                  <a:solidFill>
                    <a:srgbClr val="38BDF8"/>
                  </a:solidFill>
                  <a:latin typeface="Poppins ExtraBold"/>
                  <a:ea typeface="Poppins ExtraBold"/>
                  <a:cs typeface="Poppins ExtraBold"/>
                  <a:sym typeface="Poppins ExtraBold"/>
                </a:rPr>
                <a:t>6</a:t>
              </a:r>
              <a:r>
                <a:rPr lang="en-US" sz="900" b="1">
                  <a:solidFill>
                    <a:srgbClr val="38BDF8"/>
                  </a:solidFill>
                  <a:latin typeface="Poppins"/>
                  <a:ea typeface="Poppins"/>
                  <a:cs typeface="Poppins"/>
                  <a:sym typeface="Poppins"/>
                </a:rPr>
                <a:t>Presentation Layer (Interactive React Dashboard)</a:t>
              </a:r>
              <a:endParaRPr/>
            </a:p>
          </p:txBody>
        </p:sp>
        <p:grpSp>
          <p:nvGrpSpPr>
            <p:cNvPr id="16" name="Google Shape;363;p22"/>
            <p:cNvGrpSpPr/>
            <p:nvPr/>
          </p:nvGrpSpPr>
          <p:grpSpPr>
            <a:xfrm>
              <a:off x="809625" y="5867400"/>
              <a:ext cx="3238500" cy="400200"/>
              <a:chOff x="809625" y="5867400"/>
              <a:chExt cx="3238500" cy="400200"/>
            </a:xfrm>
          </p:grpSpPr>
          <p:sp>
            <p:nvSpPr>
              <p:cNvPr id="364" name="Google Shape;364;p22"/>
              <p:cNvSpPr/>
              <p:nvPr/>
            </p:nvSpPr>
            <p:spPr>
              <a:xfrm>
                <a:off x="809625" y="5867400"/>
                <a:ext cx="3238500" cy="400200"/>
              </a:xfrm>
              <a:prstGeom prst="roundRect">
                <a:avLst>
                  <a:gd name="adj" fmla="val 9523"/>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5" name="Google Shape;365;p22"/>
              <p:cNvSpPr txBox="1"/>
              <p:nvPr/>
            </p:nvSpPr>
            <p:spPr>
              <a:xfrm>
                <a:off x="904875" y="5905500"/>
                <a:ext cx="3048000" cy="3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723" b="1" dirty="0">
                    <a:solidFill>
                      <a:srgbClr val="38BDF8"/>
                    </a:solidFill>
                    <a:latin typeface="Poppins"/>
                    <a:ea typeface="Poppins"/>
                    <a:cs typeface="Poppins"/>
                    <a:sym typeface="Poppins"/>
                  </a:rPr>
                  <a:t>📄 </a:t>
                </a:r>
                <a:r>
                  <a:rPr lang="en-US" sz="723" b="1" dirty="0" smtClean="0">
                    <a:solidFill>
                      <a:srgbClr val="38BDF8"/>
                    </a:solidFill>
                    <a:latin typeface="Poppins"/>
                    <a:ea typeface="Poppins"/>
                    <a:cs typeface="Poppins"/>
                    <a:sym typeface="Poppins"/>
                  </a:rPr>
                  <a:t> Contract </a:t>
                </a:r>
                <a:r>
                  <a:rPr lang="en-US" sz="723" b="1" dirty="0">
                    <a:solidFill>
                      <a:srgbClr val="38BDF8"/>
                    </a:solidFill>
                    <a:latin typeface="Poppins"/>
                    <a:ea typeface="Poppins"/>
                    <a:cs typeface="Poppins"/>
                    <a:sym typeface="Poppins"/>
                  </a:rPr>
                  <a:t>Review &amp; Summaries</a:t>
                </a:r>
                <a:endParaRPr sz="723" b="1" dirty="0">
                  <a:solidFill>
                    <a:srgbClr val="38BDF8"/>
                  </a:solidFill>
                  <a:latin typeface="Poppins"/>
                  <a:ea typeface="Poppins"/>
                  <a:cs typeface="Poppins"/>
                  <a:sym typeface="Poppins"/>
                </a:endParaRPr>
              </a:p>
              <a:p>
                <a:pPr marL="0" lvl="0" indent="0" algn="l" rtl="0">
                  <a:spcBef>
                    <a:spcPts val="0"/>
                  </a:spcBef>
                  <a:spcAft>
                    <a:spcPts val="0"/>
                  </a:spcAft>
                  <a:buNone/>
                </a:pPr>
                <a:r>
                  <a:rPr lang="en-US" sz="638" b="0" dirty="0">
                    <a:solidFill>
                      <a:srgbClr val="94A3B8"/>
                    </a:solidFill>
                    <a:latin typeface="Inter"/>
                    <a:ea typeface="Inter"/>
                    <a:cs typeface="Inter"/>
                    <a:sym typeface="Inter"/>
                  </a:rPr>
                  <a:t>Interactive extraction workspace with side-by-side legal source alignment.</a:t>
                </a:r>
                <a:endParaRPr sz="638" b="0" dirty="0">
                  <a:solidFill>
                    <a:srgbClr val="94A3B8"/>
                  </a:solidFill>
                  <a:latin typeface="Inter"/>
                  <a:ea typeface="Inter"/>
                  <a:cs typeface="Inter"/>
                  <a:sym typeface="Inter"/>
                </a:endParaRPr>
              </a:p>
            </p:txBody>
          </p:sp>
        </p:grpSp>
        <p:grpSp>
          <p:nvGrpSpPr>
            <p:cNvPr id="17" name="Google Shape;366;p22"/>
            <p:cNvGrpSpPr/>
            <p:nvPr/>
          </p:nvGrpSpPr>
          <p:grpSpPr>
            <a:xfrm>
              <a:off x="4476750" y="5867400"/>
              <a:ext cx="3238500" cy="400200"/>
              <a:chOff x="4476750" y="5867400"/>
              <a:chExt cx="3238500" cy="400200"/>
            </a:xfrm>
          </p:grpSpPr>
          <p:sp>
            <p:nvSpPr>
              <p:cNvPr id="367" name="Google Shape;367;p22"/>
              <p:cNvSpPr/>
              <p:nvPr/>
            </p:nvSpPr>
            <p:spPr>
              <a:xfrm>
                <a:off x="4476750" y="5867400"/>
                <a:ext cx="3238500" cy="400200"/>
              </a:xfrm>
              <a:prstGeom prst="roundRect">
                <a:avLst>
                  <a:gd name="adj" fmla="val 9523"/>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8" name="Google Shape;368;p22"/>
              <p:cNvSpPr txBox="1"/>
              <p:nvPr/>
            </p:nvSpPr>
            <p:spPr>
              <a:xfrm>
                <a:off x="4572000" y="5905500"/>
                <a:ext cx="3048000" cy="3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723" b="1">
                    <a:solidFill>
                      <a:srgbClr val="38BDF8"/>
                    </a:solidFill>
                    <a:latin typeface="Poppins"/>
                    <a:ea typeface="Poppins"/>
                    <a:cs typeface="Poppins"/>
                    <a:sym typeface="Poppins"/>
                  </a:rPr>
                  <a:t>⚠️ Risk Assessment Reports</a:t>
                </a:r>
                <a:endParaRPr sz="723" b="1">
                  <a:solidFill>
                    <a:srgbClr val="38BDF8"/>
                  </a:solidFill>
                  <a:latin typeface="Poppins"/>
                  <a:ea typeface="Poppins"/>
                  <a:cs typeface="Poppins"/>
                  <a:sym typeface="Poppins"/>
                </a:endParaRPr>
              </a:p>
              <a:p>
                <a:pPr marL="0" lvl="0" indent="0" algn="l" rtl="0">
                  <a:spcBef>
                    <a:spcPts val="0"/>
                  </a:spcBef>
                  <a:spcAft>
                    <a:spcPts val="0"/>
                  </a:spcAft>
                  <a:buNone/>
                </a:pPr>
                <a:r>
                  <a:rPr lang="en-US" sz="638" b="0">
                    <a:solidFill>
                      <a:srgbClr val="94A3B8"/>
                    </a:solidFill>
                    <a:latin typeface="Inter"/>
                    <a:ea typeface="Inter"/>
                    <a:cs typeface="Inter"/>
                    <a:sym typeface="Inter"/>
                  </a:rPr>
                  <a:t>Visual compliance scorecards mapped to strict internal policy limits.</a:t>
                </a:r>
                <a:endParaRPr sz="638" b="0">
                  <a:solidFill>
                    <a:srgbClr val="94A3B8"/>
                  </a:solidFill>
                  <a:latin typeface="Inter"/>
                  <a:ea typeface="Inter"/>
                  <a:cs typeface="Inter"/>
                  <a:sym typeface="Inter"/>
                </a:endParaRPr>
              </a:p>
            </p:txBody>
          </p:sp>
        </p:grpSp>
        <p:grpSp>
          <p:nvGrpSpPr>
            <p:cNvPr id="18" name="Google Shape;369;p22"/>
            <p:cNvGrpSpPr/>
            <p:nvPr/>
          </p:nvGrpSpPr>
          <p:grpSpPr>
            <a:xfrm>
              <a:off x="8143875" y="5867400"/>
              <a:ext cx="3238500" cy="400200"/>
              <a:chOff x="8143875" y="5867400"/>
              <a:chExt cx="3238500" cy="400200"/>
            </a:xfrm>
          </p:grpSpPr>
          <p:sp>
            <p:nvSpPr>
              <p:cNvPr id="370" name="Google Shape;370;p22"/>
              <p:cNvSpPr/>
              <p:nvPr/>
            </p:nvSpPr>
            <p:spPr>
              <a:xfrm>
                <a:off x="8143875" y="5867400"/>
                <a:ext cx="3238500" cy="400200"/>
              </a:xfrm>
              <a:prstGeom prst="roundRect">
                <a:avLst>
                  <a:gd name="adj" fmla="val 9523"/>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1" name="Google Shape;371;p22"/>
              <p:cNvSpPr txBox="1"/>
              <p:nvPr/>
            </p:nvSpPr>
            <p:spPr>
              <a:xfrm>
                <a:off x="8239125" y="5905500"/>
                <a:ext cx="3048000" cy="3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723" b="1" dirty="0">
                    <a:solidFill>
                      <a:srgbClr val="38BDF8"/>
                    </a:solidFill>
                    <a:latin typeface="Poppins"/>
                    <a:ea typeface="Poppins"/>
                    <a:cs typeface="Poppins"/>
                    <a:sym typeface="Poppins"/>
                  </a:rPr>
                  <a:t>📊 </a:t>
                </a:r>
                <a:r>
                  <a:rPr lang="en-US" sz="723" b="1" dirty="0" smtClean="0">
                    <a:solidFill>
                      <a:srgbClr val="38BDF8"/>
                    </a:solidFill>
                    <a:latin typeface="Poppins"/>
                    <a:ea typeface="Poppins"/>
                    <a:cs typeface="Poppins"/>
                    <a:sym typeface="Poppins"/>
                  </a:rPr>
                  <a:t>  SHAP </a:t>
                </a:r>
                <a:r>
                  <a:rPr lang="en-US" sz="723" b="1" dirty="0">
                    <a:solidFill>
                      <a:srgbClr val="38BDF8"/>
                    </a:solidFill>
                    <a:latin typeface="Poppins"/>
                    <a:ea typeface="Poppins"/>
                    <a:cs typeface="Poppins"/>
                    <a:sym typeface="Poppins"/>
                  </a:rPr>
                  <a:t>Attribution &amp; Audit Trail</a:t>
                </a:r>
                <a:endParaRPr sz="723" b="1" dirty="0">
                  <a:solidFill>
                    <a:srgbClr val="38BDF8"/>
                  </a:solidFill>
                  <a:latin typeface="Poppins"/>
                  <a:ea typeface="Poppins"/>
                  <a:cs typeface="Poppins"/>
                  <a:sym typeface="Poppins"/>
                </a:endParaRPr>
              </a:p>
              <a:p>
                <a:pPr marL="0" lvl="0" indent="0" algn="l" rtl="0">
                  <a:spcBef>
                    <a:spcPts val="0"/>
                  </a:spcBef>
                  <a:spcAft>
                    <a:spcPts val="0"/>
                  </a:spcAft>
                  <a:buNone/>
                </a:pPr>
                <a:r>
                  <a:rPr lang="en-US" sz="638" b="0" dirty="0">
                    <a:solidFill>
                      <a:srgbClr val="94A3B8"/>
                    </a:solidFill>
                    <a:latin typeface="Inter"/>
                    <a:ea typeface="Inter"/>
                    <a:cs typeface="Inter"/>
                    <a:sym typeface="Inter"/>
                  </a:rPr>
                  <a:t>Transparent, verifiable model reasoning pathways for compliance audit.</a:t>
                </a:r>
                <a:endParaRPr sz="638" b="0" dirty="0">
                  <a:solidFill>
                    <a:srgbClr val="94A3B8"/>
                  </a:solidFill>
                  <a:latin typeface="Inter"/>
                  <a:ea typeface="Inter"/>
                  <a:cs typeface="Inter"/>
                  <a:sym typeface="Inter"/>
                </a:endParaRPr>
              </a:p>
            </p:txBody>
          </p:sp>
        </p:grpSp>
      </p:grpSp>
      <p:pic>
        <p:nvPicPr>
          <p:cNvPr id="372" name="Google Shape;372;p22"/>
          <p:cNvPicPr preferRelativeResize="0"/>
          <p:nvPr/>
        </p:nvPicPr>
        <p:blipFill rotWithShape="1">
          <a:blip r:embed="rId13">
            <a:alphaModFix/>
          </a:blip>
          <a:srcRect/>
          <a:stretch/>
        </p:blipFill>
        <p:spPr>
          <a:xfrm>
            <a:off x="3000375" y="5334000"/>
            <a:ext cx="19200" cy="190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89"/>
        <p:cNvGrpSpPr/>
        <p:nvPr/>
      </p:nvGrpSpPr>
      <p:grpSpPr>
        <a:xfrm>
          <a:off x="0" y="0"/>
          <a:ext cx="0" cy="0"/>
          <a:chOff x="0" y="0"/>
          <a:chExt cx="0" cy="0"/>
        </a:xfrm>
      </p:grpSpPr>
      <p:pic>
        <p:nvPicPr>
          <p:cNvPr id="390" name="Google Shape;39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91" name="Google Shape;391;p21"/>
          <p:cNvSpPr/>
          <p:nvPr/>
        </p:nvSpPr>
        <p:spPr>
          <a:xfrm>
            <a:off x="590550" y="1114425"/>
            <a:ext cx="5798194" cy="434340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392" name="Google Shape;392;p21"/>
          <p:cNvGraphicFramePr/>
          <p:nvPr/>
        </p:nvGraphicFramePr>
        <p:xfrm>
          <a:off x="590550" y="1114425"/>
          <a:ext cx="5788675" cy="4343350"/>
        </p:xfrm>
        <a:graphic>
          <a:graphicData uri="http://schemas.openxmlformats.org/drawingml/2006/table">
            <a:tbl>
              <a:tblPr firstRow="1" bandRow="1">
                <a:noFill/>
                <a:tableStyleId>{FC249B67-7DB8-415B-95D0-D5DF70AE9054}</a:tableStyleId>
              </a:tblPr>
              <a:tblGrid>
                <a:gridCol w="2019150"/>
                <a:gridCol w="3769525"/>
              </a:tblGrid>
              <a:tr h="620475">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Layer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Key Components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r>
              <a:tr h="620475">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1. Presentation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React, Vite, Syncfusion UI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0475">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2. API Layer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FastAPI REST Endpoints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0475">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3. App Services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Contract, Agent, XAI, MCP Services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0475">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4. AI Intelligence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LayoutLMv3, LegalBERT, LangGraph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0475">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5. Knowledge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Pinecone Vector Store (RAG)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0500">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6. Integration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FastMCP Tools &amp; Policy DB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393" name="Google Shape;393;p21"/>
          <p:cNvSpPr txBox="1"/>
          <p:nvPr/>
        </p:nvSpPr>
        <p:spPr>
          <a:xfrm>
            <a:off x="6769744" y="1114425"/>
            <a:ext cx="507329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D9488"/>
                </a:solidFill>
                <a:latin typeface="Urbanist SemiBold"/>
                <a:ea typeface="Urbanist SemiBold"/>
                <a:cs typeface="Urbanist SemiBold"/>
                <a:sym typeface="Urbanist SemiBold"/>
              </a:rPr>
              <a:t>Architecture Principles</a:t>
            </a:r>
            <a:endParaRPr/>
          </a:p>
        </p:txBody>
      </p:sp>
      <p:sp>
        <p:nvSpPr>
          <p:cNvPr id="394" name="Google Shape;394;p21"/>
          <p:cNvSpPr/>
          <p:nvPr/>
        </p:nvSpPr>
        <p:spPr>
          <a:xfrm>
            <a:off x="595312" y="1728787"/>
            <a:ext cx="201915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5" name="Google Shape;395;p21"/>
          <p:cNvSpPr/>
          <p:nvPr/>
        </p:nvSpPr>
        <p:spPr>
          <a:xfrm>
            <a:off x="2614463" y="1728787"/>
            <a:ext cx="37695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6" name="Google Shape;396;p21"/>
          <p:cNvSpPr txBox="1"/>
          <p:nvPr/>
        </p:nvSpPr>
        <p:spPr>
          <a:xfrm>
            <a:off x="7150744" y="1609725"/>
            <a:ext cx="445070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Modularity:</a:t>
            </a:r>
            <a:r>
              <a:rPr lang="en-US" sz="1500" b="0" i="0" u="none" strike="noStrike" cap="none">
                <a:solidFill>
                  <a:srgbClr val="334155"/>
                </a:solidFill>
                <a:latin typeface="Urbanist"/>
                <a:ea typeface="Urbanist"/>
                <a:cs typeface="Urbanist"/>
                <a:sym typeface="Urbanist"/>
              </a:rPr>
              <a:t> Each function is a standalone service with REST interfaces.</a:t>
            </a:r>
            <a:endParaRPr/>
          </a:p>
        </p:txBody>
      </p:sp>
      <p:sp>
        <p:nvSpPr>
          <p:cNvPr id="397" name="Google Shape;397;p21"/>
          <p:cNvSpPr txBox="1"/>
          <p:nvPr/>
        </p:nvSpPr>
        <p:spPr>
          <a:xfrm>
            <a:off x="7150744" y="2409825"/>
            <a:ext cx="445070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Privacy:</a:t>
            </a:r>
            <a:r>
              <a:rPr lang="en-US" sz="1500" b="0" i="0" u="none" strike="noStrike" cap="none">
                <a:solidFill>
                  <a:srgbClr val="334155"/>
                </a:solidFill>
                <a:latin typeface="Urbanist"/>
                <a:ea typeface="Urbanist"/>
                <a:cs typeface="Urbanist"/>
                <a:sym typeface="Urbanist"/>
              </a:rPr>
              <a:t> Deploys Llama 3.1 locally via Ollama. No external exposure.</a:t>
            </a:r>
            <a:endParaRPr/>
          </a:p>
        </p:txBody>
      </p:sp>
      <p:sp>
        <p:nvSpPr>
          <p:cNvPr id="398" name="Google Shape;398;p21"/>
          <p:cNvSpPr txBox="1"/>
          <p:nvPr/>
        </p:nvSpPr>
        <p:spPr>
          <a:xfrm>
            <a:off x="7150744" y="3209925"/>
            <a:ext cx="445070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Continuous Learning:</a:t>
            </a:r>
            <a:r>
              <a:rPr lang="en-US" sz="1500" b="0" i="0" u="none" strike="noStrike" cap="none">
                <a:solidFill>
                  <a:srgbClr val="334155"/>
                </a:solidFill>
                <a:latin typeface="Urbanist"/>
                <a:ea typeface="Urbanist"/>
                <a:cs typeface="Urbanist"/>
                <a:sym typeface="Urbanist"/>
              </a:rPr>
              <a:t> LRR service updates Knowledge Layer without model retraining.</a:t>
            </a:r>
            <a:endParaRPr/>
          </a:p>
        </p:txBody>
      </p:sp>
      <p:sp>
        <p:nvSpPr>
          <p:cNvPr id="399" name="Google Shape;399;p21"/>
          <p:cNvSpPr/>
          <p:nvPr/>
        </p:nvSpPr>
        <p:spPr>
          <a:xfrm>
            <a:off x="595312" y="2347912"/>
            <a:ext cx="201915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0" name="Google Shape;400;p21"/>
          <p:cNvSpPr/>
          <p:nvPr/>
        </p:nvSpPr>
        <p:spPr>
          <a:xfrm>
            <a:off x="2614463" y="2347912"/>
            <a:ext cx="37695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1" name="Google Shape;401;p21"/>
          <p:cNvSpPr/>
          <p:nvPr/>
        </p:nvSpPr>
        <p:spPr>
          <a:xfrm>
            <a:off x="595312" y="2967037"/>
            <a:ext cx="201915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2" name="Google Shape;402;p21"/>
          <p:cNvSpPr/>
          <p:nvPr/>
        </p:nvSpPr>
        <p:spPr>
          <a:xfrm>
            <a:off x="2614463" y="2967037"/>
            <a:ext cx="37695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3" name="Google Shape;403;p21"/>
          <p:cNvSpPr/>
          <p:nvPr/>
        </p:nvSpPr>
        <p:spPr>
          <a:xfrm>
            <a:off x="595312" y="3586162"/>
            <a:ext cx="201915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4" name="Google Shape;404;p21"/>
          <p:cNvSpPr/>
          <p:nvPr/>
        </p:nvSpPr>
        <p:spPr>
          <a:xfrm>
            <a:off x="2614463" y="3586162"/>
            <a:ext cx="37695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5" name="Google Shape;405;p21"/>
          <p:cNvSpPr/>
          <p:nvPr/>
        </p:nvSpPr>
        <p:spPr>
          <a:xfrm>
            <a:off x="595312" y="4205287"/>
            <a:ext cx="201915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6" name="Google Shape;406;p21"/>
          <p:cNvSpPr/>
          <p:nvPr/>
        </p:nvSpPr>
        <p:spPr>
          <a:xfrm>
            <a:off x="2614463" y="4205287"/>
            <a:ext cx="37695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7" name="Google Shape;407;p21"/>
          <p:cNvSpPr/>
          <p:nvPr/>
        </p:nvSpPr>
        <p:spPr>
          <a:xfrm>
            <a:off x="595312" y="4824412"/>
            <a:ext cx="201915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8" name="Google Shape;408;p21"/>
          <p:cNvSpPr/>
          <p:nvPr/>
        </p:nvSpPr>
        <p:spPr>
          <a:xfrm>
            <a:off x="2614463" y="4824412"/>
            <a:ext cx="37695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9" name="Google Shape;409;p21"/>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Enterprise Architecture Overview</a:t>
            </a:r>
            <a:endParaRPr/>
          </a:p>
        </p:txBody>
      </p:sp>
      <p:sp>
        <p:nvSpPr>
          <p:cNvPr id="410" name="Google Shape;410;p21"/>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14"/>
        <p:cNvGrpSpPr/>
        <p:nvPr/>
      </p:nvGrpSpPr>
      <p:grpSpPr>
        <a:xfrm>
          <a:off x="0" y="0"/>
          <a:ext cx="0" cy="0"/>
          <a:chOff x="0" y="0"/>
          <a:chExt cx="0" cy="0"/>
        </a:xfrm>
      </p:grpSpPr>
      <p:pic>
        <p:nvPicPr>
          <p:cNvPr id="415" name="Google Shape;415;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16" name="Google Shape;416;p22"/>
          <p:cNvGrpSpPr/>
          <p:nvPr/>
        </p:nvGrpSpPr>
        <p:grpSpPr>
          <a:xfrm>
            <a:off x="571500" y="1714500"/>
            <a:ext cx="11049000" cy="3619500"/>
            <a:chOff x="571500" y="1714500"/>
            <a:chExt cx="11049000" cy="3619500"/>
          </a:xfrm>
        </p:grpSpPr>
        <p:sp>
          <p:nvSpPr>
            <p:cNvPr id="417" name="Google Shape;417;p22"/>
            <p:cNvSpPr/>
            <p:nvPr/>
          </p:nvSpPr>
          <p:spPr>
            <a:xfrm>
              <a:off x="571500" y="1714500"/>
              <a:ext cx="2019300" cy="3619500"/>
            </a:xfrm>
            <a:prstGeom prst="roundRect">
              <a:avLst>
                <a:gd name="adj" fmla="val 754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8" name="Google Shape;418;p22"/>
            <p:cNvSpPr txBox="1"/>
            <p:nvPr/>
          </p:nvSpPr>
          <p:spPr>
            <a:xfrm>
              <a:off x="571500" y="1714500"/>
              <a:ext cx="2019300" cy="3619500"/>
            </a:xfrm>
            <a:prstGeom prst="rect">
              <a:avLst/>
            </a:prstGeom>
            <a:noFill/>
            <a:ln>
              <a:noFill/>
            </a:ln>
          </p:spPr>
          <p:txBody>
            <a:bodyPr spcFirstLastPara="1" wrap="square" lIns="190500" tIns="228600" rIns="190500" bIns="228600" anchor="t" anchorCtr="0">
              <a:noAutofit/>
            </a:bodyPr>
            <a:lstStyle/>
            <a:p>
              <a:pPr marL="0" lvl="0" indent="0" algn="l" rtl="0">
                <a:spcBef>
                  <a:spcPts val="0"/>
                </a:spcBef>
                <a:spcAft>
                  <a:spcPts val="0"/>
                </a:spcAft>
                <a:buNone/>
              </a:pPr>
              <a:r>
                <a:rPr lang="en-US" sz="2400" b="1">
                  <a:solidFill>
                    <a:srgbClr val="0D9488"/>
                  </a:solidFill>
                  <a:latin typeface="Urbanist"/>
                  <a:ea typeface="Urbanist"/>
                  <a:cs typeface="Urbanist"/>
                  <a:sym typeface="Urbanist"/>
                </a:rPr>
                <a:t>01</a:t>
              </a:r>
              <a:endParaRPr sz="2400" b="1">
                <a:solidFill>
                  <a:srgbClr val="0D9488"/>
                </a:solidFill>
                <a:latin typeface="Urbanist"/>
                <a:ea typeface="Urbanist"/>
                <a:cs typeface="Urbanist"/>
                <a:sym typeface="Urbanist"/>
              </a:endParaRPr>
            </a:p>
            <a:p>
              <a:pPr marL="0" lvl="0" indent="0" algn="l" rtl="0">
                <a:spcBef>
                  <a:spcPts val="1200"/>
                </a:spcBef>
                <a:spcAft>
                  <a:spcPts val="0"/>
                </a:spcAft>
                <a:buNone/>
              </a:pPr>
              <a:r>
                <a:rPr lang="en-US" sz="1400" b="1">
                  <a:solidFill>
                    <a:srgbClr val="0F172A"/>
                  </a:solidFill>
                  <a:latin typeface="Urbanist"/>
                  <a:ea typeface="Urbanist"/>
                  <a:cs typeface="Urbanist"/>
                  <a:sym typeface="Urbanist"/>
                </a:rPr>
                <a:t>Contract Processing</a:t>
              </a:r>
              <a:endParaRPr sz="14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100" b="0">
                  <a:solidFill>
                    <a:srgbClr val="475569"/>
                  </a:solidFill>
                  <a:latin typeface="Urbanist"/>
                  <a:ea typeface="Urbanist"/>
                  <a:cs typeface="Urbanist"/>
                  <a:sym typeface="Urbanist"/>
                </a:rPr>
                <a:t>Extract Text &amp; Layout (LayoutLMv3 + LegalBERT)</a:t>
              </a:r>
              <a:endParaRPr sz="1100" b="0">
                <a:solidFill>
                  <a:srgbClr val="475569"/>
                </a:solidFill>
                <a:latin typeface="Urbanist"/>
                <a:ea typeface="Urbanist"/>
                <a:cs typeface="Urbanist"/>
                <a:sym typeface="Urbanist"/>
              </a:endParaRPr>
            </a:p>
          </p:txBody>
        </p:sp>
        <p:sp>
          <p:nvSpPr>
            <p:cNvPr id="420" name="Google Shape;420;p22"/>
            <p:cNvSpPr/>
            <p:nvPr/>
          </p:nvSpPr>
          <p:spPr>
            <a:xfrm>
              <a:off x="2828925" y="1714500"/>
              <a:ext cx="2019300" cy="3619500"/>
            </a:xfrm>
            <a:prstGeom prst="roundRect">
              <a:avLst>
                <a:gd name="adj" fmla="val 754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1" name="Google Shape;421;p22"/>
            <p:cNvSpPr txBox="1"/>
            <p:nvPr/>
          </p:nvSpPr>
          <p:spPr>
            <a:xfrm>
              <a:off x="2828925" y="1714500"/>
              <a:ext cx="2019300" cy="3619500"/>
            </a:xfrm>
            <a:prstGeom prst="rect">
              <a:avLst/>
            </a:prstGeom>
            <a:noFill/>
            <a:ln>
              <a:noFill/>
            </a:ln>
          </p:spPr>
          <p:txBody>
            <a:bodyPr spcFirstLastPara="1" wrap="square" lIns="190500" tIns="228600" rIns="190500" bIns="228600" anchor="t" anchorCtr="0">
              <a:noAutofit/>
            </a:bodyPr>
            <a:lstStyle/>
            <a:p>
              <a:pPr marL="0" lvl="0" indent="0" algn="l" rtl="0">
                <a:spcBef>
                  <a:spcPts val="0"/>
                </a:spcBef>
                <a:spcAft>
                  <a:spcPts val="0"/>
                </a:spcAft>
                <a:buNone/>
              </a:pPr>
              <a:r>
                <a:rPr lang="en-US" sz="2400" b="1">
                  <a:solidFill>
                    <a:srgbClr val="3B82F6"/>
                  </a:solidFill>
                  <a:latin typeface="Urbanist"/>
                  <a:ea typeface="Urbanist"/>
                  <a:cs typeface="Urbanist"/>
                  <a:sym typeface="Urbanist"/>
                </a:rPr>
                <a:t>02</a:t>
              </a:r>
              <a:endParaRPr sz="2400" b="1">
                <a:solidFill>
                  <a:srgbClr val="3B82F6"/>
                </a:solidFill>
                <a:latin typeface="Urbanist"/>
                <a:ea typeface="Urbanist"/>
                <a:cs typeface="Urbanist"/>
                <a:sym typeface="Urbanist"/>
              </a:endParaRPr>
            </a:p>
            <a:p>
              <a:pPr marL="0" lvl="0" indent="0" algn="l" rtl="0">
                <a:spcBef>
                  <a:spcPts val="1200"/>
                </a:spcBef>
                <a:spcAft>
                  <a:spcPts val="0"/>
                </a:spcAft>
                <a:buClr>
                  <a:schemeClr val="dk1"/>
                </a:buClr>
                <a:buSzPts val="1100"/>
                <a:buFont typeface="Arial"/>
                <a:buNone/>
              </a:pPr>
              <a:r>
                <a:rPr lang="en-US" b="1">
                  <a:solidFill>
                    <a:srgbClr val="0F172A"/>
                  </a:solidFill>
                  <a:latin typeface="Urbanist"/>
                  <a:ea typeface="Urbanist"/>
                  <a:cs typeface="Urbanist"/>
                  <a:sym typeface="Urbanist"/>
                </a:rPr>
                <a:t>Agent Orchestration</a:t>
              </a:r>
              <a:endParaRPr b="1">
                <a:solidFill>
                  <a:srgbClr val="0F172A"/>
                </a:solidFill>
                <a:latin typeface="Urbanist"/>
                <a:ea typeface="Urbanist"/>
                <a:cs typeface="Urbanist"/>
                <a:sym typeface="Urbanist"/>
              </a:endParaRPr>
            </a:p>
            <a:p>
              <a:pPr marL="0" lvl="0" indent="0" algn="l" rtl="0">
                <a:spcBef>
                  <a:spcPts val="900"/>
                </a:spcBef>
                <a:spcAft>
                  <a:spcPts val="0"/>
                </a:spcAft>
                <a:buClr>
                  <a:schemeClr val="dk1"/>
                </a:buClr>
                <a:buSzPts val="1100"/>
                <a:buFont typeface="Arial"/>
                <a:buNone/>
              </a:pPr>
              <a:r>
                <a:rPr lang="en-US" sz="1100">
                  <a:solidFill>
                    <a:srgbClr val="475569"/>
                  </a:solidFill>
                  <a:latin typeface="Urbanist"/>
                  <a:ea typeface="Urbanist"/>
                  <a:cs typeface="Urbanist"/>
                  <a:sym typeface="Urbanist"/>
                </a:rPr>
                <a:t>LangGraph Supervisor + Specialized AI Agents + MCP Tools</a:t>
              </a:r>
              <a:endParaRPr sz="1100">
                <a:solidFill>
                  <a:srgbClr val="475569"/>
                </a:solidFill>
                <a:latin typeface="Urbanist"/>
                <a:ea typeface="Urbanist"/>
                <a:cs typeface="Urbanist"/>
                <a:sym typeface="Urbanist"/>
              </a:endParaRPr>
            </a:p>
          </p:txBody>
        </p:sp>
        <p:sp>
          <p:nvSpPr>
            <p:cNvPr id="423" name="Google Shape;423;p22"/>
            <p:cNvSpPr/>
            <p:nvPr/>
          </p:nvSpPr>
          <p:spPr>
            <a:xfrm>
              <a:off x="5086350" y="1714500"/>
              <a:ext cx="2019300" cy="3619500"/>
            </a:xfrm>
            <a:prstGeom prst="roundRect">
              <a:avLst>
                <a:gd name="adj" fmla="val 754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p22"/>
            <p:cNvSpPr txBox="1"/>
            <p:nvPr/>
          </p:nvSpPr>
          <p:spPr>
            <a:xfrm>
              <a:off x="5086350" y="1714500"/>
              <a:ext cx="2019300" cy="3619500"/>
            </a:xfrm>
            <a:prstGeom prst="rect">
              <a:avLst/>
            </a:prstGeom>
            <a:noFill/>
            <a:ln>
              <a:noFill/>
            </a:ln>
          </p:spPr>
          <p:txBody>
            <a:bodyPr spcFirstLastPara="1" wrap="square" lIns="190500" tIns="228600" rIns="190500" bIns="228600" anchor="t" anchorCtr="0">
              <a:noAutofit/>
            </a:bodyPr>
            <a:lstStyle/>
            <a:p>
              <a:pPr marL="0" lvl="0" indent="0" algn="l" rtl="0">
                <a:spcBef>
                  <a:spcPts val="0"/>
                </a:spcBef>
                <a:spcAft>
                  <a:spcPts val="0"/>
                </a:spcAft>
                <a:buNone/>
              </a:pPr>
              <a:r>
                <a:rPr lang="en-US" sz="2400" b="1">
                  <a:solidFill>
                    <a:srgbClr val="F59E0B"/>
                  </a:solidFill>
                  <a:latin typeface="Urbanist"/>
                  <a:ea typeface="Urbanist"/>
                  <a:cs typeface="Urbanist"/>
                  <a:sym typeface="Urbanist"/>
                </a:rPr>
                <a:t>03</a:t>
              </a:r>
              <a:endParaRPr sz="2400" b="1">
                <a:solidFill>
                  <a:srgbClr val="F59E0B"/>
                </a:solidFill>
                <a:latin typeface="Urbanist"/>
                <a:ea typeface="Urbanist"/>
                <a:cs typeface="Urbanist"/>
                <a:sym typeface="Urbanist"/>
              </a:endParaRPr>
            </a:p>
            <a:p>
              <a:pPr marL="0" lvl="0" indent="0" algn="l" rtl="0">
                <a:spcBef>
                  <a:spcPts val="1200"/>
                </a:spcBef>
                <a:spcAft>
                  <a:spcPts val="0"/>
                </a:spcAft>
                <a:buClr>
                  <a:schemeClr val="dk1"/>
                </a:buClr>
                <a:buSzPts val="1100"/>
                <a:buFont typeface="Arial"/>
                <a:buNone/>
              </a:pPr>
              <a:r>
                <a:rPr lang="en-US" b="1">
                  <a:solidFill>
                    <a:srgbClr val="0F172A"/>
                  </a:solidFill>
                  <a:latin typeface="Urbanist"/>
                  <a:ea typeface="Urbanist"/>
                  <a:cs typeface="Urbanist"/>
                  <a:sym typeface="Urbanist"/>
                </a:rPr>
                <a:t>Semantic Retrieval (RAG)</a:t>
              </a:r>
              <a:endParaRPr b="1">
                <a:solidFill>
                  <a:srgbClr val="0F172A"/>
                </a:solidFill>
                <a:latin typeface="Urbanist"/>
                <a:ea typeface="Urbanist"/>
                <a:cs typeface="Urbanist"/>
                <a:sym typeface="Urbanist"/>
              </a:endParaRPr>
            </a:p>
            <a:p>
              <a:pPr marL="0" lvl="0" indent="0" algn="l" rtl="0">
                <a:spcBef>
                  <a:spcPts val="900"/>
                </a:spcBef>
                <a:spcAft>
                  <a:spcPts val="0"/>
                </a:spcAft>
                <a:buClr>
                  <a:schemeClr val="dk1"/>
                </a:buClr>
                <a:buSzPts val="1100"/>
                <a:buFont typeface="Arial"/>
                <a:buNone/>
              </a:pPr>
              <a:r>
                <a:rPr lang="en-US" sz="1100">
                  <a:solidFill>
                    <a:srgbClr val="475569"/>
                  </a:solidFill>
                  <a:latin typeface="Urbanist"/>
                  <a:ea typeface="Urbanist"/>
                  <a:cs typeface="Urbanist"/>
                  <a:sym typeface="Urbanist"/>
                </a:rPr>
                <a:t>Pinecone Vector Search &amp; Context Augmentation</a:t>
              </a:r>
              <a:endParaRPr sz="1100">
                <a:solidFill>
                  <a:srgbClr val="475569"/>
                </a:solidFill>
                <a:latin typeface="Urbanist"/>
                <a:ea typeface="Urbanist"/>
                <a:cs typeface="Urbanist"/>
                <a:sym typeface="Urbanist"/>
              </a:endParaRPr>
            </a:p>
            <a:p>
              <a:pPr marL="0" lvl="0" indent="0" algn="l" rtl="0">
                <a:spcBef>
                  <a:spcPts val="0"/>
                </a:spcBef>
                <a:spcAft>
                  <a:spcPts val="0"/>
                </a:spcAft>
                <a:buNone/>
              </a:pPr>
              <a:endParaRPr sz="1100">
                <a:solidFill>
                  <a:srgbClr val="475569"/>
                </a:solidFill>
                <a:latin typeface="Urbanist"/>
                <a:ea typeface="Urbanist"/>
                <a:cs typeface="Urbanist"/>
                <a:sym typeface="Urbanist"/>
              </a:endParaRPr>
            </a:p>
          </p:txBody>
        </p:sp>
        <p:sp>
          <p:nvSpPr>
            <p:cNvPr id="426" name="Google Shape;426;p22"/>
            <p:cNvSpPr/>
            <p:nvPr/>
          </p:nvSpPr>
          <p:spPr>
            <a:xfrm>
              <a:off x="7343775" y="1714500"/>
              <a:ext cx="2019300" cy="3619500"/>
            </a:xfrm>
            <a:prstGeom prst="roundRect">
              <a:avLst>
                <a:gd name="adj" fmla="val 754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7" name="Google Shape;427;p22"/>
            <p:cNvSpPr txBox="1"/>
            <p:nvPr/>
          </p:nvSpPr>
          <p:spPr>
            <a:xfrm>
              <a:off x="7343775" y="1714500"/>
              <a:ext cx="2019300" cy="3619500"/>
            </a:xfrm>
            <a:prstGeom prst="rect">
              <a:avLst/>
            </a:prstGeom>
            <a:noFill/>
            <a:ln>
              <a:noFill/>
            </a:ln>
          </p:spPr>
          <p:txBody>
            <a:bodyPr spcFirstLastPara="1" wrap="square" lIns="190500" tIns="228600" rIns="190500" bIns="228600" anchor="t" anchorCtr="0">
              <a:noAutofit/>
            </a:bodyPr>
            <a:lstStyle/>
            <a:p>
              <a:pPr marL="0" lvl="0" indent="0" algn="l" rtl="0">
                <a:spcBef>
                  <a:spcPts val="0"/>
                </a:spcBef>
                <a:spcAft>
                  <a:spcPts val="0"/>
                </a:spcAft>
                <a:buNone/>
              </a:pPr>
              <a:r>
                <a:rPr lang="en-US" sz="2400" b="1">
                  <a:solidFill>
                    <a:srgbClr val="EF4444"/>
                  </a:solidFill>
                  <a:latin typeface="Urbanist"/>
                  <a:ea typeface="Urbanist"/>
                  <a:cs typeface="Urbanist"/>
                  <a:sym typeface="Urbanist"/>
                </a:rPr>
                <a:t>04</a:t>
              </a:r>
              <a:endParaRPr sz="2400" b="1">
                <a:solidFill>
                  <a:srgbClr val="EF4444"/>
                </a:solidFill>
                <a:latin typeface="Urbanist"/>
                <a:ea typeface="Urbanist"/>
                <a:cs typeface="Urbanist"/>
                <a:sym typeface="Urbanist"/>
              </a:endParaRPr>
            </a:p>
            <a:p>
              <a:pPr marL="0" lvl="0" indent="0" algn="l" rtl="0">
                <a:spcBef>
                  <a:spcPts val="1200"/>
                </a:spcBef>
                <a:spcAft>
                  <a:spcPts val="0"/>
                </a:spcAft>
                <a:buNone/>
              </a:pPr>
              <a:r>
                <a:rPr lang="en-US" sz="1400" b="1">
                  <a:solidFill>
                    <a:srgbClr val="0F172A"/>
                  </a:solidFill>
                  <a:latin typeface="Urbanist"/>
                  <a:ea typeface="Urbanist"/>
                  <a:cs typeface="Urbanist"/>
                  <a:sym typeface="Urbanist"/>
                </a:rPr>
                <a:t>Guardrails Validation</a:t>
              </a:r>
              <a:endParaRPr sz="14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100" b="0">
                  <a:solidFill>
                    <a:srgbClr val="475569"/>
                  </a:solidFill>
                  <a:latin typeface="Urbanist"/>
                  <a:ea typeface="Urbanist"/>
                  <a:cs typeface="Urbanist"/>
                  <a:sym typeface="Urbanist"/>
                </a:rPr>
                <a:t>PII Masking, Hallucination Detection, Policy Checks</a:t>
              </a:r>
              <a:endParaRPr sz="1100" b="0">
                <a:solidFill>
                  <a:srgbClr val="475569"/>
                </a:solidFill>
                <a:latin typeface="Urbanist"/>
                <a:ea typeface="Urbanist"/>
                <a:cs typeface="Urbanist"/>
                <a:sym typeface="Urbanist"/>
              </a:endParaRPr>
            </a:p>
          </p:txBody>
        </p:sp>
        <p:sp>
          <p:nvSpPr>
            <p:cNvPr id="429" name="Google Shape;429;p22"/>
            <p:cNvSpPr/>
            <p:nvPr/>
          </p:nvSpPr>
          <p:spPr>
            <a:xfrm>
              <a:off x="9601200" y="1714500"/>
              <a:ext cx="2019300" cy="3619500"/>
            </a:xfrm>
            <a:prstGeom prst="roundRect">
              <a:avLst>
                <a:gd name="adj" fmla="val 754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0" name="Google Shape;430;p22"/>
            <p:cNvSpPr txBox="1"/>
            <p:nvPr/>
          </p:nvSpPr>
          <p:spPr>
            <a:xfrm>
              <a:off x="9601200" y="1714500"/>
              <a:ext cx="2019300" cy="3619500"/>
            </a:xfrm>
            <a:prstGeom prst="rect">
              <a:avLst/>
            </a:prstGeom>
            <a:noFill/>
            <a:ln>
              <a:noFill/>
            </a:ln>
          </p:spPr>
          <p:txBody>
            <a:bodyPr spcFirstLastPara="1" wrap="square" lIns="190500" tIns="228600" rIns="190500" bIns="228600" anchor="t" anchorCtr="0">
              <a:noAutofit/>
            </a:bodyPr>
            <a:lstStyle/>
            <a:p>
              <a:pPr marL="0" lvl="0" indent="0" algn="l" rtl="0">
                <a:spcBef>
                  <a:spcPts val="0"/>
                </a:spcBef>
                <a:spcAft>
                  <a:spcPts val="0"/>
                </a:spcAft>
                <a:buNone/>
              </a:pPr>
              <a:r>
                <a:rPr lang="en-US" sz="2400" b="1">
                  <a:solidFill>
                    <a:srgbClr val="10B981"/>
                  </a:solidFill>
                  <a:latin typeface="Urbanist"/>
                  <a:ea typeface="Urbanist"/>
                  <a:cs typeface="Urbanist"/>
                  <a:sym typeface="Urbanist"/>
                </a:rPr>
                <a:t>05</a:t>
              </a:r>
              <a:endParaRPr sz="2400" b="1">
                <a:solidFill>
                  <a:srgbClr val="10B981"/>
                </a:solidFill>
                <a:latin typeface="Urbanist"/>
                <a:ea typeface="Urbanist"/>
                <a:cs typeface="Urbanist"/>
                <a:sym typeface="Urbanist"/>
              </a:endParaRPr>
            </a:p>
            <a:p>
              <a:pPr marL="0" lvl="0" indent="0" algn="l" rtl="0">
                <a:spcBef>
                  <a:spcPts val="1200"/>
                </a:spcBef>
                <a:spcAft>
                  <a:spcPts val="0"/>
                </a:spcAft>
                <a:buNone/>
              </a:pPr>
              <a:r>
                <a:rPr lang="en-US" sz="1400" b="1">
                  <a:solidFill>
                    <a:srgbClr val="0F172A"/>
                  </a:solidFill>
                  <a:latin typeface="Urbanist"/>
                  <a:ea typeface="Urbanist"/>
                  <a:cs typeface="Urbanist"/>
                  <a:sym typeface="Urbanist"/>
                </a:rPr>
                <a:t>Explainable Output</a:t>
              </a:r>
              <a:endParaRPr sz="1400" b="1">
                <a:solidFill>
                  <a:srgbClr val="0F172A"/>
                </a:solidFill>
                <a:latin typeface="Urbanist"/>
                <a:ea typeface="Urbanist"/>
                <a:cs typeface="Urbanist"/>
                <a:sym typeface="Urbanist"/>
              </a:endParaRPr>
            </a:p>
            <a:p>
              <a:pPr marL="0" lvl="0" indent="0" algn="l" rtl="0">
                <a:spcBef>
                  <a:spcPts val="900"/>
                </a:spcBef>
                <a:spcAft>
                  <a:spcPts val="0"/>
                </a:spcAft>
                <a:buNone/>
              </a:pPr>
              <a:r>
                <a:rPr lang="en-US" sz="1100" b="0">
                  <a:solidFill>
                    <a:srgbClr val="475569"/>
                  </a:solidFill>
                  <a:latin typeface="Urbanist"/>
                  <a:ea typeface="Urbanist"/>
                  <a:cs typeface="Urbanist"/>
                  <a:sym typeface="Urbanist"/>
                </a:rPr>
                <a:t>SHAP Feature Attribution &amp; Compliance Report</a:t>
              </a:r>
              <a:endParaRPr sz="1100" b="0">
                <a:solidFill>
                  <a:srgbClr val="475569"/>
                </a:solidFill>
                <a:latin typeface="Urbanist"/>
                <a:ea typeface="Urbanist"/>
                <a:cs typeface="Urbanist"/>
                <a:sym typeface="Urbanist"/>
              </a:endParaRPr>
            </a:p>
          </p:txBody>
        </p:sp>
      </p:grpSp>
      <p:sp>
        <p:nvSpPr>
          <p:cNvPr id="431" name="Google Shape;431;p22"/>
          <p:cNvSpPr txBox="1"/>
          <p:nvPr/>
        </p:nvSpPr>
        <p:spPr>
          <a:xfrm>
            <a:off x="590550" y="495300"/>
            <a:ext cx="11561400" cy="461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Integrated Workflow Pipeline</a:t>
            </a:r>
            <a:endParaRPr/>
          </a:p>
        </p:txBody>
      </p:sp>
      <p:sp>
        <p:nvSpPr>
          <p:cNvPr id="432" name="Google Shape;432;p22"/>
          <p:cNvSpPr/>
          <p:nvPr/>
        </p:nvSpPr>
        <p:spPr>
          <a:xfrm>
            <a:off x="590550" y="1095375"/>
            <a:ext cx="11010900" cy="192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36"/>
        <p:cNvGrpSpPr/>
        <p:nvPr/>
      </p:nvGrpSpPr>
      <p:grpSpPr>
        <a:xfrm>
          <a:off x="0" y="0"/>
          <a:ext cx="0" cy="0"/>
          <a:chOff x="0" y="0"/>
          <a:chExt cx="0" cy="0"/>
        </a:xfrm>
      </p:grpSpPr>
      <p:pic>
        <p:nvPicPr>
          <p:cNvPr id="437" name="Google Shape;43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38" name="Google Shape;438;p23"/>
          <p:cNvSpPr txBox="1"/>
          <p:nvPr/>
        </p:nvSpPr>
        <p:spPr>
          <a:xfrm>
            <a:off x="590550" y="1114425"/>
            <a:ext cx="5315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Banking contracts rely heavily on layout (tables, nested lists, margins) to convey meaning. OCR alone destroys this context.</a:t>
            </a:r>
            <a:endParaRPr/>
          </a:p>
        </p:txBody>
      </p:sp>
      <p:sp>
        <p:nvSpPr>
          <p:cNvPr id="439" name="Google Shape;439;p23"/>
          <p:cNvSpPr txBox="1"/>
          <p:nvPr/>
        </p:nvSpPr>
        <p:spPr>
          <a:xfrm>
            <a:off x="971550" y="1914525"/>
            <a:ext cx="4934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Visual Perception (LayoutLMv3):</a:t>
            </a:r>
            <a:r>
              <a:rPr lang="en-US" sz="1500" b="0" i="0" u="none" strike="noStrike" cap="none">
                <a:solidFill>
                  <a:srgbClr val="334155"/>
                </a:solidFill>
                <a:latin typeface="Urbanist"/>
                <a:ea typeface="Urbanist"/>
                <a:cs typeface="Urbanist"/>
                <a:sym typeface="Urbanist"/>
              </a:rPr>
              <a:t> Jointly models text, image, and layout coordinates. Preserves spatial relationships.</a:t>
            </a:r>
            <a:endParaRPr/>
          </a:p>
        </p:txBody>
      </p:sp>
      <p:sp>
        <p:nvSpPr>
          <p:cNvPr id="440" name="Google Shape;440;p23"/>
          <p:cNvSpPr txBox="1"/>
          <p:nvPr/>
        </p:nvSpPr>
        <p:spPr>
          <a:xfrm>
            <a:off x="971550" y="3019425"/>
            <a:ext cx="4934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Semantic Reasoning (LegalBERT):</a:t>
            </a:r>
            <a:r>
              <a:rPr lang="en-US" sz="1500" b="0" i="0" u="none" strike="noStrike" cap="none">
                <a:solidFill>
                  <a:srgbClr val="334155"/>
                </a:solidFill>
                <a:latin typeface="Urbanist"/>
                <a:ea typeface="Urbanist"/>
                <a:cs typeface="Urbanist"/>
                <a:sym typeface="Urbanist"/>
              </a:rPr>
              <a:t> Fine-tuned on the CUAD benchmark to identify 41 specific clause categories.</a:t>
            </a:r>
            <a:endParaRPr/>
          </a:p>
        </p:txBody>
      </p:sp>
      <p:sp>
        <p:nvSpPr>
          <p:cNvPr id="441" name="Google Shape;441;p23"/>
          <p:cNvSpPr txBox="1"/>
          <p:nvPr/>
        </p:nvSpPr>
        <p:spPr>
          <a:xfrm>
            <a:off x="971550" y="3819525"/>
            <a:ext cx="4934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Engineering Interventions:</a:t>
            </a:r>
            <a:r>
              <a:rPr lang="en-US" sz="1500" b="0" i="0" u="none" strike="noStrike" cap="none">
                <a:solidFill>
                  <a:srgbClr val="334155"/>
                </a:solidFill>
                <a:latin typeface="Urbanist"/>
                <a:ea typeface="Urbanist"/>
                <a:cs typeface="Urbanist"/>
                <a:sym typeface="Urbanist"/>
              </a:rPr>
              <a:t> Addressed severe class imbalance ("CLS shortcut") using staged training and custom forward-walk algorithms.</a:t>
            </a:r>
            <a:endParaRPr/>
          </a:p>
        </p:txBody>
      </p:sp>
      <p:sp>
        <p:nvSpPr>
          <p:cNvPr id="442" name="Google Shape;442;p23"/>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Multimodal Doc Understanding</a:t>
            </a:r>
            <a:endParaRPr/>
          </a:p>
        </p:txBody>
      </p:sp>
      <p:sp>
        <p:nvSpPr>
          <p:cNvPr id="443" name="Google Shape;443;p23"/>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44" name="Google Shape;444;p23"/>
          <p:cNvPicPr preferRelativeResize="0"/>
          <p:nvPr/>
        </p:nvPicPr>
        <p:blipFill>
          <a:blip r:embed="rId4">
            <a:alphaModFix/>
          </a:blip>
          <a:stretch>
            <a:fillRect/>
          </a:stretch>
        </p:blipFill>
        <p:spPr>
          <a:xfrm>
            <a:off x="6832875" y="1238250"/>
            <a:ext cx="4345925" cy="51801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48"/>
        <p:cNvGrpSpPr/>
        <p:nvPr/>
      </p:nvGrpSpPr>
      <p:grpSpPr>
        <a:xfrm>
          <a:off x="0" y="0"/>
          <a:ext cx="0" cy="0"/>
          <a:chOff x="0" y="0"/>
          <a:chExt cx="0" cy="0"/>
        </a:xfrm>
      </p:grpSpPr>
      <p:pic>
        <p:nvPicPr>
          <p:cNvPr id="449" name="Google Shape;449;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50" name="Google Shape;450;p24" descr="image.png"/>
          <p:cNvPicPr preferRelativeResize="0"/>
          <p:nvPr/>
        </p:nvPicPr>
        <p:blipFill rotWithShape="1">
          <a:blip r:embed="rId4">
            <a:alphaModFix/>
          </a:blip>
          <a:srcRect/>
          <a:stretch/>
        </p:blipFill>
        <p:spPr>
          <a:xfrm>
            <a:off x="590550" y="5257800"/>
            <a:ext cx="11010900" cy="1104900"/>
          </a:xfrm>
          <a:prstGeom prst="rect">
            <a:avLst/>
          </a:prstGeom>
          <a:noFill/>
          <a:ln>
            <a:noFill/>
          </a:ln>
        </p:spPr>
      </p:pic>
      <p:pic>
        <p:nvPicPr>
          <p:cNvPr id="451" name="Google Shape;451;p24" descr="image.png"/>
          <p:cNvPicPr preferRelativeResize="0"/>
          <p:nvPr/>
        </p:nvPicPr>
        <p:blipFill rotWithShape="1">
          <a:blip r:embed="rId5">
            <a:alphaModFix/>
          </a:blip>
          <a:srcRect/>
          <a:stretch/>
        </p:blipFill>
        <p:spPr>
          <a:xfrm>
            <a:off x="590550" y="1114425"/>
            <a:ext cx="1813619" cy="3762375"/>
          </a:xfrm>
          <a:prstGeom prst="rect">
            <a:avLst/>
          </a:prstGeom>
          <a:noFill/>
          <a:ln>
            <a:noFill/>
          </a:ln>
        </p:spPr>
      </p:pic>
      <p:pic>
        <p:nvPicPr>
          <p:cNvPr id="452" name="Google Shape;452;p24" descr="image.png"/>
          <p:cNvPicPr preferRelativeResize="0"/>
          <p:nvPr/>
        </p:nvPicPr>
        <p:blipFill rotWithShape="1">
          <a:blip r:embed="rId6">
            <a:alphaModFix/>
          </a:blip>
          <a:srcRect/>
          <a:stretch/>
        </p:blipFill>
        <p:spPr>
          <a:xfrm>
            <a:off x="2889944" y="1114425"/>
            <a:ext cx="1813619" cy="3762375"/>
          </a:xfrm>
          <a:prstGeom prst="rect">
            <a:avLst/>
          </a:prstGeom>
          <a:noFill/>
          <a:ln>
            <a:noFill/>
          </a:ln>
        </p:spPr>
      </p:pic>
      <p:pic>
        <p:nvPicPr>
          <p:cNvPr id="453" name="Google Shape;453;p24" descr="image.png"/>
          <p:cNvPicPr preferRelativeResize="0"/>
          <p:nvPr/>
        </p:nvPicPr>
        <p:blipFill rotWithShape="1">
          <a:blip r:embed="rId7">
            <a:alphaModFix/>
          </a:blip>
          <a:srcRect/>
          <a:stretch/>
        </p:blipFill>
        <p:spPr>
          <a:xfrm>
            <a:off x="5189339" y="1114425"/>
            <a:ext cx="1813619" cy="3762375"/>
          </a:xfrm>
          <a:prstGeom prst="rect">
            <a:avLst/>
          </a:prstGeom>
          <a:noFill/>
          <a:ln>
            <a:noFill/>
          </a:ln>
        </p:spPr>
      </p:pic>
      <p:pic>
        <p:nvPicPr>
          <p:cNvPr id="454" name="Google Shape;454;p24" descr="image.png"/>
          <p:cNvPicPr preferRelativeResize="0"/>
          <p:nvPr/>
        </p:nvPicPr>
        <p:blipFill rotWithShape="1">
          <a:blip r:embed="rId8">
            <a:alphaModFix/>
          </a:blip>
          <a:srcRect/>
          <a:stretch/>
        </p:blipFill>
        <p:spPr>
          <a:xfrm>
            <a:off x="7488733" y="1114425"/>
            <a:ext cx="1813619" cy="3762375"/>
          </a:xfrm>
          <a:prstGeom prst="rect">
            <a:avLst/>
          </a:prstGeom>
          <a:noFill/>
          <a:ln>
            <a:noFill/>
          </a:ln>
        </p:spPr>
      </p:pic>
      <p:pic>
        <p:nvPicPr>
          <p:cNvPr id="455" name="Google Shape;455;p24" descr="image.png"/>
          <p:cNvPicPr preferRelativeResize="0"/>
          <p:nvPr/>
        </p:nvPicPr>
        <p:blipFill rotWithShape="1">
          <a:blip r:embed="rId9">
            <a:alphaModFix/>
          </a:blip>
          <a:srcRect/>
          <a:stretch/>
        </p:blipFill>
        <p:spPr>
          <a:xfrm>
            <a:off x="9788128" y="1114425"/>
            <a:ext cx="1813619" cy="3762375"/>
          </a:xfrm>
          <a:prstGeom prst="rect">
            <a:avLst/>
          </a:prstGeom>
          <a:noFill/>
          <a:ln>
            <a:noFill/>
          </a:ln>
        </p:spPr>
      </p:pic>
      <p:pic>
        <p:nvPicPr>
          <p:cNvPr id="456" name="Google Shape;456;p24" descr="image.png"/>
          <p:cNvPicPr preferRelativeResize="0"/>
          <p:nvPr/>
        </p:nvPicPr>
        <p:blipFill rotWithShape="1">
          <a:blip r:embed="rId10">
            <a:alphaModFix/>
          </a:blip>
          <a:srcRect/>
          <a:stretch/>
        </p:blipFill>
        <p:spPr>
          <a:xfrm>
            <a:off x="2547044" y="2881312"/>
            <a:ext cx="200025" cy="228600"/>
          </a:xfrm>
          <a:prstGeom prst="rect">
            <a:avLst/>
          </a:prstGeom>
          <a:noFill/>
          <a:ln>
            <a:noFill/>
          </a:ln>
        </p:spPr>
      </p:pic>
      <p:pic>
        <p:nvPicPr>
          <p:cNvPr id="457" name="Google Shape;457;p24" descr="image.png"/>
          <p:cNvPicPr preferRelativeResize="0"/>
          <p:nvPr/>
        </p:nvPicPr>
        <p:blipFill rotWithShape="1">
          <a:blip r:embed="rId10">
            <a:alphaModFix/>
          </a:blip>
          <a:srcRect/>
          <a:stretch/>
        </p:blipFill>
        <p:spPr>
          <a:xfrm>
            <a:off x="4846439" y="2881312"/>
            <a:ext cx="200025" cy="228600"/>
          </a:xfrm>
          <a:prstGeom prst="rect">
            <a:avLst/>
          </a:prstGeom>
          <a:noFill/>
          <a:ln>
            <a:noFill/>
          </a:ln>
        </p:spPr>
      </p:pic>
      <p:pic>
        <p:nvPicPr>
          <p:cNvPr id="458" name="Google Shape;458;p24" descr="image.png"/>
          <p:cNvPicPr preferRelativeResize="0"/>
          <p:nvPr/>
        </p:nvPicPr>
        <p:blipFill rotWithShape="1">
          <a:blip r:embed="rId11">
            <a:alphaModFix/>
          </a:blip>
          <a:srcRect/>
          <a:stretch/>
        </p:blipFill>
        <p:spPr>
          <a:xfrm>
            <a:off x="7145833" y="2881312"/>
            <a:ext cx="200025" cy="228600"/>
          </a:xfrm>
          <a:prstGeom prst="rect">
            <a:avLst/>
          </a:prstGeom>
          <a:noFill/>
          <a:ln>
            <a:noFill/>
          </a:ln>
        </p:spPr>
      </p:pic>
      <p:pic>
        <p:nvPicPr>
          <p:cNvPr id="459" name="Google Shape;459;p24" descr="image.png"/>
          <p:cNvPicPr preferRelativeResize="0"/>
          <p:nvPr/>
        </p:nvPicPr>
        <p:blipFill rotWithShape="1">
          <a:blip r:embed="rId11">
            <a:alphaModFix/>
          </a:blip>
          <a:srcRect/>
          <a:stretch/>
        </p:blipFill>
        <p:spPr>
          <a:xfrm>
            <a:off x="9445228" y="2881312"/>
            <a:ext cx="200025" cy="228600"/>
          </a:xfrm>
          <a:prstGeom prst="rect">
            <a:avLst/>
          </a:prstGeom>
          <a:noFill/>
          <a:ln>
            <a:noFill/>
          </a:ln>
        </p:spPr>
      </p:pic>
      <p:sp>
        <p:nvSpPr>
          <p:cNvPr id="460" name="Google Shape;460;p24"/>
          <p:cNvSpPr txBox="1"/>
          <p:nvPr/>
        </p:nvSpPr>
        <p:spPr>
          <a:xfrm>
            <a:off x="765237" y="2562225"/>
            <a:ext cx="1464245"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PDF Input</a:t>
            </a:r>
            <a:endParaRPr/>
          </a:p>
        </p:txBody>
      </p:sp>
      <p:sp>
        <p:nvSpPr>
          <p:cNvPr id="461" name="Google Shape;461;p24"/>
          <p:cNvSpPr txBox="1"/>
          <p:nvPr/>
        </p:nvSpPr>
        <p:spPr>
          <a:xfrm>
            <a:off x="800100" y="2819400"/>
            <a:ext cx="1394519"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Raw Contract Upload</a:t>
            </a:r>
            <a:endParaRPr/>
          </a:p>
        </p:txBody>
      </p:sp>
      <p:sp>
        <p:nvSpPr>
          <p:cNvPr id="462" name="Google Shape;462;p24"/>
          <p:cNvSpPr txBox="1"/>
          <p:nvPr/>
        </p:nvSpPr>
        <p:spPr>
          <a:xfrm>
            <a:off x="3064631" y="2562225"/>
            <a:ext cx="1464245"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Parsing / OCR</a:t>
            </a:r>
            <a:endParaRPr/>
          </a:p>
        </p:txBody>
      </p:sp>
      <p:sp>
        <p:nvSpPr>
          <p:cNvPr id="463" name="Google Shape;463;p24"/>
          <p:cNvSpPr txBox="1"/>
          <p:nvPr/>
        </p:nvSpPr>
        <p:spPr>
          <a:xfrm>
            <a:off x="3099494" y="2819400"/>
            <a:ext cx="1394519"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PyMuPDF or EasyOCR</a:t>
            </a:r>
            <a:endParaRPr/>
          </a:p>
        </p:txBody>
      </p:sp>
      <p:sp>
        <p:nvSpPr>
          <p:cNvPr id="464" name="Google Shape;464;p24"/>
          <p:cNvSpPr txBox="1"/>
          <p:nvPr/>
        </p:nvSpPr>
        <p:spPr>
          <a:xfrm>
            <a:off x="5364026" y="2562225"/>
            <a:ext cx="1464245"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LayoutLMv3</a:t>
            </a:r>
            <a:endParaRPr/>
          </a:p>
        </p:txBody>
      </p:sp>
      <p:sp>
        <p:nvSpPr>
          <p:cNvPr id="465" name="Google Shape;465;p24"/>
          <p:cNvSpPr txBox="1"/>
          <p:nvPr/>
        </p:nvSpPr>
        <p:spPr>
          <a:xfrm>
            <a:off x="5398889" y="2819400"/>
            <a:ext cx="1394519"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Visual Layout Analysis</a:t>
            </a:r>
            <a:endParaRPr/>
          </a:p>
        </p:txBody>
      </p:sp>
      <p:sp>
        <p:nvSpPr>
          <p:cNvPr id="466" name="Google Shape;466;p24"/>
          <p:cNvSpPr txBox="1"/>
          <p:nvPr/>
        </p:nvSpPr>
        <p:spPr>
          <a:xfrm>
            <a:off x="7663420" y="2562225"/>
            <a:ext cx="1464245"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Chunking</a:t>
            </a:r>
            <a:endParaRPr/>
          </a:p>
        </p:txBody>
      </p:sp>
      <p:sp>
        <p:nvSpPr>
          <p:cNvPr id="467" name="Google Shape;467;p24"/>
          <p:cNvSpPr txBox="1"/>
          <p:nvPr/>
        </p:nvSpPr>
        <p:spPr>
          <a:xfrm>
            <a:off x="7698283" y="2819400"/>
            <a:ext cx="1394400" cy="6003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a:solidFill>
                  <a:srgbClr val="334155"/>
                </a:solidFill>
                <a:latin typeface="Urbanist"/>
                <a:ea typeface="Urbanist"/>
                <a:cs typeface="Urbanist"/>
                <a:sym typeface="Urbanist"/>
              </a:rPr>
              <a:t>512 </a:t>
            </a:r>
            <a:r>
              <a:rPr lang="en-US" sz="1500" b="0" i="0" u="none" strike="noStrike" cap="none">
                <a:solidFill>
                  <a:srgbClr val="334155"/>
                </a:solidFill>
                <a:latin typeface="Urbanist"/>
                <a:ea typeface="Urbanist"/>
                <a:cs typeface="Urbanist"/>
                <a:sym typeface="Urbanist"/>
              </a:rPr>
              <a:t>Token Segments</a:t>
            </a:r>
            <a:endParaRPr/>
          </a:p>
        </p:txBody>
      </p:sp>
      <p:sp>
        <p:nvSpPr>
          <p:cNvPr id="468" name="Google Shape;468;p24"/>
          <p:cNvSpPr txBox="1"/>
          <p:nvPr/>
        </p:nvSpPr>
        <p:spPr>
          <a:xfrm>
            <a:off x="9962815" y="2562225"/>
            <a:ext cx="1464245"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Output</a:t>
            </a:r>
            <a:endParaRPr/>
          </a:p>
        </p:txBody>
      </p:sp>
      <p:sp>
        <p:nvSpPr>
          <p:cNvPr id="469" name="Google Shape;469;p24"/>
          <p:cNvSpPr txBox="1"/>
          <p:nvPr/>
        </p:nvSpPr>
        <p:spPr>
          <a:xfrm>
            <a:off x="9997678" y="2819400"/>
            <a:ext cx="1394519"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Structured Representation</a:t>
            </a:r>
            <a:endParaRPr/>
          </a:p>
        </p:txBody>
      </p:sp>
      <p:sp>
        <p:nvSpPr>
          <p:cNvPr id="470" name="Google Shape;470;p24"/>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Workflow: Document Processing</a:t>
            </a:r>
            <a:endParaRPr/>
          </a:p>
        </p:txBody>
      </p:sp>
      <p:sp>
        <p:nvSpPr>
          <p:cNvPr id="471" name="Google Shape;471;p24"/>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75"/>
        <p:cNvGrpSpPr/>
        <p:nvPr/>
      </p:nvGrpSpPr>
      <p:grpSpPr>
        <a:xfrm>
          <a:off x="0" y="0"/>
          <a:ext cx="0" cy="0"/>
          <a:chOff x="0" y="0"/>
          <a:chExt cx="0" cy="0"/>
        </a:xfrm>
      </p:grpSpPr>
      <p:pic>
        <p:nvPicPr>
          <p:cNvPr id="476" name="Google Shape;476;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77" name="Google Shape;477;p25"/>
          <p:cNvSpPr txBox="1"/>
          <p:nvPr/>
        </p:nvSpPr>
        <p:spPr>
          <a:xfrm>
            <a:off x="590550" y="1114425"/>
            <a:ext cx="5580697"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E293B"/>
                </a:solidFill>
                <a:latin typeface="Urbanist SemiBold"/>
                <a:ea typeface="Urbanist SemiBold"/>
                <a:cs typeface="Urbanist SemiBold"/>
                <a:sym typeface="Urbanist SemiBold"/>
              </a:rPr>
              <a:t>Stateful Reasoning with LangGraph</a:t>
            </a:r>
            <a:endParaRPr/>
          </a:p>
        </p:txBody>
      </p:sp>
      <p:sp>
        <p:nvSpPr>
          <p:cNvPr id="478" name="Google Shape;478;p25"/>
          <p:cNvSpPr txBox="1"/>
          <p:nvPr/>
        </p:nvSpPr>
        <p:spPr>
          <a:xfrm>
            <a:off x="590550" y="1514475"/>
            <a:ext cx="5314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Instead of relying on a single LLM, the platform utilizes a Supervisor-based multi-agent architecture.</a:t>
            </a:r>
            <a:endParaRPr/>
          </a:p>
        </p:txBody>
      </p:sp>
      <p:sp>
        <p:nvSpPr>
          <p:cNvPr id="479" name="Google Shape;479;p25"/>
          <p:cNvSpPr txBox="1"/>
          <p:nvPr/>
        </p:nvSpPr>
        <p:spPr>
          <a:xfrm>
            <a:off x="971550" y="23145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Supervisor Agent:</a:t>
            </a:r>
            <a:r>
              <a:rPr lang="en-US" sz="1500" b="0" i="0" u="none" strike="noStrike" cap="none">
                <a:solidFill>
                  <a:srgbClr val="334155"/>
                </a:solidFill>
                <a:latin typeface="Urbanist"/>
                <a:ea typeface="Urbanist"/>
                <a:cs typeface="Urbanist"/>
                <a:sym typeface="Urbanist"/>
              </a:rPr>
              <a:t> Maintains conversational context and routes sub-tasks based on keywords.</a:t>
            </a:r>
            <a:endParaRPr/>
          </a:p>
        </p:txBody>
      </p:sp>
      <p:sp>
        <p:nvSpPr>
          <p:cNvPr id="480" name="Google Shape;480;p25"/>
          <p:cNvSpPr txBox="1"/>
          <p:nvPr/>
        </p:nvSpPr>
        <p:spPr>
          <a:xfrm>
            <a:off x="971550" y="31146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Cyclic Execution:</a:t>
            </a:r>
            <a:r>
              <a:rPr lang="en-US" sz="1500" b="0" i="0" u="none" strike="noStrike" cap="none">
                <a:solidFill>
                  <a:srgbClr val="334155"/>
                </a:solidFill>
                <a:latin typeface="Urbanist"/>
                <a:ea typeface="Urbanist"/>
                <a:cs typeface="Urbanist"/>
                <a:sym typeface="Urbanist"/>
              </a:rPr>
              <a:t> Enables agents to self-correct and iteratively refine compliance reports.</a:t>
            </a:r>
            <a:endParaRPr/>
          </a:p>
        </p:txBody>
      </p:sp>
      <p:sp>
        <p:nvSpPr>
          <p:cNvPr id="481" name="Google Shape;481;p25"/>
          <p:cNvSpPr txBox="1"/>
          <p:nvPr/>
        </p:nvSpPr>
        <p:spPr>
          <a:xfrm>
            <a:off x="971550" y="39147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Shared State:</a:t>
            </a:r>
            <a:r>
              <a:rPr lang="en-US" sz="1500" b="0" i="0" u="none" strike="noStrike" cap="none">
                <a:solidFill>
                  <a:srgbClr val="334155"/>
                </a:solidFill>
                <a:latin typeface="Urbanist"/>
                <a:ea typeface="Urbanist"/>
                <a:cs typeface="Urbanist"/>
                <a:sym typeface="Urbanist"/>
              </a:rPr>
              <a:t> TypedDict maintains active regulatory policies across interactions.</a:t>
            </a:r>
            <a:endParaRPr/>
          </a:p>
        </p:txBody>
      </p:sp>
      <p:sp>
        <p:nvSpPr>
          <p:cNvPr id="482" name="Google Shape;482;p25"/>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Agentic Orchestration</a:t>
            </a:r>
            <a:endParaRPr/>
          </a:p>
        </p:txBody>
      </p:sp>
      <p:sp>
        <p:nvSpPr>
          <p:cNvPr id="483" name="Google Shape;483;p25"/>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84" name="Google Shape;484;p25"/>
          <p:cNvPicPr preferRelativeResize="0"/>
          <p:nvPr/>
        </p:nvPicPr>
        <p:blipFill rotWithShape="1">
          <a:blip r:embed="rId4">
            <a:alphaModFix/>
          </a:blip>
          <a:srcRect l="19382" r="19382"/>
          <a:stretch/>
        </p:blipFill>
        <p:spPr>
          <a:xfrm>
            <a:off x="5515750" y="1676125"/>
            <a:ext cx="5933825" cy="39744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1" name="Google Shape;401;p24"/>
          <p:cNvSpPr txBox="1"/>
          <p:nvPr/>
        </p:nvSpPr>
        <p:spPr>
          <a:xfrm>
            <a:off x="671513" y="500063"/>
            <a:ext cx="10629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dirty="0">
                <a:solidFill>
                  <a:srgbClr val="0F172A"/>
                </a:solidFill>
                <a:latin typeface="Poppins"/>
                <a:ea typeface="Poppins"/>
                <a:cs typeface="Poppins"/>
                <a:sym typeface="Poppins"/>
              </a:rPr>
              <a:t>Collaborative </a:t>
            </a:r>
            <a:r>
              <a:rPr lang="en-US" sz="2400" b="1" dirty="0">
                <a:solidFill>
                  <a:srgbClr val="0F766E"/>
                </a:solidFill>
                <a:latin typeface="Poppins"/>
                <a:ea typeface="Poppins"/>
                <a:cs typeface="Poppins"/>
                <a:sym typeface="Poppins"/>
              </a:rPr>
              <a:t>Multi-Agent Cognitive Workflow</a:t>
            </a:r>
            <a:endParaRPr sz="2400" b="1" dirty="0">
              <a:solidFill>
                <a:srgbClr val="0F172A"/>
              </a:solidFill>
              <a:latin typeface="Poppins"/>
              <a:ea typeface="Poppins"/>
              <a:cs typeface="Poppins"/>
              <a:sym typeface="Poppins"/>
            </a:endParaRPr>
          </a:p>
        </p:txBody>
      </p:sp>
      <p:sp>
        <p:nvSpPr>
          <p:cNvPr id="402" name="Google Shape;402;p24"/>
          <p:cNvSpPr txBox="1"/>
          <p:nvPr/>
        </p:nvSpPr>
        <p:spPr>
          <a:xfrm>
            <a:off x="676275" y="971550"/>
            <a:ext cx="108396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475569"/>
                </a:solidFill>
                <a:latin typeface="Inter"/>
                <a:ea typeface="Inter"/>
                <a:cs typeface="Inter"/>
                <a:sym typeface="Inter"/>
              </a:rPr>
              <a:t>Unlike traditional linear AI pipelines, the proposed platform employs a stateful multi-agent architecture in which specialized AI agents collaborate through a shared workflow state to perform iterative compliance analysis and autonomous decision-making.</a:t>
            </a:r>
            <a:endParaRPr sz="1100" b="0">
              <a:solidFill>
                <a:srgbClr val="475569"/>
              </a:solidFill>
              <a:latin typeface="Inter"/>
              <a:ea typeface="Inter"/>
              <a:cs typeface="Inter"/>
              <a:sym typeface="Inter"/>
            </a:endParaRPr>
          </a:p>
        </p:txBody>
      </p:sp>
      <p:grpSp>
        <p:nvGrpSpPr>
          <p:cNvPr id="2" name="Google Shape;403;p24"/>
          <p:cNvGrpSpPr/>
          <p:nvPr/>
        </p:nvGrpSpPr>
        <p:grpSpPr>
          <a:xfrm>
            <a:off x="676275" y="1571625"/>
            <a:ext cx="5048400" cy="4714800"/>
            <a:chOff x="676275" y="1571625"/>
            <a:chExt cx="5048400" cy="4714800"/>
          </a:xfrm>
        </p:grpSpPr>
        <p:sp>
          <p:nvSpPr>
            <p:cNvPr id="404" name="Google Shape;404;p24"/>
            <p:cNvSpPr/>
            <p:nvPr/>
          </p:nvSpPr>
          <p:spPr>
            <a:xfrm>
              <a:off x="676275" y="1571625"/>
              <a:ext cx="5048400" cy="4714800"/>
            </a:xfrm>
            <a:prstGeom prst="roundRect">
              <a:avLst>
                <a:gd name="adj" fmla="val 161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5" name="Google Shape;405;p24"/>
            <p:cNvSpPr/>
            <p:nvPr/>
          </p:nvSpPr>
          <p:spPr>
            <a:xfrm>
              <a:off x="676275" y="1571625"/>
              <a:ext cx="5048400" cy="333300"/>
            </a:xfrm>
            <a:prstGeom prst="roundRect">
              <a:avLst>
                <a:gd name="adj" fmla="val 22857"/>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24"/>
            <p:cNvSpPr txBox="1"/>
            <p:nvPr/>
          </p:nvSpPr>
          <p:spPr>
            <a:xfrm>
              <a:off x="819150" y="1638300"/>
              <a:ext cx="47625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25" b="1">
                  <a:solidFill>
                    <a:srgbClr val="334155"/>
                  </a:solidFill>
                  <a:latin typeface="Poppins"/>
                  <a:ea typeface="Poppins"/>
                  <a:cs typeface="Poppins"/>
                  <a:sym typeface="Poppins"/>
                </a:rPr>
                <a:t>COLLABORATIVE ARCHITECTURE &amp; DATA FLOW</a:t>
              </a:r>
              <a:endParaRPr sz="925" b="1">
                <a:solidFill>
                  <a:srgbClr val="334155"/>
                </a:solidFill>
                <a:latin typeface="Poppins"/>
                <a:ea typeface="Poppins"/>
                <a:cs typeface="Poppins"/>
                <a:sym typeface="Poppins"/>
              </a:endParaRPr>
            </a:p>
          </p:txBody>
        </p:sp>
        <p:sp>
          <p:nvSpPr>
            <p:cNvPr id="407" name="Google Shape;407;p24"/>
            <p:cNvSpPr/>
            <p:nvPr/>
          </p:nvSpPr>
          <p:spPr>
            <a:xfrm>
              <a:off x="952500" y="2047875"/>
              <a:ext cx="2095500" cy="342900"/>
            </a:xfrm>
            <a:prstGeom prst="roundRect">
              <a:avLst>
                <a:gd name="adj" fmla="val 16666"/>
              </a:avLst>
            </a:prstGeom>
            <a:solidFill>
              <a:srgbClr val="F0FDF4"/>
            </a:solidFill>
            <a:ln w="9525" cap="flat" cmpd="sng">
              <a:solidFill>
                <a:srgbClr val="BBF7D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8" name="Google Shape;408;p24"/>
            <p:cNvSpPr txBox="1"/>
            <p:nvPr/>
          </p:nvSpPr>
          <p:spPr>
            <a:xfrm>
              <a:off x="1000125" y="2105025"/>
              <a:ext cx="2000100" cy="228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0" dirty="0">
                  <a:solidFill>
                    <a:srgbClr val="166534"/>
                  </a:solidFill>
                  <a:latin typeface="Inter SemiBold"/>
                  <a:ea typeface="Inter SemiBold"/>
                  <a:cs typeface="Inter SemiBold"/>
                  <a:sym typeface="Inter SemiBold"/>
                </a:rPr>
                <a:t>📄 </a:t>
              </a:r>
              <a:r>
                <a:rPr lang="en-US" sz="900" b="0" dirty="0" smtClean="0">
                  <a:solidFill>
                    <a:srgbClr val="166534"/>
                  </a:solidFill>
                  <a:latin typeface="Inter SemiBold"/>
                  <a:ea typeface="Inter SemiBold"/>
                  <a:cs typeface="Inter SemiBold"/>
                  <a:sym typeface="Inter SemiBold"/>
                </a:rPr>
                <a:t>  Banking </a:t>
              </a:r>
              <a:r>
                <a:rPr lang="en-US" sz="900" b="0" dirty="0">
                  <a:solidFill>
                    <a:srgbClr val="166534"/>
                  </a:solidFill>
                  <a:latin typeface="Inter SemiBold"/>
                  <a:ea typeface="Inter SemiBold"/>
                  <a:cs typeface="Inter SemiBold"/>
                  <a:sym typeface="Inter SemiBold"/>
                </a:rPr>
                <a:t>Contract</a:t>
              </a:r>
              <a:endParaRPr sz="900" b="0" dirty="0">
                <a:solidFill>
                  <a:srgbClr val="166534"/>
                </a:solidFill>
                <a:latin typeface="Inter SemiBold"/>
                <a:ea typeface="Inter SemiBold"/>
                <a:cs typeface="Inter SemiBold"/>
                <a:sym typeface="Inter SemiBold"/>
              </a:endParaRPr>
            </a:p>
          </p:txBody>
        </p:sp>
        <p:sp>
          <p:nvSpPr>
            <p:cNvPr id="409" name="Google Shape;409;p24"/>
            <p:cNvSpPr/>
            <p:nvPr/>
          </p:nvSpPr>
          <p:spPr>
            <a:xfrm>
              <a:off x="3238500" y="2047875"/>
              <a:ext cx="2095500" cy="342900"/>
            </a:xfrm>
            <a:prstGeom prst="roundRect">
              <a:avLst>
                <a:gd name="adj" fmla="val 16666"/>
              </a:avLst>
            </a:prstGeom>
            <a:solidFill>
              <a:srgbClr val="F0FDF4"/>
            </a:solidFill>
            <a:ln w="9525" cap="flat" cmpd="sng">
              <a:solidFill>
                <a:srgbClr val="BBF7D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0" name="Google Shape;410;p24"/>
            <p:cNvSpPr txBox="1"/>
            <p:nvPr/>
          </p:nvSpPr>
          <p:spPr>
            <a:xfrm>
              <a:off x="3286125" y="2105025"/>
              <a:ext cx="2000100" cy="228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0" dirty="0">
                  <a:solidFill>
                    <a:srgbClr val="166534"/>
                  </a:solidFill>
                  <a:latin typeface="Inter SemiBold"/>
                  <a:ea typeface="Inter SemiBold"/>
                  <a:cs typeface="Inter SemiBold"/>
                  <a:sym typeface="Inter SemiBold"/>
                </a:rPr>
                <a:t>📋 </a:t>
              </a:r>
              <a:r>
                <a:rPr lang="en-US" sz="900" b="0" dirty="0" smtClean="0">
                  <a:solidFill>
                    <a:srgbClr val="166534"/>
                  </a:solidFill>
                  <a:latin typeface="Inter SemiBold"/>
                  <a:ea typeface="Inter SemiBold"/>
                  <a:cs typeface="Inter SemiBold"/>
                  <a:sym typeface="Inter SemiBold"/>
                </a:rPr>
                <a:t>   RBI </a:t>
              </a:r>
              <a:r>
                <a:rPr lang="en-US" sz="900" b="0" dirty="0">
                  <a:solidFill>
                    <a:srgbClr val="166534"/>
                  </a:solidFill>
                  <a:latin typeface="Inter SemiBold"/>
                  <a:ea typeface="Inter SemiBold"/>
                  <a:cs typeface="Inter SemiBold"/>
                  <a:sym typeface="Inter SemiBold"/>
                </a:rPr>
                <a:t>Circular / Policy</a:t>
              </a:r>
              <a:endParaRPr sz="900" b="0" dirty="0">
                <a:solidFill>
                  <a:srgbClr val="166534"/>
                </a:solidFill>
                <a:latin typeface="Inter SemiBold"/>
                <a:ea typeface="Inter SemiBold"/>
                <a:cs typeface="Inter SemiBold"/>
                <a:sym typeface="Inter SemiBold"/>
              </a:endParaRPr>
            </a:p>
          </p:txBody>
        </p:sp>
        <p:pic>
          <p:nvPicPr>
            <p:cNvPr id="411" name="Google Shape;411;p24"/>
            <p:cNvPicPr preferRelativeResize="0"/>
            <p:nvPr/>
          </p:nvPicPr>
          <p:blipFill rotWithShape="1">
            <a:blip r:embed="rId3">
              <a:alphaModFix/>
            </a:blip>
            <a:srcRect/>
            <a:stretch/>
          </p:blipFill>
          <p:spPr>
            <a:xfrm>
              <a:off x="1990725" y="2390775"/>
              <a:ext cx="1190700" cy="347700"/>
            </a:xfrm>
            <a:prstGeom prst="rect">
              <a:avLst/>
            </a:prstGeom>
            <a:noFill/>
            <a:ln>
              <a:noFill/>
            </a:ln>
          </p:spPr>
        </p:pic>
        <p:pic>
          <p:nvPicPr>
            <p:cNvPr id="412" name="Google Shape;412;p24"/>
            <p:cNvPicPr preferRelativeResize="0"/>
            <p:nvPr/>
          </p:nvPicPr>
          <p:blipFill rotWithShape="1">
            <a:blip r:embed="rId4">
              <a:alphaModFix/>
            </a:blip>
            <a:srcRect/>
            <a:stretch/>
          </p:blipFill>
          <p:spPr>
            <a:xfrm>
              <a:off x="3105150" y="2390775"/>
              <a:ext cx="1190700" cy="347700"/>
            </a:xfrm>
            <a:prstGeom prst="rect">
              <a:avLst/>
            </a:prstGeom>
            <a:noFill/>
            <a:ln>
              <a:noFill/>
            </a:ln>
          </p:spPr>
        </p:pic>
        <p:sp>
          <p:nvSpPr>
            <p:cNvPr id="413" name="Google Shape;413;p24"/>
            <p:cNvSpPr/>
            <p:nvPr/>
          </p:nvSpPr>
          <p:spPr>
            <a:xfrm>
              <a:off x="1714500" y="2762250"/>
              <a:ext cx="2857500" cy="400200"/>
            </a:xfrm>
            <a:prstGeom prst="roundRect">
              <a:avLst>
                <a:gd name="adj" fmla="val 14285"/>
              </a:avLst>
            </a:prstGeom>
            <a:solidFill>
              <a:srgbClr val="E0F2FE"/>
            </a:solidFill>
            <a:ln w="9525" cap="flat" cmpd="sng">
              <a:solidFill>
                <a:srgbClr val="BAE6FD"/>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4" name="Google Shape;414;p24"/>
            <p:cNvSpPr txBox="1"/>
            <p:nvPr/>
          </p:nvSpPr>
          <p:spPr>
            <a:xfrm>
              <a:off x="1762125" y="2819400"/>
              <a:ext cx="2762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0369A1"/>
                  </a:solidFill>
                  <a:latin typeface="Inter"/>
                  <a:ea typeface="Inter"/>
                  <a:cs typeface="Inter"/>
                  <a:sym typeface="Inter"/>
                </a:rPr>
                <a:t>LayoutLMv3 + Legal-BERT</a:t>
              </a:r>
              <a:br>
                <a:rPr lang="en-US" sz="900" b="1">
                  <a:solidFill>
                    <a:srgbClr val="0369A1"/>
                  </a:solidFill>
                  <a:latin typeface="Inter"/>
                  <a:ea typeface="Inter"/>
                  <a:cs typeface="Inter"/>
                  <a:sym typeface="Inter"/>
                </a:rPr>
              </a:br>
              <a:r>
                <a:rPr lang="en-US" sz="750" b="0">
                  <a:solidFill>
                    <a:srgbClr val="0284C7"/>
                  </a:solidFill>
                  <a:latin typeface="Inter Medium"/>
                  <a:ea typeface="Inter Medium"/>
                  <a:cs typeface="Inter Medium"/>
                  <a:sym typeface="Inter Medium"/>
                </a:rPr>
                <a:t>(Document Understanding Layer)</a:t>
              </a:r>
              <a:endParaRPr sz="900" b="1">
                <a:solidFill>
                  <a:srgbClr val="0369A1"/>
                </a:solidFill>
                <a:latin typeface="Inter"/>
                <a:ea typeface="Inter"/>
                <a:cs typeface="Inter"/>
                <a:sym typeface="Inter"/>
              </a:endParaRPr>
            </a:p>
          </p:txBody>
        </p:sp>
        <p:pic>
          <p:nvPicPr>
            <p:cNvPr id="415" name="Google Shape;415;p24"/>
            <p:cNvPicPr preferRelativeResize="0"/>
            <p:nvPr/>
          </p:nvPicPr>
          <p:blipFill rotWithShape="1">
            <a:blip r:embed="rId5">
              <a:alphaModFix/>
            </a:blip>
            <a:srcRect/>
            <a:stretch/>
          </p:blipFill>
          <p:spPr>
            <a:xfrm>
              <a:off x="3105150" y="3162300"/>
              <a:ext cx="76200" cy="147600"/>
            </a:xfrm>
            <a:prstGeom prst="rect">
              <a:avLst/>
            </a:prstGeom>
            <a:noFill/>
            <a:ln>
              <a:noFill/>
            </a:ln>
          </p:spPr>
        </p:pic>
        <p:pic>
          <p:nvPicPr>
            <p:cNvPr id="416" name="Google Shape;416;p24"/>
            <p:cNvPicPr preferRelativeResize="0"/>
            <p:nvPr/>
          </p:nvPicPr>
          <p:blipFill rotWithShape="1">
            <a:blip r:embed="rId6">
              <a:alphaModFix/>
            </a:blip>
            <a:srcRect/>
            <a:stretch/>
          </p:blipFill>
          <p:spPr>
            <a:xfrm>
              <a:off x="1514475" y="3324225"/>
              <a:ext cx="3257700" cy="1495500"/>
            </a:xfrm>
            <a:prstGeom prst="rect">
              <a:avLst/>
            </a:prstGeom>
            <a:noFill/>
            <a:ln>
              <a:noFill/>
            </a:ln>
          </p:spPr>
        </p:pic>
        <p:sp>
          <p:nvSpPr>
            <p:cNvPr id="417" name="Google Shape;417;p24"/>
            <p:cNvSpPr txBox="1"/>
            <p:nvPr/>
          </p:nvSpPr>
          <p:spPr>
            <a:xfrm>
              <a:off x="1619250" y="3390900"/>
              <a:ext cx="30480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50" b="1" dirty="0" smtClean="0">
                  <a:solidFill>
                    <a:srgbClr val="0F766E"/>
                  </a:solidFill>
                  <a:latin typeface="Poppins"/>
                  <a:ea typeface="Poppins"/>
                  <a:cs typeface="Poppins"/>
                  <a:sym typeface="Poppins"/>
                </a:rPr>
                <a:t>🧠   </a:t>
              </a:r>
              <a:r>
                <a:rPr lang="en-US" sz="950" b="1" dirty="0">
                  <a:solidFill>
                    <a:srgbClr val="0F766E"/>
                  </a:solidFill>
                  <a:latin typeface="Poppins"/>
                  <a:ea typeface="Poppins"/>
                  <a:cs typeface="Poppins"/>
                  <a:sym typeface="Poppins"/>
                </a:rPr>
                <a:t>Shared Workflow State (</a:t>
              </a:r>
              <a:r>
                <a:rPr lang="en-US" sz="950" b="1" dirty="0" err="1">
                  <a:solidFill>
                    <a:srgbClr val="0F766E"/>
                  </a:solidFill>
                  <a:latin typeface="Poppins"/>
                  <a:ea typeface="Poppins"/>
                  <a:cs typeface="Poppins"/>
                  <a:sym typeface="Poppins"/>
                </a:rPr>
                <a:t>LangGraph</a:t>
              </a:r>
              <a:r>
                <a:rPr lang="en-US" sz="950" b="1" dirty="0">
                  <a:solidFill>
                    <a:srgbClr val="0F766E"/>
                  </a:solidFill>
                  <a:latin typeface="Poppins"/>
                  <a:ea typeface="Poppins"/>
                  <a:cs typeface="Poppins"/>
                  <a:sym typeface="Poppins"/>
                </a:rPr>
                <a:t>)</a:t>
              </a:r>
              <a:endParaRPr sz="950" b="1" dirty="0">
                <a:solidFill>
                  <a:srgbClr val="0F766E"/>
                </a:solidFill>
                <a:latin typeface="Poppins"/>
                <a:ea typeface="Poppins"/>
                <a:cs typeface="Poppins"/>
                <a:sym typeface="Poppins"/>
              </a:endParaRPr>
            </a:p>
          </p:txBody>
        </p:sp>
        <p:sp>
          <p:nvSpPr>
            <p:cNvPr id="418" name="Google Shape;418;p24"/>
            <p:cNvSpPr/>
            <p:nvPr/>
          </p:nvSpPr>
          <p:spPr>
            <a:xfrm>
              <a:off x="1666875" y="3619500"/>
              <a:ext cx="2952900" cy="1095300"/>
            </a:xfrm>
            <a:prstGeom prst="roundRect">
              <a:avLst>
                <a:gd name="adj" fmla="val 3478"/>
              </a:avLst>
            </a:prstGeom>
            <a:solidFill>
              <a:srgbClr val="FFFFFF">
                <a:alpha val="89999"/>
              </a:srgbClr>
            </a:solidFill>
            <a:ln w="9525" cap="flat" cmpd="sng">
              <a:solidFill>
                <a:srgbClr val="5EEAD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9" name="Google Shape;419;p24"/>
            <p:cNvSpPr txBox="1"/>
            <p:nvPr/>
          </p:nvSpPr>
          <p:spPr>
            <a:xfrm>
              <a:off x="1762125" y="3676650"/>
              <a:ext cx="2762400" cy="10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0">
                  <a:solidFill>
                    <a:srgbClr val="0D9488"/>
                  </a:solidFill>
                  <a:latin typeface="Fira Code Medium"/>
                  <a:ea typeface="Fira Code Medium"/>
                  <a:cs typeface="Fira Code Medium"/>
                  <a:sym typeface="Fira Code Medium"/>
                </a:rPr>
                <a:t>&gt; active_context:</a:t>
              </a:r>
              <a:r>
                <a:rPr lang="en-US" sz="800" b="0">
                  <a:solidFill>
                    <a:srgbClr val="0F766E"/>
                  </a:solidFill>
                  <a:latin typeface="Fira Code Medium"/>
                  <a:ea typeface="Fira Code Medium"/>
                  <a:cs typeface="Fira Code Medium"/>
                  <a:sym typeface="Fira Code Medium"/>
                </a:rPr>
                <a:t> "Page 4, Clause 12"</a:t>
              </a:r>
              <a:br>
                <a:rPr lang="en-US" sz="800" b="0">
                  <a:solidFill>
                    <a:srgbClr val="0F766E"/>
                  </a:solidFill>
                  <a:latin typeface="Fira Code Medium"/>
                  <a:ea typeface="Fira Code Medium"/>
                  <a:cs typeface="Fira Code Medium"/>
                  <a:sym typeface="Fira Code Medium"/>
                </a:rPr>
              </a:br>
              <a:r>
                <a:rPr lang="en-US" sz="800" b="0">
                  <a:solidFill>
                    <a:srgbClr val="0D9488"/>
                  </a:solidFill>
                  <a:latin typeface="Fira Code Medium"/>
                  <a:ea typeface="Fira Code Medium"/>
                  <a:cs typeface="Fira Code Medium"/>
                  <a:sym typeface="Fira Code Medium"/>
                </a:rPr>
                <a:t>&gt; parsed_clauses:</a:t>
              </a:r>
              <a:r>
                <a:rPr lang="en-US" sz="800" b="0">
                  <a:solidFill>
                    <a:srgbClr val="0F766E"/>
                  </a:solidFill>
                  <a:latin typeface="Fira Code Medium"/>
                  <a:ea typeface="Fira Code Medium"/>
                  <a:cs typeface="Fira Code Medium"/>
                  <a:sym typeface="Fira Code Medium"/>
                </a:rPr>
                <a:t> 3 obligations found</a:t>
              </a:r>
              <a:br>
                <a:rPr lang="en-US" sz="800" b="0">
                  <a:solidFill>
                    <a:srgbClr val="0F766E"/>
                  </a:solidFill>
                  <a:latin typeface="Fira Code Medium"/>
                  <a:ea typeface="Fira Code Medium"/>
                  <a:cs typeface="Fira Code Medium"/>
                  <a:sym typeface="Fira Code Medium"/>
                </a:rPr>
              </a:br>
              <a:r>
                <a:rPr lang="en-US" sz="800" b="0">
                  <a:solidFill>
                    <a:srgbClr val="0D9488"/>
                  </a:solidFill>
                  <a:latin typeface="Fira Code Medium"/>
                  <a:ea typeface="Fira Code Medium"/>
                  <a:cs typeface="Fira Code Medium"/>
                  <a:sym typeface="Fira Code Medium"/>
                </a:rPr>
                <a:t>&gt; retrieved_regs:</a:t>
              </a:r>
              <a:r>
                <a:rPr lang="en-US" sz="800" b="0">
                  <a:solidFill>
                    <a:srgbClr val="0F766E"/>
                  </a:solidFill>
                  <a:latin typeface="Fira Code Medium"/>
                  <a:ea typeface="Fira Code Medium"/>
                  <a:cs typeface="Fira Code Medium"/>
                  <a:sym typeface="Fira Code Medium"/>
                </a:rPr>
                <a:t> "RBI/2024/15-Circular"</a:t>
              </a:r>
              <a:br>
                <a:rPr lang="en-US" sz="800" b="0">
                  <a:solidFill>
                    <a:srgbClr val="0F766E"/>
                  </a:solidFill>
                  <a:latin typeface="Fira Code Medium"/>
                  <a:ea typeface="Fira Code Medium"/>
                  <a:cs typeface="Fira Code Medium"/>
                  <a:sym typeface="Fira Code Medium"/>
                </a:rPr>
              </a:br>
              <a:r>
                <a:rPr lang="en-US" sz="800" b="0">
                  <a:solidFill>
                    <a:srgbClr val="0D9488"/>
                  </a:solidFill>
                  <a:latin typeface="Fira Code Medium"/>
                  <a:ea typeface="Fira Code Medium"/>
                  <a:cs typeface="Fira Code Medium"/>
                  <a:sym typeface="Fira Code Medium"/>
                </a:rPr>
                <a:t>&gt; agent_decisions:</a:t>
              </a:r>
              <a:r>
                <a:rPr lang="en-US" sz="800" b="0">
                  <a:solidFill>
                    <a:srgbClr val="0F766E"/>
                  </a:solidFill>
                  <a:latin typeface="Fira Code Medium"/>
                  <a:ea typeface="Fira Code Medium"/>
                  <a:cs typeface="Fira Code Medium"/>
                  <a:sym typeface="Fira Code Medium"/>
                </a:rPr>
                <a:t> Extractor: OK | Risk: PENDING</a:t>
              </a:r>
              <a:br>
                <a:rPr lang="en-US" sz="800" b="0">
                  <a:solidFill>
                    <a:srgbClr val="0F766E"/>
                  </a:solidFill>
                  <a:latin typeface="Fira Code Medium"/>
                  <a:ea typeface="Fira Code Medium"/>
                  <a:cs typeface="Fira Code Medium"/>
                  <a:sym typeface="Fira Code Medium"/>
                </a:rPr>
              </a:br>
              <a:r>
                <a:rPr lang="en-US" sz="800" b="0">
                  <a:solidFill>
                    <a:srgbClr val="0D9488"/>
                  </a:solidFill>
                  <a:latin typeface="Fira Code Medium"/>
                  <a:ea typeface="Fira Code Medium"/>
                  <a:cs typeface="Fira Code Medium"/>
                  <a:sym typeface="Fira Code Medium"/>
                </a:rPr>
                <a:t>&gt; validation_status:</a:t>
              </a:r>
              <a:r>
                <a:rPr lang="en-US" sz="800" b="0">
                  <a:solidFill>
                    <a:srgbClr val="0F766E"/>
                  </a:solidFill>
                  <a:latin typeface="Fira Code Medium"/>
                  <a:ea typeface="Fira Code Medium"/>
                  <a:cs typeface="Fira Code Medium"/>
                  <a:sym typeface="Fira Code Medium"/>
                </a:rPr>
                <a:t> Guardrails PASS</a:t>
              </a:r>
              <a:endParaRPr sz="800" b="0">
                <a:solidFill>
                  <a:srgbClr val="0F766E"/>
                </a:solidFill>
                <a:latin typeface="Fira Code Medium"/>
                <a:ea typeface="Fira Code Medium"/>
                <a:cs typeface="Fira Code Medium"/>
                <a:sym typeface="Fira Code Medium"/>
              </a:endParaRPr>
            </a:p>
          </p:txBody>
        </p:sp>
        <p:pic>
          <p:nvPicPr>
            <p:cNvPr id="420" name="Google Shape;420;p24"/>
            <p:cNvPicPr preferRelativeResize="0"/>
            <p:nvPr/>
          </p:nvPicPr>
          <p:blipFill rotWithShape="1">
            <a:blip r:embed="rId7">
              <a:alphaModFix/>
            </a:blip>
            <a:srcRect/>
            <a:stretch/>
          </p:blipFill>
          <p:spPr>
            <a:xfrm>
              <a:off x="1962150" y="4810125"/>
              <a:ext cx="76200" cy="119100"/>
            </a:xfrm>
            <a:prstGeom prst="rect">
              <a:avLst/>
            </a:prstGeom>
            <a:noFill/>
            <a:ln>
              <a:noFill/>
            </a:ln>
          </p:spPr>
        </p:pic>
        <p:pic>
          <p:nvPicPr>
            <p:cNvPr id="421" name="Google Shape;421;p24"/>
            <p:cNvPicPr preferRelativeResize="0"/>
            <p:nvPr/>
          </p:nvPicPr>
          <p:blipFill rotWithShape="1">
            <a:blip r:embed="rId7">
              <a:alphaModFix/>
            </a:blip>
            <a:srcRect/>
            <a:stretch/>
          </p:blipFill>
          <p:spPr>
            <a:xfrm>
              <a:off x="3105150" y="4810125"/>
              <a:ext cx="76200" cy="119100"/>
            </a:xfrm>
            <a:prstGeom prst="rect">
              <a:avLst/>
            </a:prstGeom>
            <a:noFill/>
            <a:ln>
              <a:noFill/>
            </a:ln>
          </p:spPr>
        </p:pic>
        <p:pic>
          <p:nvPicPr>
            <p:cNvPr id="422" name="Google Shape;422;p24"/>
            <p:cNvPicPr preferRelativeResize="0"/>
            <p:nvPr/>
          </p:nvPicPr>
          <p:blipFill rotWithShape="1">
            <a:blip r:embed="rId7">
              <a:alphaModFix/>
            </a:blip>
            <a:srcRect/>
            <a:stretch/>
          </p:blipFill>
          <p:spPr>
            <a:xfrm>
              <a:off x="4248150" y="4810125"/>
              <a:ext cx="76200" cy="119100"/>
            </a:xfrm>
            <a:prstGeom prst="rect">
              <a:avLst/>
            </a:prstGeom>
            <a:noFill/>
            <a:ln>
              <a:noFill/>
            </a:ln>
          </p:spPr>
        </p:pic>
        <p:pic>
          <p:nvPicPr>
            <p:cNvPr id="423" name="Google Shape;423;p24"/>
            <p:cNvPicPr preferRelativeResize="0"/>
            <p:nvPr/>
          </p:nvPicPr>
          <p:blipFill rotWithShape="1">
            <a:blip r:embed="rId8">
              <a:alphaModFix/>
            </a:blip>
            <a:srcRect/>
            <a:stretch/>
          </p:blipFill>
          <p:spPr>
            <a:xfrm>
              <a:off x="2105025" y="4833938"/>
              <a:ext cx="76200" cy="119100"/>
            </a:xfrm>
            <a:prstGeom prst="rect">
              <a:avLst/>
            </a:prstGeom>
            <a:noFill/>
            <a:ln>
              <a:noFill/>
            </a:ln>
          </p:spPr>
        </p:pic>
        <p:pic>
          <p:nvPicPr>
            <p:cNvPr id="424" name="Google Shape;424;p24"/>
            <p:cNvPicPr preferRelativeResize="0"/>
            <p:nvPr/>
          </p:nvPicPr>
          <p:blipFill rotWithShape="1">
            <a:blip r:embed="rId8">
              <a:alphaModFix/>
            </a:blip>
            <a:srcRect/>
            <a:stretch/>
          </p:blipFill>
          <p:spPr>
            <a:xfrm>
              <a:off x="3248025" y="4833938"/>
              <a:ext cx="76200" cy="119100"/>
            </a:xfrm>
            <a:prstGeom prst="rect">
              <a:avLst/>
            </a:prstGeom>
            <a:noFill/>
            <a:ln>
              <a:noFill/>
            </a:ln>
          </p:spPr>
        </p:pic>
        <p:pic>
          <p:nvPicPr>
            <p:cNvPr id="425" name="Google Shape;425;p24"/>
            <p:cNvPicPr preferRelativeResize="0"/>
            <p:nvPr/>
          </p:nvPicPr>
          <p:blipFill rotWithShape="1">
            <a:blip r:embed="rId8">
              <a:alphaModFix/>
            </a:blip>
            <a:srcRect/>
            <a:stretch/>
          </p:blipFill>
          <p:spPr>
            <a:xfrm>
              <a:off x="4391025" y="4833938"/>
              <a:ext cx="76200" cy="119100"/>
            </a:xfrm>
            <a:prstGeom prst="rect">
              <a:avLst/>
            </a:prstGeom>
            <a:noFill/>
            <a:ln>
              <a:noFill/>
            </a:ln>
          </p:spPr>
        </p:pic>
        <p:sp>
          <p:nvSpPr>
            <p:cNvPr id="426" name="Google Shape;426;p24"/>
            <p:cNvSpPr/>
            <p:nvPr/>
          </p:nvSpPr>
          <p:spPr>
            <a:xfrm>
              <a:off x="952500" y="4953000"/>
              <a:ext cx="1285800" cy="400200"/>
            </a:xfrm>
            <a:prstGeom prst="roundRect">
              <a:avLst>
                <a:gd name="adj" fmla="val 14285"/>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7" name="Google Shape;427;p24"/>
            <p:cNvSpPr txBox="1"/>
            <p:nvPr/>
          </p:nvSpPr>
          <p:spPr>
            <a:xfrm>
              <a:off x="971550" y="5010150"/>
              <a:ext cx="12477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50" b="1">
                  <a:solidFill>
                    <a:srgbClr val="FFFFFF"/>
                  </a:solidFill>
                  <a:latin typeface="Poppins"/>
                  <a:ea typeface="Poppins"/>
                  <a:cs typeface="Poppins"/>
                  <a:sym typeface="Poppins"/>
                </a:rPr>
                <a:t>Obligation Extractor</a:t>
              </a:r>
              <a:br>
                <a:rPr lang="en-US" sz="750" b="1">
                  <a:solidFill>
                    <a:srgbClr val="FFFFFF"/>
                  </a:solidFill>
                  <a:latin typeface="Poppins"/>
                  <a:ea typeface="Poppins"/>
                  <a:cs typeface="Poppins"/>
                  <a:sym typeface="Poppins"/>
                </a:rPr>
              </a:br>
              <a:r>
                <a:rPr lang="en-US" sz="600" b="0">
                  <a:solidFill>
                    <a:srgbClr val="CCFBF1"/>
                  </a:solidFill>
                  <a:latin typeface="Poppins"/>
                  <a:ea typeface="Poppins"/>
                  <a:cs typeface="Poppins"/>
                  <a:sym typeface="Poppins"/>
                </a:rPr>
                <a:t>Reads &amp; Writes</a:t>
              </a:r>
              <a:endParaRPr sz="750" b="1">
                <a:solidFill>
                  <a:srgbClr val="FFFFFF"/>
                </a:solidFill>
                <a:latin typeface="Poppins"/>
                <a:ea typeface="Poppins"/>
                <a:cs typeface="Poppins"/>
                <a:sym typeface="Poppins"/>
              </a:endParaRPr>
            </a:p>
          </p:txBody>
        </p:sp>
        <p:sp>
          <p:nvSpPr>
            <p:cNvPr id="428" name="Google Shape;428;p24"/>
            <p:cNvSpPr/>
            <p:nvPr/>
          </p:nvSpPr>
          <p:spPr>
            <a:xfrm>
              <a:off x="2495550" y="4953000"/>
              <a:ext cx="1285800" cy="400200"/>
            </a:xfrm>
            <a:prstGeom prst="roundRect">
              <a:avLst>
                <a:gd name="adj" fmla="val 14285"/>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9" name="Google Shape;429;p24"/>
            <p:cNvSpPr txBox="1"/>
            <p:nvPr/>
          </p:nvSpPr>
          <p:spPr>
            <a:xfrm>
              <a:off x="2514600" y="5010150"/>
              <a:ext cx="12477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50" b="1">
                  <a:solidFill>
                    <a:srgbClr val="FFFFFF"/>
                  </a:solidFill>
                  <a:latin typeface="Poppins"/>
                  <a:ea typeface="Poppins"/>
                  <a:cs typeface="Poppins"/>
                  <a:sym typeface="Poppins"/>
                </a:rPr>
                <a:t>Risk Analyzer Agent</a:t>
              </a:r>
              <a:br>
                <a:rPr lang="en-US" sz="750" b="1">
                  <a:solidFill>
                    <a:srgbClr val="FFFFFF"/>
                  </a:solidFill>
                  <a:latin typeface="Poppins"/>
                  <a:ea typeface="Poppins"/>
                  <a:cs typeface="Poppins"/>
                  <a:sym typeface="Poppins"/>
                </a:rPr>
              </a:br>
              <a:r>
                <a:rPr lang="en-US" sz="600" b="0">
                  <a:solidFill>
                    <a:srgbClr val="CCFBF1"/>
                  </a:solidFill>
                  <a:latin typeface="Poppins"/>
                  <a:ea typeface="Poppins"/>
                  <a:cs typeface="Poppins"/>
                  <a:sym typeface="Poppins"/>
                </a:rPr>
                <a:t>Reads &amp; Writes</a:t>
              </a:r>
              <a:endParaRPr sz="750" b="1">
                <a:solidFill>
                  <a:srgbClr val="FFFFFF"/>
                </a:solidFill>
                <a:latin typeface="Poppins"/>
                <a:ea typeface="Poppins"/>
                <a:cs typeface="Poppins"/>
                <a:sym typeface="Poppins"/>
              </a:endParaRPr>
            </a:p>
          </p:txBody>
        </p:sp>
        <p:sp>
          <p:nvSpPr>
            <p:cNvPr id="430" name="Google Shape;430;p24"/>
            <p:cNvSpPr/>
            <p:nvPr/>
          </p:nvSpPr>
          <p:spPr>
            <a:xfrm>
              <a:off x="4048125" y="4953000"/>
              <a:ext cx="1285800" cy="400200"/>
            </a:xfrm>
            <a:prstGeom prst="roundRect">
              <a:avLst>
                <a:gd name="adj" fmla="val 14285"/>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24"/>
            <p:cNvSpPr txBox="1"/>
            <p:nvPr/>
          </p:nvSpPr>
          <p:spPr>
            <a:xfrm>
              <a:off x="4067175" y="5010150"/>
              <a:ext cx="12477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50" b="1">
                  <a:solidFill>
                    <a:srgbClr val="FFFFFF"/>
                  </a:solidFill>
                  <a:latin typeface="Poppins"/>
                  <a:ea typeface="Poppins"/>
                  <a:cs typeface="Poppins"/>
                  <a:sym typeface="Poppins"/>
                </a:rPr>
                <a:t>Compliance Reporter</a:t>
              </a:r>
              <a:br>
                <a:rPr lang="en-US" sz="750" b="1">
                  <a:solidFill>
                    <a:srgbClr val="FFFFFF"/>
                  </a:solidFill>
                  <a:latin typeface="Poppins"/>
                  <a:ea typeface="Poppins"/>
                  <a:cs typeface="Poppins"/>
                  <a:sym typeface="Poppins"/>
                </a:rPr>
              </a:br>
              <a:r>
                <a:rPr lang="en-US" sz="600" b="0">
                  <a:solidFill>
                    <a:srgbClr val="CCFBF1"/>
                  </a:solidFill>
                  <a:latin typeface="Poppins"/>
                  <a:ea typeface="Poppins"/>
                  <a:cs typeface="Poppins"/>
                  <a:sym typeface="Poppins"/>
                </a:rPr>
                <a:t>Reads &amp; Writes</a:t>
              </a:r>
              <a:endParaRPr sz="750" b="1">
                <a:solidFill>
                  <a:srgbClr val="FFFFFF"/>
                </a:solidFill>
                <a:latin typeface="Poppins"/>
                <a:ea typeface="Poppins"/>
                <a:cs typeface="Poppins"/>
                <a:sym typeface="Poppins"/>
              </a:endParaRPr>
            </a:p>
          </p:txBody>
        </p:sp>
        <p:pic>
          <p:nvPicPr>
            <p:cNvPr id="432" name="Google Shape;432;p24"/>
            <p:cNvPicPr preferRelativeResize="0"/>
            <p:nvPr/>
          </p:nvPicPr>
          <p:blipFill rotWithShape="1">
            <a:blip r:embed="rId9">
              <a:alphaModFix/>
            </a:blip>
            <a:srcRect/>
            <a:stretch/>
          </p:blipFill>
          <p:spPr>
            <a:xfrm>
              <a:off x="3105150" y="5353050"/>
              <a:ext cx="76200" cy="185700"/>
            </a:xfrm>
            <a:prstGeom prst="rect">
              <a:avLst/>
            </a:prstGeom>
            <a:noFill/>
            <a:ln>
              <a:noFill/>
            </a:ln>
          </p:spPr>
        </p:pic>
        <p:sp>
          <p:nvSpPr>
            <p:cNvPr id="433" name="Google Shape;433;p24"/>
            <p:cNvSpPr/>
            <p:nvPr/>
          </p:nvSpPr>
          <p:spPr>
            <a:xfrm>
              <a:off x="1143000" y="5562600"/>
              <a:ext cx="4000500" cy="285900"/>
            </a:xfrm>
            <a:prstGeom prst="roundRect">
              <a:avLst>
                <a:gd name="adj" fmla="val 13333"/>
              </a:avLst>
            </a:prstGeom>
            <a:solidFill>
              <a:srgbClr val="F1F5F9"/>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4" name="Google Shape;434;p24"/>
            <p:cNvSpPr txBox="1"/>
            <p:nvPr/>
          </p:nvSpPr>
          <p:spPr>
            <a:xfrm>
              <a:off x="1190625" y="5610225"/>
              <a:ext cx="39054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475569"/>
                  </a:solidFill>
                  <a:latin typeface="Inter SemiBold"/>
                  <a:ea typeface="Inter SemiBold"/>
                  <a:cs typeface="Inter SemiBold"/>
                  <a:sym typeface="Inter SemiBold"/>
                </a:rPr>
                <a:t>🔌 MCP Enterprise Tool Layer: Policy DB | RBI Feed | Legal Repository</a:t>
              </a:r>
              <a:endParaRPr sz="800" b="0">
                <a:solidFill>
                  <a:srgbClr val="475569"/>
                </a:solidFill>
                <a:latin typeface="Inter SemiBold"/>
                <a:ea typeface="Inter SemiBold"/>
                <a:cs typeface="Inter SemiBold"/>
                <a:sym typeface="Inter SemiBold"/>
              </a:endParaRPr>
            </a:p>
          </p:txBody>
        </p:sp>
        <p:pic>
          <p:nvPicPr>
            <p:cNvPr id="435" name="Google Shape;435;p24"/>
            <p:cNvPicPr preferRelativeResize="0"/>
            <p:nvPr/>
          </p:nvPicPr>
          <p:blipFill rotWithShape="1">
            <a:blip r:embed="rId10">
              <a:alphaModFix/>
            </a:blip>
            <a:srcRect/>
            <a:stretch/>
          </p:blipFill>
          <p:spPr>
            <a:xfrm>
              <a:off x="3105150" y="5848350"/>
              <a:ext cx="76200" cy="128700"/>
            </a:xfrm>
            <a:prstGeom prst="rect">
              <a:avLst/>
            </a:prstGeom>
            <a:noFill/>
            <a:ln>
              <a:noFill/>
            </a:ln>
          </p:spPr>
        </p:pic>
        <p:sp>
          <p:nvSpPr>
            <p:cNvPr id="436" name="Google Shape;436;p24"/>
            <p:cNvSpPr/>
            <p:nvPr/>
          </p:nvSpPr>
          <p:spPr>
            <a:xfrm>
              <a:off x="1333500" y="6000750"/>
              <a:ext cx="3619500" cy="228600"/>
            </a:xfrm>
            <a:prstGeom prst="roundRect">
              <a:avLst>
                <a:gd name="adj" fmla="val 16666"/>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7" name="Google Shape;437;p24"/>
            <p:cNvSpPr txBox="1"/>
            <p:nvPr/>
          </p:nvSpPr>
          <p:spPr>
            <a:xfrm>
              <a:off x="1381125" y="6048375"/>
              <a:ext cx="3524400" cy="142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50" b="1">
                  <a:solidFill>
                    <a:srgbClr val="FFFFFF"/>
                  </a:solidFill>
                  <a:latin typeface="Fira Code"/>
                  <a:ea typeface="Fira Code"/>
                  <a:cs typeface="Fira Code"/>
                  <a:sym typeface="Fira Code"/>
                </a:rPr>
                <a:t>🛡️ Guardrails AI + SHAP Validation (Compliance Dashboard)</a:t>
              </a:r>
              <a:endParaRPr sz="750" b="1">
                <a:solidFill>
                  <a:srgbClr val="FFFFFF"/>
                </a:solidFill>
                <a:latin typeface="Fira Code"/>
                <a:ea typeface="Fira Code"/>
                <a:cs typeface="Fira Code"/>
                <a:sym typeface="Fira Code"/>
              </a:endParaRPr>
            </a:p>
          </p:txBody>
        </p:sp>
      </p:grpSp>
      <p:grpSp>
        <p:nvGrpSpPr>
          <p:cNvPr id="3" name="Google Shape;438;p24"/>
          <p:cNvGrpSpPr/>
          <p:nvPr/>
        </p:nvGrpSpPr>
        <p:grpSpPr>
          <a:xfrm>
            <a:off x="5953125" y="1571625"/>
            <a:ext cx="5562600" cy="4714950"/>
            <a:chOff x="5953125" y="1571625"/>
            <a:chExt cx="5562600" cy="4714950"/>
          </a:xfrm>
        </p:grpSpPr>
        <p:grpSp>
          <p:nvGrpSpPr>
            <p:cNvPr id="4" name="Google Shape;439;p24"/>
            <p:cNvGrpSpPr/>
            <p:nvPr/>
          </p:nvGrpSpPr>
          <p:grpSpPr>
            <a:xfrm>
              <a:off x="5953125" y="1571625"/>
              <a:ext cx="3048000" cy="4714800"/>
              <a:chOff x="5953125" y="1571625"/>
              <a:chExt cx="3048000" cy="4714800"/>
            </a:xfrm>
          </p:grpSpPr>
          <p:sp>
            <p:nvSpPr>
              <p:cNvPr id="440" name="Google Shape;440;p24"/>
              <p:cNvSpPr/>
              <p:nvPr/>
            </p:nvSpPr>
            <p:spPr>
              <a:xfrm>
                <a:off x="5953125" y="1571625"/>
                <a:ext cx="3048000" cy="4714800"/>
              </a:xfrm>
              <a:prstGeom prst="roundRect">
                <a:avLst>
                  <a:gd name="adj" fmla="val 250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1" name="Google Shape;441;p24"/>
              <p:cNvSpPr/>
              <p:nvPr/>
            </p:nvSpPr>
            <p:spPr>
              <a:xfrm>
                <a:off x="5953125" y="1571625"/>
                <a:ext cx="3048000" cy="333300"/>
              </a:xfrm>
              <a:prstGeom prst="roundRect">
                <a:avLst>
                  <a:gd name="adj" fmla="val 22857"/>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2" name="Google Shape;442;p24"/>
              <p:cNvSpPr txBox="1"/>
              <p:nvPr/>
            </p:nvSpPr>
            <p:spPr>
              <a:xfrm>
                <a:off x="6096000" y="1638300"/>
                <a:ext cx="2762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25" b="1">
                    <a:solidFill>
                      <a:srgbClr val="334155"/>
                    </a:solidFill>
                    <a:latin typeface="Poppins"/>
                    <a:ea typeface="Poppins"/>
                    <a:cs typeface="Poppins"/>
                    <a:sym typeface="Poppins"/>
                  </a:rPr>
                  <a:t>AGENT RESPONSIBILITIES</a:t>
                </a:r>
                <a:endParaRPr sz="925" b="1">
                  <a:solidFill>
                    <a:srgbClr val="334155"/>
                  </a:solidFill>
                  <a:latin typeface="Poppins"/>
                  <a:ea typeface="Poppins"/>
                  <a:cs typeface="Poppins"/>
                  <a:sym typeface="Poppins"/>
                </a:endParaRPr>
              </a:p>
            </p:txBody>
          </p:sp>
          <p:sp>
            <p:nvSpPr>
              <p:cNvPr id="443" name="Google Shape;443;p24"/>
              <p:cNvSpPr txBox="1"/>
              <p:nvPr/>
            </p:nvSpPr>
            <p:spPr>
              <a:xfrm>
                <a:off x="6096000" y="2000250"/>
                <a:ext cx="2762400" cy="1381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25" b="0" dirty="0">
                    <a:solidFill>
                      <a:srgbClr val="0F766E"/>
                    </a:solidFill>
                    <a:latin typeface="Poppins ExtraBold"/>
                    <a:ea typeface="Poppins ExtraBold"/>
                    <a:cs typeface="Poppins ExtraBold"/>
                    <a:sym typeface="Poppins ExtraBold"/>
                  </a:rPr>
                  <a:t>📄 </a:t>
                </a:r>
                <a:r>
                  <a:rPr lang="en-US" sz="925" b="0" dirty="0" smtClean="0">
                    <a:solidFill>
                      <a:srgbClr val="0F766E"/>
                    </a:solidFill>
                    <a:latin typeface="Poppins ExtraBold"/>
                    <a:ea typeface="Poppins ExtraBold"/>
                    <a:cs typeface="Poppins ExtraBold"/>
                    <a:sym typeface="Poppins ExtraBold"/>
                  </a:rPr>
                  <a:t> Agent </a:t>
                </a:r>
                <a:r>
                  <a:rPr lang="en-US" sz="925" b="0" dirty="0">
                    <a:solidFill>
                      <a:srgbClr val="0F766E"/>
                    </a:solidFill>
                    <a:latin typeface="Poppins ExtraBold"/>
                    <a:ea typeface="Poppins ExtraBold"/>
                    <a:cs typeface="Poppins ExtraBold"/>
                    <a:sym typeface="Poppins ExtraBold"/>
                  </a:rPr>
                  <a:t>1: Obligation Extractor</a:t>
                </a:r>
                <a:r>
                  <a:rPr lang="en-US" sz="900" b="0" dirty="0">
                    <a:solidFill>
                      <a:srgbClr val="334155"/>
                    </a:solidFill>
                    <a:latin typeface="Inter"/>
                    <a:ea typeface="Inter"/>
                    <a:cs typeface="Inter"/>
                    <a:sym typeface="Inter"/>
                  </a:rPr>
                  <a:t/>
                </a:r>
                <a:br>
                  <a:rPr lang="en-US" sz="900" b="0" dirty="0">
                    <a:solidFill>
                      <a:srgbClr val="334155"/>
                    </a:solidFill>
                    <a:latin typeface="Inter"/>
                    <a:ea typeface="Inter"/>
                    <a:cs typeface="Inter"/>
                    <a:sym typeface="Inter"/>
                  </a:rPr>
                </a:br>
                <a:r>
                  <a:rPr lang="en-US" sz="900" b="0" dirty="0">
                    <a:solidFill>
                      <a:srgbClr val="0F766E"/>
                    </a:solidFill>
                    <a:latin typeface="Inter SemiBold"/>
                    <a:ea typeface="Inter SemiBold"/>
                    <a:cs typeface="Inter SemiBold"/>
                    <a:sym typeface="Inter SemiBold"/>
                  </a:rPr>
                  <a:t>Responsibility:</a:t>
                </a:r>
                <a:endParaRPr sz="900" b="0" dirty="0">
                  <a:solidFill>
                    <a:srgbClr val="334155"/>
                  </a:solidFill>
                  <a:latin typeface="Inter"/>
                  <a:ea typeface="Inter"/>
                  <a:cs typeface="Inter"/>
                  <a:sym typeface="Inter"/>
                </a:endParaRPr>
              </a:p>
              <a:p>
                <a:pPr marL="457200" lvl="0" indent="-278527" algn="l" rtl="0">
                  <a:spcBef>
                    <a:spcPts val="0"/>
                  </a:spcBef>
                  <a:spcAft>
                    <a:spcPts val="0"/>
                  </a:spcAft>
                  <a:buClr>
                    <a:srgbClr val="334155"/>
                  </a:buClr>
                  <a:buSzPts val="786"/>
                  <a:buFont typeface="Inter"/>
                  <a:buChar char="●"/>
                </a:pPr>
                <a:r>
                  <a:rPr lang="en-US" sz="786" b="0" dirty="0">
                    <a:solidFill>
                      <a:srgbClr val="334155"/>
                    </a:solidFill>
                    <a:latin typeface="Inter"/>
                    <a:ea typeface="Inter"/>
                    <a:cs typeface="Inter"/>
                    <a:sym typeface="Inter"/>
                  </a:rPr>
                  <a:t>Extract regulatory obligations &amp; key deadlines.</a:t>
                </a:r>
                <a:endParaRPr sz="786" b="0" dirty="0">
                  <a:solidFill>
                    <a:srgbClr val="334155"/>
                  </a:solidFill>
                  <a:latin typeface="Inter"/>
                  <a:ea typeface="Inter"/>
                  <a:cs typeface="Inter"/>
                  <a:sym typeface="Inter"/>
                </a:endParaRPr>
              </a:p>
              <a:p>
                <a:pPr marL="457200" lvl="0" indent="-278527" algn="l" rtl="0">
                  <a:spcBef>
                    <a:spcPts val="150"/>
                  </a:spcBef>
                  <a:spcAft>
                    <a:spcPts val="0"/>
                  </a:spcAft>
                  <a:buClr>
                    <a:srgbClr val="334155"/>
                  </a:buClr>
                  <a:buSzPts val="786"/>
                  <a:buFont typeface="Inter"/>
                  <a:buChar char="●"/>
                </a:pPr>
                <a:r>
                  <a:rPr lang="en-US" sz="786" b="0" dirty="0">
                    <a:solidFill>
                      <a:srgbClr val="334155"/>
                    </a:solidFill>
                    <a:latin typeface="Inter"/>
                    <a:ea typeface="Inter"/>
                    <a:cs typeface="Inter"/>
                    <a:sym typeface="Inter"/>
                  </a:rPr>
                  <a:t>Convert unstructured legal clauses into schema-compliant JSON.</a:t>
                </a:r>
                <a:endParaRPr sz="786" b="0" dirty="0">
                  <a:solidFill>
                    <a:srgbClr val="334155"/>
                  </a:solidFill>
                  <a:latin typeface="Inter"/>
                  <a:ea typeface="Inter"/>
                  <a:cs typeface="Inter"/>
                  <a:sym typeface="Inter"/>
                </a:endParaRPr>
              </a:p>
              <a:p>
                <a:pPr marL="0" lvl="0" indent="0" algn="l" rtl="0">
                  <a:spcBef>
                    <a:spcPts val="150"/>
                  </a:spcBef>
                  <a:spcAft>
                    <a:spcPts val="0"/>
                  </a:spcAft>
                  <a:buNone/>
                </a:pPr>
                <a:r>
                  <a:rPr lang="en-US" sz="900" b="0" dirty="0">
                    <a:solidFill>
                      <a:srgbClr val="0F766E"/>
                    </a:solidFill>
                    <a:latin typeface="Inter SemiBold"/>
                    <a:ea typeface="Inter SemiBold"/>
                    <a:cs typeface="Inter SemiBold"/>
                    <a:sym typeface="Inter SemiBold"/>
                  </a:rPr>
                  <a:t>Inputs / Outputs:</a:t>
                </a:r>
                <a:r>
                  <a:rPr lang="en-US" sz="900" b="0" dirty="0">
                    <a:solidFill>
                      <a:srgbClr val="334155"/>
                    </a:solidFill>
                    <a:latin typeface="Inter"/>
                    <a:ea typeface="Inter"/>
                    <a:cs typeface="Inter"/>
                    <a:sym typeface="Inter"/>
                  </a:rPr>
                  <a:t/>
                </a:r>
                <a:br>
                  <a:rPr lang="en-US" sz="900" b="0" dirty="0">
                    <a:solidFill>
                      <a:srgbClr val="334155"/>
                    </a:solidFill>
                    <a:latin typeface="Inter"/>
                    <a:ea typeface="Inter"/>
                    <a:cs typeface="Inter"/>
                    <a:sym typeface="Inter"/>
                  </a:rPr>
                </a:br>
                <a:r>
                  <a:rPr lang="en-US" sz="820" b="0" dirty="0">
                    <a:solidFill>
                      <a:srgbClr val="334155"/>
                    </a:solidFill>
                    <a:latin typeface="Inter"/>
                    <a:ea typeface="Inter"/>
                    <a:cs typeface="Inter"/>
                    <a:sym typeface="Inter"/>
                  </a:rPr>
                  <a:t>📥 </a:t>
                </a:r>
                <a:r>
                  <a:rPr lang="en-US" sz="820" b="0" dirty="0" smtClean="0">
                    <a:solidFill>
                      <a:srgbClr val="334155"/>
                    </a:solidFill>
                    <a:latin typeface="Inter"/>
                    <a:ea typeface="Inter"/>
                    <a:cs typeface="Inter"/>
                    <a:sym typeface="Inter"/>
                  </a:rPr>
                  <a:t>   LayoutLMv3 </a:t>
                </a:r>
                <a:r>
                  <a:rPr lang="en-US" sz="820" b="0" dirty="0">
                    <a:solidFill>
                      <a:srgbClr val="334155"/>
                    </a:solidFill>
                    <a:latin typeface="Inter"/>
                    <a:ea typeface="Inter"/>
                    <a:cs typeface="Inter"/>
                    <a:sym typeface="Inter"/>
                  </a:rPr>
                  <a:t>Output ➔ 📤 Structured Obligations</a:t>
                </a:r>
                <a:endParaRPr sz="900" b="0" dirty="0">
                  <a:solidFill>
                    <a:srgbClr val="334155"/>
                  </a:solidFill>
                  <a:latin typeface="Inter"/>
                  <a:ea typeface="Inter"/>
                  <a:cs typeface="Inter"/>
                  <a:sym typeface="Inter"/>
                </a:endParaRPr>
              </a:p>
            </p:txBody>
          </p:sp>
          <p:cxnSp>
            <p:nvCxnSpPr>
              <p:cNvPr id="444" name="Google Shape;444;p24"/>
              <p:cNvCxnSpPr/>
              <p:nvPr/>
            </p:nvCxnSpPr>
            <p:spPr>
              <a:xfrm>
                <a:off x="6096000" y="3429000"/>
                <a:ext cx="2762400" cy="0"/>
              </a:xfrm>
              <a:prstGeom prst="straightConnector1">
                <a:avLst/>
              </a:prstGeom>
              <a:solidFill>
                <a:srgbClr val="FFFFFF"/>
              </a:solidFill>
              <a:ln w="14300" cap="flat" cmpd="sng">
                <a:solidFill>
                  <a:srgbClr val="F1F5F9"/>
                </a:solidFill>
                <a:prstDash val="solid"/>
                <a:round/>
                <a:headEnd type="none" w="sm" len="sm"/>
                <a:tailEnd type="none" w="sm" len="sm"/>
              </a:ln>
            </p:spPr>
          </p:cxnSp>
          <p:sp>
            <p:nvSpPr>
              <p:cNvPr id="445" name="Google Shape;445;p24"/>
              <p:cNvSpPr txBox="1"/>
              <p:nvPr/>
            </p:nvSpPr>
            <p:spPr>
              <a:xfrm>
                <a:off x="6096000" y="3524250"/>
                <a:ext cx="2762400" cy="13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25" b="0" dirty="0">
                    <a:solidFill>
                      <a:srgbClr val="0F766E"/>
                    </a:solidFill>
                    <a:latin typeface="Poppins ExtraBold"/>
                    <a:ea typeface="Poppins ExtraBold"/>
                    <a:cs typeface="Poppins ExtraBold"/>
                    <a:sym typeface="Poppins ExtraBold"/>
                  </a:rPr>
                  <a:t>⚠️ Agent 2: Risk Analyzer</a:t>
                </a:r>
                <a:r>
                  <a:rPr lang="en-US" sz="900" b="0" dirty="0">
                    <a:solidFill>
                      <a:srgbClr val="334155"/>
                    </a:solidFill>
                    <a:latin typeface="Inter"/>
                    <a:ea typeface="Inter"/>
                    <a:cs typeface="Inter"/>
                    <a:sym typeface="Inter"/>
                  </a:rPr>
                  <a:t/>
                </a:r>
                <a:br>
                  <a:rPr lang="en-US" sz="900" b="0" dirty="0">
                    <a:solidFill>
                      <a:srgbClr val="334155"/>
                    </a:solidFill>
                    <a:latin typeface="Inter"/>
                    <a:ea typeface="Inter"/>
                    <a:cs typeface="Inter"/>
                    <a:sym typeface="Inter"/>
                  </a:rPr>
                </a:br>
                <a:r>
                  <a:rPr lang="en-US" sz="900" b="0" dirty="0">
                    <a:solidFill>
                      <a:srgbClr val="0F766E"/>
                    </a:solidFill>
                    <a:latin typeface="Inter SemiBold"/>
                    <a:ea typeface="Inter SemiBold"/>
                    <a:cs typeface="Inter SemiBold"/>
                    <a:sym typeface="Inter SemiBold"/>
                  </a:rPr>
                  <a:t>Responsibility:</a:t>
                </a:r>
                <a:endParaRPr sz="900" b="0" dirty="0">
                  <a:solidFill>
                    <a:srgbClr val="334155"/>
                  </a:solidFill>
                  <a:latin typeface="Inter"/>
                  <a:ea typeface="Inter"/>
                  <a:cs typeface="Inter"/>
                  <a:sym typeface="Inter"/>
                </a:endParaRPr>
              </a:p>
              <a:p>
                <a:pPr marL="457200" lvl="0" indent="-278527" algn="l" rtl="0">
                  <a:spcBef>
                    <a:spcPts val="0"/>
                  </a:spcBef>
                  <a:spcAft>
                    <a:spcPts val="0"/>
                  </a:spcAft>
                  <a:buClr>
                    <a:srgbClr val="334155"/>
                  </a:buClr>
                  <a:buSzPts val="786"/>
                  <a:buFont typeface="Inter"/>
                  <a:buChar char="●"/>
                </a:pPr>
                <a:r>
                  <a:rPr lang="en-US" sz="786" b="0" dirty="0">
                    <a:solidFill>
                      <a:srgbClr val="334155"/>
                    </a:solidFill>
                    <a:latin typeface="Inter"/>
                    <a:ea typeface="Inter"/>
                    <a:cs typeface="Inter"/>
                    <a:sym typeface="Inter"/>
                  </a:rPr>
                  <a:t>Compare extracted obligations against internal policy banks.</a:t>
                </a:r>
                <a:endParaRPr sz="786" b="0" dirty="0">
                  <a:solidFill>
                    <a:srgbClr val="334155"/>
                  </a:solidFill>
                  <a:latin typeface="Inter"/>
                  <a:ea typeface="Inter"/>
                  <a:cs typeface="Inter"/>
                  <a:sym typeface="Inter"/>
                </a:endParaRPr>
              </a:p>
              <a:p>
                <a:pPr marL="457200" lvl="0" indent="-278527" algn="l" rtl="0">
                  <a:spcBef>
                    <a:spcPts val="150"/>
                  </a:spcBef>
                  <a:spcAft>
                    <a:spcPts val="0"/>
                  </a:spcAft>
                  <a:buClr>
                    <a:srgbClr val="334155"/>
                  </a:buClr>
                  <a:buSzPts val="786"/>
                  <a:buFont typeface="Inter"/>
                  <a:buChar char="●"/>
                </a:pPr>
                <a:r>
                  <a:rPr lang="en-US" sz="786" b="0" dirty="0">
                    <a:solidFill>
                      <a:srgbClr val="334155"/>
                    </a:solidFill>
                    <a:latin typeface="Inter"/>
                    <a:ea typeface="Inter"/>
                    <a:cs typeface="Inter"/>
                    <a:sym typeface="Inter"/>
                  </a:rPr>
                  <a:t>Identify non-compliance, gaps, and regulatory exposure.</a:t>
                </a:r>
                <a:endParaRPr sz="786" b="0" dirty="0">
                  <a:solidFill>
                    <a:srgbClr val="334155"/>
                  </a:solidFill>
                  <a:latin typeface="Inter"/>
                  <a:ea typeface="Inter"/>
                  <a:cs typeface="Inter"/>
                  <a:sym typeface="Inter"/>
                </a:endParaRPr>
              </a:p>
              <a:p>
                <a:pPr marL="0" lvl="0" indent="0" algn="l" rtl="0">
                  <a:spcBef>
                    <a:spcPts val="150"/>
                  </a:spcBef>
                  <a:spcAft>
                    <a:spcPts val="0"/>
                  </a:spcAft>
                  <a:buNone/>
                </a:pPr>
                <a:r>
                  <a:rPr lang="en-US" sz="900" b="0" dirty="0">
                    <a:solidFill>
                      <a:srgbClr val="0F766E"/>
                    </a:solidFill>
                    <a:latin typeface="Inter SemiBold"/>
                    <a:ea typeface="Inter SemiBold"/>
                    <a:cs typeface="Inter SemiBold"/>
                    <a:sym typeface="Inter SemiBold"/>
                  </a:rPr>
                  <a:t>Inputs / Outputs:</a:t>
                </a:r>
                <a:r>
                  <a:rPr lang="en-US" sz="900" b="0" dirty="0">
                    <a:solidFill>
                      <a:srgbClr val="334155"/>
                    </a:solidFill>
                    <a:latin typeface="Inter"/>
                    <a:ea typeface="Inter"/>
                    <a:cs typeface="Inter"/>
                    <a:sym typeface="Inter"/>
                  </a:rPr>
                  <a:t/>
                </a:r>
                <a:br>
                  <a:rPr lang="en-US" sz="900" b="0" dirty="0">
                    <a:solidFill>
                      <a:srgbClr val="334155"/>
                    </a:solidFill>
                    <a:latin typeface="Inter"/>
                    <a:ea typeface="Inter"/>
                    <a:cs typeface="Inter"/>
                    <a:sym typeface="Inter"/>
                  </a:rPr>
                </a:br>
                <a:r>
                  <a:rPr lang="en-US" sz="820" b="0" dirty="0">
                    <a:solidFill>
                      <a:srgbClr val="334155"/>
                    </a:solidFill>
                    <a:latin typeface="Inter"/>
                    <a:ea typeface="Inter"/>
                    <a:cs typeface="Inter"/>
                    <a:sym typeface="Inter"/>
                  </a:rPr>
                  <a:t>📥 </a:t>
                </a:r>
                <a:r>
                  <a:rPr lang="en-US" sz="820" b="0" dirty="0" smtClean="0">
                    <a:solidFill>
                      <a:srgbClr val="334155"/>
                    </a:solidFill>
                    <a:latin typeface="Inter"/>
                    <a:ea typeface="Inter"/>
                    <a:cs typeface="Inter"/>
                    <a:sym typeface="Inter"/>
                  </a:rPr>
                  <a:t>   Shared </a:t>
                </a:r>
                <a:r>
                  <a:rPr lang="en-US" sz="820" b="0" dirty="0">
                    <a:solidFill>
                      <a:srgbClr val="334155"/>
                    </a:solidFill>
                    <a:latin typeface="Inter"/>
                    <a:ea typeface="Inter"/>
                    <a:cs typeface="Inter"/>
                    <a:sym typeface="Inter"/>
                  </a:rPr>
                  <a:t>State + Policy DB ➔ 📤 </a:t>
                </a:r>
                <a:r>
                  <a:rPr lang="en-US" sz="820" b="0" dirty="0" smtClean="0">
                    <a:solidFill>
                      <a:srgbClr val="334155"/>
                    </a:solidFill>
                    <a:latin typeface="Inter"/>
                    <a:ea typeface="Inter"/>
                    <a:cs typeface="Inter"/>
                    <a:sym typeface="Inter"/>
                  </a:rPr>
                  <a:t> Structured </a:t>
                </a:r>
                <a:r>
                  <a:rPr lang="en-US" sz="820" b="0" dirty="0">
                    <a:solidFill>
                      <a:srgbClr val="334155"/>
                    </a:solidFill>
                    <a:latin typeface="Inter"/>
                    <a:ea typeface="Inter"/>
                    <a:cs typeface="Inter"/>
                    <a:sym typeface="Inter"/>
                  </a:rPr>
                  <a:t>Risk Matrix</a:t>
                </a:r>
                <a:endParaRPr sz="900" b="0" dirty="0">
                  <a:solidFill>
                    <a:srgbClr val="334155"/>
                  </a:solidFill>
                  <a:latin typeface="Inter"/>
                  <a:ea typeface="Inter"/>
                  <a:cs typeface="Inter"/>
                  <a:sym typeface="Inter"/>
                </a:endParaRPr>
              </a:p>
            </p:txBody>
          </p:sp>
          <p:cxnSp>
            <p:nvCxnSpPr>
              <p:cNvPr id="446" name="Google Shape;446;p24"/>
              <p:cNvCxnSpPr/>
              <p:nvPr/>
            </p:nvCxnSpPr>
            <p:spPr>
              <a:xfrm>
                <a:off x="6096000" y="4905375"/>
                <a:ext cx="2762400" cy="0"/>
              </a:xfrm>
              <a:prstGeom prst="straightConnector1">
                <a:avLst/>
              </a:prstGeom>
              <a:solidFill>
                <a:srgbClr val="FFFFFF"/>
              </a:solidFill>
              <a:ln w="14300" cap="flat" cmpd="sng">
                <a:solidFill>
                  <a:srgbClr val="F1F5F9"/>
                </a:solidFill>
                <a:prstDash val="solid"/>
                <a:round/>
                <a:headEnd type="none" w="sm" len="sm"/>
                <a:tailEnd type="none" w="sm" len="sm"/>
              </a:ln>
            </p:spPr>
          </p:cxnSp>
          <p:sp>
            <p:nvSpPr>
              <p:cNvPr id="447" name="Google Shape;447;p24"/>
              <p:cNvSpPr txBox="1"/>
              <p:nvPr/>
            </p:nvSpPr>
            <p:spPr>
              <a:xfrm>
                <a:off x="6096000" y="5000625"/>
                <a:ext cx="2762400" cy="1238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25" b="0" dirty="0">
                    <a:solidFill>
                      <a:srgbClr val="0F766E"/>
                    </a:solidFill>
                    <a:latin typeface="Poppins ExtraBold"/>
                    <a:ea typeface="Poppins ExtraBold"/>
                    <a:cs typeface="Poppins ExtraBold"/>
                    <a:sym typeface="Poppins ExtraBold"/>
                  </a:rPr>
                  <a:t>📊 </a:t>
                </a:r>
                <a:r>
                  <a:rPr lang="en-US" sz="925" b="0" dirty="0" smtClean="0">
                    <a:solidFill>
                      <a:srgbClr val="0F766E"/>
                    </a:solidFill>
                    <a:latin typeface="Poppins ExtraBold"/>
                    <a:ea typeface="Poppins ExtraBold"/>
                    <a:cs typeface="Poppins ExtraBold"/>
                    <a:sym typeface="Poppins ExtraBold"/>
                  </a:rPr>
                  <a:t> Agent </a:t>
                </a:r>
                <a:r>
                  <a:rPr lang="en-US" sz="925" b="0" dirty="0">
                    <a:solidFill>
                      <a:srgbClr val="0F766E"/>
                    </a:solidFill>
                    <a:latin typeface="Poppins ExtraBold"/>
                    <a:ea typeface="Poppins ExtraBold"/>
                    <a:cs typeface="Poppins ExtraBold"/>
                    <a:sym typeface="Poppins ExtraBold"/>
                  </a:rPr>
                  <a:t>3: Compliance Reporter</a:t>
                </a:r>
                <a:r>
                  <a:rPr lang="en-US" sz="900" b="0" dirty="0">
                    <a:solidFill>
                      <a:srgbClr val="334155"/>
                    </a:solidFill>
                    <a:latin typeface="Inter"/>
                    <a:ea typeface="Inter"/>
                    <a:cs typeface="Inter"/>
                    <a:sym typeface="Inter"/>
                  </a:rPr>
                  <a:t/>
                </a:r>
                <a:br>
                  <a:rPr lang="en-US" sz="900" b="0" dirty="0">
                    <a:solidFill>
                      <a:srgbClr val="334155"/>
                    </a:solidFill>
                    <a:latin typeface="Inter"/>
                    <a:ea typeface="Inter"/>
                    <a:cs typeface="Inter"/>
                    <a:sym typeface="Inter"/>
                  </a:rPr>
                </a:br>
                <a:r>
                  <a:rPr lang="en-US" sz="900" b="0" dirty="0">
                    <a:solidFill>
                      <a:srgbClr val="0F766E"/>
                    </a:solidFill>
                    <a:latin typeface="Inter SemiBold"/>
                    <a:ea typeface="Inter SemiBold"/>
                    <a:cs typeface="Inter SemiBold"/>
                    <a:sym typeface="Inter SemiBold"/>
                  </a:rPr>
                  <a:t>Responsibility:</a:t>
                </a:r>
                <a:endParaRPr sz="900" b="0" dirty="0">
                  <a:solidFill>
                    <a:srgbClr val="334155"/>
                  </a:solidFill>
                  <a:latin typeface="Inter"/>
                  <a:ea typeface="Inter"/>
                  <a:cs typeface="Inter"/>
                  <a:sym typeface="Inter"/>
                </a:endParaRPr>
              </a:p>
              <a:p>
                <a:pPr marL="457200" lvl="0" indent="-278527" algn="l" rtl="0">
                  <a:spcBef>
                    <a:spcPts val="0"/>
                  </a:spcBef>
                  <a:spcAft>
                    <a:spcPts val="0"/>
                  </a:spcAft>
                  <a:buClr>
                    <a:srgbClr val="334155"/>
                  </a:buClr>
                  <a:buSzPts val="786"/>
                  <a:buFont typeface="Inter"/>
                  <a:buChar char="●"/>
                </a:pPr>
                <a:r>
                  <a:rPr lang="en-US" sz="786" b="0" dirty="0">
                    <a:solidFill>
                      <a:srgbClr val="334155"/>
                    </a:solidFill>
                    <a:latin typeface="Inter"/>
                    <a:ea typeface="Inter"/>
                    <a:cs typeface="Inter"/>
                    <a:sym typeface="Inter"/>
                  </a:rPr>
                  <a:t>Synthesize risk matrix and validation steps into executive summaries.</a:t>
                </a:r>
                <a:endParaRPr sz="786" b="0" dirty="0">
                  <a:solidFill>
                    <a:srgbClr val="334155"/>
                  </a:solidFill>
                  <a:latin typeface="Inter"/>
                  <a:ea typeface="Inter"/>
                  <a:cs typeface="Inter"/>
                  <a:sym typeface="Inter"/>
                </a:endParaRPr>
              </a:p>
              <a:p>
                <a:pPr marL="457200" lvl="0" indent="-278527" algn="l" rtl="0">
                  <a:spcBef>
                    <a:spcPts val="150"/>
                  </a:spcBef>
                  <a:spcAft>
                    <a:spcPts val="0"/>
                  </a:spcAft>
                  <a:buClr>
                    <a:srgbClr val="334155"/>
                  </a:buClr>
                  <a:buSzPts val="786"/>
                  <a:buFont typeface="Inter"/>
                  <a:buChar char="●"/>
                </a:pPr>
                <a:r>
                  <a:rPr lang="en-US" sz="786" b="0" dirty="0">
                    <a:solidFill>
                      <a:srgbClr val="334155"/>
                    </a:solidFill>
                    <a:latin typeface="Inter"/>
                    <a:ea typeface="Inter"/>
                    <a:cs typeface="Inter"/>
                    <a:sym typeface="Inter"/>
                  </a:rPr>
                  <a:t>Generate publication-grade compliance audits.</a:t>
                </a:r>
                <a:endParaRPr sz="786" b="0" dirty="0">
                  <a:solidFill>
                    <a:srgbClr val="334155"/>
                  </a:solidFill>
                  <a:latin typeface="Inter"/>
                  <a:ea typeface="Inter"/>
                  <a:cs typeface="Inter"/>
                  <a:sym typeface="Inter"/>
                </a:endParaRPr>
              </a:p>
              <a:p>
                <a:pPr marL="0" lvl="0" indent="0" algn="l" rtl="0">
                  <a:spcBef>
                    <a:spcPts val="150"/>
                  </a:spcBef>
                  <a:spcAft>
                    <a:spcPts val="0"/>
                  </a:spcAft>
                  <a:buNone/>
                </a:pPr>
                <a:r>
                  <a:rPr lang="en-US" sz="900" b="0" dirty="0">
                    <a:solidFill>
                      <a:srgbClr val="0F766E"/>
                    </a:solidFill>
                    <a:latin typeface="Inter SemiBold"/>
                    <a:ea typeface="Inter SemiBold"/>
                    <a:cs typeface="Inter SemiBold"/>
                    <a:sym typeface="Inter SemiBold"/>
                  </a:rPr>
                  <a:t>Inputs / Outputs:</a:t>
                </a:r>
                <a:r>
                  <a:rPr lang="en-US" sz="900" b="0" dirty="0">
                    <a:solidFill>
                      <a:srgbClr val="334155"/>
                    </a:solidFill>
                    <a:latin typeface="Inter"/>
                    <a:ea typeface="Inter"/>
                    <a:cs typeface="Inter"/>
                    <a:sym typeface="Inter"/>
                  </a:rPr>
                  <a:t/>
                </a:r>
                <a:br>
                  <a:rPr lang="en-US" sz="900" b="0" dirty="0">
                    <a:solidFill>
                      <a:srgbClr val="334155"/>
                    </a:solidFill>
                    <a:latin typeface="Inter"/>
                    <a:ea typeface="Inter"/>
                    <a:cs typeface="Inter"/>
                    <a:sym typeface="Inter"/>
                  </a:rPr>
                </a:br>
                <a:r>
                  <a:rPr lang="en-US" sz="820" b="0" dirty="0">
                    <a:solidFill>
                      <a:srgbClr val="334155"/>
                    </a:solidFill>
                    <a:latin typeface="Inter"/>
                    <a:ea typeface="Inter"/>
                    <a:cs typeface="Inter"/>
                    <a:sym typeface="Inter"/>
                  </a:rPr>
                  <a:t>📥 </a:t>
                </a:r>
                <a:r>
                  <a:rPr lang="en-US" sz="820" b="0" dirty="0" smtClean="0">
                    <a:solidFill>
                      <a:srgbClr val="334155"/>
                    </a:solidFill>
                    <a:latin typeface="Inter"/>
                    <a:ea typeface="Inter"/>
                    <a:cs typeface="Inter"/>
                    <a:sym typeface="Inter"/>
                  </a:rPr>
                  <a:t>  Validated </a:t>
                </a:r>
                <a:r>
                  <a:rPr lang="en-US" sz="820" b="0" dirty="0">
                    <a:solidFill>
                      <a:srgbClr val="334155"/>
                    </a:solidFill>
                    <a:latin typeface="Inter"/>
                    <a:ea typeface="Inter"/>
                    <a:cs typeface="Inter"/>
                    <a:sym typeface="Inter"/>
                  </a:rPr>
                  <a:t>Shared State ➔ 📤 </a:t>
                </a:r>
                <a:r>
                  <a:rPr lang="en-US" sz="820" b="0" dirty="0" smtClean="0">
                    <a:solidFill>
                      <a:srgbClr val="334155"/>
                    </a:solidFill>
                    <a:latin typeface="Inter"/>
                    <a:ea typeface="Inter"/>
                    <a:cs typeface="Inter"/>
                    <a:sym typeface="Inter"/>
                  </a:rPr>
                  <a:t> Audit-Ready </a:t>
                </a:r>
                <a:r>
                  <a:rPr lang="en-US" sz="820" b="0" dirty="0">
                    <a:solidFill>
                      <a:srgbClr val="334155"/>
                    </a:solidFill>
                    <a:latin typeface="Inter"/>
                    <a:ea typeface="Inter"/>
                    <a:cs typeface="Inter"/>
                    <a:sym typeface="Inter"/>
                  </a:rPr>
                  <a:t>Report PDF</a:t>
                </a:r>
                <a:endParaRPr sz="900" b="0" dirty="0">
                  <a:solidFill>
                    <a:srgbClr val="334155"/>
                  </a:solidFill>
                  <a:latin typeface="Inter"/>
                  <a:ea typeface="Inter"/>
                  <a:cs typeface="Inter"/>
                  <a:sym typeface="Inter"/>
                </a:endParaRPr>
              </a:p>
            </p:txBody>
          </p:sp>
        </p:grpSp>
        <p:grpSp>
          <p:nvGrpSpPr>
            <p:cNvPr id="5" name="Google Shape;448;p24"/>
            <p:cNvGrpSpPr/>
            <p:nvPr/>
          </p:nvGrpSpPr>
          <p:grpSpPr>
            <a:xfrm>
              <a:off x="9191625" y="1571625"/>
              <a:ext cx="2324100" cy="2619300"/>
              <a:chOff x="9191625" y="1571625"/>
              <a:chExt cx="2324100" cy="2619300"/>
            </a:xfrm>
          </p:grpSpPr>
          <p:sp>
            <p:nvSpPr>
              <p:cNvPr id="449" name="Google Shape;449;p24"/>
              <p:cNvSpPr/>
              <p:nvPr/>
            </p:nvSpPr>
            <p:spPr>
              <a:xfrm>
                <a:off x="9191625" y="1571625"/>
                <a:ext cx="2324100" cy="2619300"/>
              </a:xfrm>
              <a:prstGeom prst="roundRect">
                <a:avLst>
                  <a:gd name="adj" fmla="val 3278"/>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0" name="Google Shape;450;p24"/>
              <p:cNvSpPr/>
              <p:nvPr/>
            </p:nvSpPr>
            <p:spPr>
              <a:xfrm>
                <a:off x="9191625" y="1571625"/>
                <a:ext cx="2324100" cy="333300"/>
              </a:xfrm>
              <a:prstGeom prst="roundRect">
                <a:avLst>
                  <a:gd name="adj" fmla="val 22857"/>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24"/>
              <p:cNvSpPr txBox="1"/>
              <p:nvPr/>
            </p:nvSpPr>
            <p:spPr>
              <a:xfrm>
                <a:off x="9286875" y="1638300"/>
                <a:ext cx="21336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25" b="1">
                    <a:solidFill>
                      <a:srgbClr val="334155"/>
                    </a:solidFill>
                    <a:latin typeface="Poppins"/>
                    <a:ea typeface="Poppins"/>
                    <a:cs typeface="Poppins"/>
                    <a:sym typeface="Poppins"/>
                  </a:rPr>
                  <a:t>WHY MULTI-AGENT?</a:t>
                </a:r>
                <a:endParaRPr sz="925" b="1">
                  <a:solidFill>
                    <a:srgbClr val="334155"/>
                  </a:solidFill>
                  <a:latin typeface="Poppins"/>
                  <a:ea typeface="Poppins"/>
                  <a:cs typeface="Poppins"/>
                  <a:sym typeface="Poppins"/>
                </a:endParaRPr>
              </a:p>
            </p:txBody>
          </p:sp>
          <p:sp>
            <p:nvSpPr>
              <p:cNvPr id="452" name="Google Shape;452;p24"/>
              <p:cNvSpPr/>
              <p:nvPr/>
            </p:nvSpPr>
            <p:spPr>
              <a:xfrm>
                <a:off x="9305925" y="2000250"/>
                <a:ext cx="2095500" cy="228600"/>
              </a:xfrm>
              <a:prstGeom prst="roundRect">
                <a:avLst>
                  <a:gd name="adj" fmla="val 16666"/>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3" name="Google Shape;453;p24"/>
              <p:cNvSpPr txBox="1"/>
              <p:nvPr/>
            </p:nvSpPr>
            <p:spPr>
              <a:xfrm>
                <a:off x="9353550" y="2047875"/>
                <a:ext cx="2000100" cy="142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50" b="1">
                    <a:solidFill>
                      <a:srgbClr val="FFFFFF"/>
                    </a:solidFill>
                    <a:latin typeface="Poppins"/>
                    <a:ea typeface="Poppins"/>
                    <a:cs typeface="Poppins"/>
                    <a:sym typeface="Poppins"/>
                  </a:rPr>
                  <a:t>WORKLOAD SEGREGATION COMPARISON</a:t>
                </a:r>
                <a:endParaRPr sz="750" b="1">
                  <a:solidFill>
                    <a:srgbClr val="FFFFFF"/>
                  </a:solidFill>
                  <a:latin typeface="Poppins"/>
                  <a:ea typeface="Poppins"/>
                  <a:cs typeface="Poppins"/>
                  <a:sym typeface="Poppins"/>
                </a:endParaRPr>
              </a:p>
            </p:txBody>
          </p:sp>
          <p:sp>
            <p:nvSpPr>
              <p:cNvPr id="454" name="Google Shape;454;p24"/>
              <p:cNvSpPr/>
              <p:nvPr/>
            </p:nvSpPr>
            <p:spPr>
              <a:xfrm>
                <a:off x="9305925" y="2286000"/>
                <a:ext cx="2095500" cy="1809600"/>
              </a:xfrm>
              <a:prstGeom prst="rect">
                <a:avLst/>
              </a:prstGeom>
              <a:solidFill>
                <a:srgbClr val="000000">
                  <a:alpha val="0"/>
                </a:srgbClr>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455" name="Google Shape;455;p24"/>
              <p:cNvCxnSpPr/>
              <p:nvPr/>
            </p:nvCxnSpPr>
            <p:spPr>
              <a:xfrm>
                <a:off x="10353675" y="2286000"/>
                <a:ext cx="0" cy="1809600"/>
              </a:xfrm>
              <a:prstGeom prst="straightConnector1">
                <a:avLst/>
              </a:prstGeom>
              <a:solidFill>
                <a:srgbClr val="FFFFFF"/>
              </a:solidFill>
              <a:ln w="9525" cap="flat" cmpd="sng">
                <a:solidFill>
                  <a:srgbClr val="E2E8F0"/>
                </a:solidFill>
                <a:prstDash val="solid"/>
                <a:round/>
                <a:headEnd type="none" w="sm" len="sm"/>
                <a:tailEnd type="none" w="sm" len="sm"/>
              </a:ln>
            </p:spPr>
          </p:cxnSp>
          <p:cxnSp>
            <p:nvCxnSpPr>
              <p:cNvPr id="456" name="Google Shape;456;p24"/>
              <p:cNvCxnSpPr/>
              <p:nvPr/>
            </p:nvCxnSpPr>
            <p:spPr>
              <a:xfrm>
                <a:off x="9305925" y="2571750"/>
                <a:ext cx="2095500" cy="0"/>
              </a:xfrm>
              <a:prstGeom prst="straightConnector1">
                <a:avLst/>
              </a:prstGeom>
              <a:solidFill>
                <a:srgbClr val="FFFFFF"/>
              </a:solidFill>
              <a:ln w="9525" cap="flat" cmpd="sng">
                <a:solidFill>
                  <a:srgbClr val="E2E8F0"/>
                </a:solidFill>
                <a:prstDash val="solid"/>
                <a:round/>
                <a:headEnd type="none" w="sm" len="sm"/>
                <a:tailEnd type="none" w="sm" len="sm"/>
              </a:ln>
            </p:spPr>
          </p:cxnSp>
          <p:cxnSp>
            <p:nvCxnSpPr>
              <p:cNvPr id="457" name="Google Shape;457;p24"/>
              <p:cNvCxnSpPr/>
              <p:nvPr/>
            </p:nvCxnSpPr>
            <p:spPr>
              <a:xfrm>
                <a:off x="9305925" y="2952750"/>
                <a:ext cx="2095500" cy="0"/>
              </a:xfrm>
              <a:prstGeom prst="straightConnector1">
                <a:avLst/>
              </a:prstGeom>
              <a:solidFill>
                <a:srgbClr val="FFFFFF"/>
              </a:solidFill>
              <a:ln w="9525" cap="flat" cmpd="sng">
                <a:solidFill>
                  <a:srgbClr val="E2E8F0"/>
                </a:solidFill>
                <a:prstDash val="solid"/>
                <a:round/>
                <a:headEnd type="none" w="sm" len="sm"/>
                <a:tailEnd type="none" w="sm" len="sm"/>
              </a:ln>
            </p:spPr>
          </p:cxnSp>
          <p:cxnSp>
            <p:nvCxnSpPr>
              <p:cNvPr id="458" name="Google Shape;458;p24"/>
              <p:cNvCxnSpPr/>
              <p:nvPr/>
            </p:nvCxnSpPr>
            <p:spPr>
              <a:xfrm>
                <a:off x="9305925" y="3333750"/>
                <a:ext cx="2095500" cy="0"/>
              </a:xfrm>
              <a:prstGeom prst="straightConnector1">
                <a:avLst/>
              </a:prstGeom>
              <a:solidFill>
                <a:srgbClr val="FFFFFF"/>
              </a:solidFill>
              <a:ln w="9525" cap="flat" cmpd="sng">
                <a:solidFill>
                  <a:srgbClr val="E2E8F0"/>
                </a:solidFill>
                <a:prstDash val="solid"/>
                <a:round/>
                <a:headEnd type="none" w="sm" len="sm"/>
                <a:tailEnd type="none" w="sm" len="sm"/>
              </a:ln>
            </p:spPr>
          </p:cxnSp>
          <p:cxnSp>
            <p:nvCxnSpPr>
              <p:cNvPr id="459" name="Google Shape;459;p24"/>
              <p:cNvCxnSpPr/>
              <p:nvPr/>
            </p:nvCxnSpPr>
            <p:spPr>
              <a:xfrm>
                <a:off x="9305925" y="3714750"/>
                <a:ext cx="20955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460" name="Google Shape;460;p24"/>
              <p:cNvSpPr txBox="1"/>
              <p:nvPr/>
            </p:nvSpPr>
            <p:spPr>
              <a:xfrm>
                <a:off x="9353550" y="2352675"/>
                <a:ext cx="9525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1">
                    <a:solidFill>
                      <a:srgbClr val="0F172A"/>
                    </a:solidFill>
                    <a:latin typeface="Poppins"/>
                    <a:ea typeface="Poppins"/>
                    <a:cs typeface="Poppins"/>
                    <a:sym typeface="Poppins"/>
                  </a:rPr>
                  <a:t>Single LLM</a:t>
                </a:r>
                <a:endParaRPr sz="786" b="1">
                  <a:solidFill>
                    <a:srgbClr val="0F172A"/>
                  </a:solidFill>
                  <a:latin typeface="Poppins"/>
                  <a:ea typeface="Poppins"/>
                  <a:cs typeface="Poppins"/>
                  <a:sym typeface="Poppins"/>
                </a:endParaRPr>
              </a:p>
            </p:txBody>
          </p:sp>
          <p:sp>
            <p:nvSpPr>
              <p:cNvPr id="461" name="Google Shape;461;p24"/>
              <p:cNvSpPr txBox="1"/>
              <p:nvPr/>
            </p:nvSpPr>
            <p:spPr>
              <a:xfrm>
                <a:off x="10401300" y="2352675"/>
                <a:ext cx="9525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1">
                    <a:solidFill>
                      <a:srgbClr val="0F766E"/>
                    </a:solidFill>
                    <a:latin typeface="Poppins"/>
                    <a:ea typeface="Poppins"/>
                    <a:cs typeface="Poppins"/>
                    <a:sym typeface="Poppins"/>
                  </a:rPr>
                  <a:t>Multi-Agent</a:t>
                </a:r>
                <a:endParaRPr sz="786" b="1">
                  <a:solidFill>
                    <a:srgbClr val="0F766E"/>
                  </a:solidFill>
                  <a:latin typeface="Poppins"/>
                  <a:ea typeface="Poppins"/>
                  <a:cs typeface="Poppins"/>
                  <a:sym typeface="Poppins"/>
                </a:endParaRPr>
              </a:p>
            </p:txBody>
          </p:sp>
          <p:sp>
            <p:nvSpPr>
              <p:cNvPr id="462" name="Google Shape;462;p24"/>
              <p:cNvSpPr txBox="1"/>
              <p:nvPr/>
            </p:nvSpPr>
            <p:spPr>
              <a:xfrm>
                <a:off x="9353550" y="2638425"/>
                <a:ext cx="95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0">
                    <a:solidFill>
                      <a:srgbClr val="334155"/>
                    </a:solidFill>
                    <a:latin typeface="Inter Medium"/>
                    <a:ea typeface="Inter Medium"/>
                    <a:cs typeface="Inter Medium"/>
                    <a:sym typeface="Inter Medium"/>
                  </a:rPr>
                  <a:t>Single reasoning</a:t>
                </a:r>
                <a:br>
                  <a:rPr lang="en-US" sz="786" b="0">
                    <a:solidFill>
                      <a:srgbClr val="334155"/>
                    </a:solidFill>
                    <a:latin typeface="Inter Medium"/>
                    <a:ea typeface="Inter Medium"/>
                    <a:cs typeface="Inter Medium"/>
                    <a:sym typeface="Inter Medium"/>
                  </a:rPr>
                </a:br>
                <a:r>
                  <a:rPr lang="en-US" sz="786" b="0">
                    <a:solidFill>
                      <a:srgbClr val="334155"/>
                    </a:solidFill>
                    <a:latin typeface="Inter Medium"/>
                    <a:ea typeface="Inter Medium"/>
                    <a:cs typeface="Inter Medium"/>
                    <a:sym typeface="Inter Medium"/>
                  </a:rPr>
                  <a:t>chain</a:t>
                </a:r>
                <a:endParaRPr sz="786" b="0">
                  <a:solidFill>
                    <a:srgbClr val="334155"/>
                  </a:solidFill>
                  <a:latin typeface="Inter Medium"/>
                  <a:ea typeface="Inter Medium"/>
                  <a:cs typeface="Inter Medium"/>
                  <a:sym typeface="Inter Medium"/>
                </a:endParaRPr>
              </a:p>
            </p:txBody>
          </p:sp>
          <p:sp>
            <p:nvSpPr>
              <p:cNvPr id="463" name="Google Shape;463;p24"/>
              <p:cNvSpPr txBox="1"/>
              <p:nvPr/>
            </p:nvSpPr>
            <p:spPr>
              <a:xfrm>
                <a:off x="10401300" y="2638425"/>
                <a:ext cx="95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1">
                    <a:solidFill>
                      <a:srgbClr val="0F766E"/>
                    </a:solidFill>
                    <a:latin typeface="Inter"/>
                    <a:ea typeface="Inter"/>
                    <a:cs typeface="Inter"/>
                    <a:sym typeface="Inter"/>
                  </a:rPr>
                  <a:t>Specialized</a:t>
                </a:r>
                <a:br>
                  <a:rPr lang="en-US" sz="786" b="1">
                    <a:solidFill>
                      <a:srgbClr val="0F766E"/>
                    </a:solidFill>
                    <a:latin typeface="Inter"/>
                    <a:ea typeface="Inter"/>
                    <a:cs typeface="Inter"/>
                    <a:sym typeface="Inter"/>
                  </a:rPr>
                </a:br>
                <a:r>
                  <a:rPr lang="en-US" sz="786" b="1">
                    <a:solidFill>
                      <a:srgbClr val="0F766E"/>
                    </a:solidFill>
                    <a:latin typeface="Inter"/>
                    <a:ea typeface="Inter"/>
                    <a:cs typeface="Inter"/>
                    <a:sym typeface="Inter"/>
                  </a:rPr>
                  <a:t>reasoning</a:t>
                </a:r>
                <a:endParaRPr sz="786" b="1">
                  <a:solidFill>
                    <a:srgbClr val="0F766E"/>
                  </a:solidFill>
                  <a:latin typeface="Inter"/>
                  <a:ea typeface="Inter"/>
                  <a:cs typeface="Inter"/>
                  <a:sym typeface="Inter"/>
                </a:endParaRPr>
              </a:p>
            </p:txBody>
          </p:sp>
          <p:sp>
            <p:nvSpPr>
              <p:cNvPr id="464" name="Google Shape;464;p24"/>
              <p:cNvSpPr txBox="1"/>
              <p:nvPr/>
            </p:nvSpPr>
            <p:spPr>
              <a:xfrm>
                <a:off x="9353550" y="3019425"/>
                <a:ext cx="95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0">
                    <a:solidFill>
                      <a:srgbClr val="334155"/>
                    </a:solidFill>
                    <a:latin typeface="Inter Medium"/>
                    <a:ea typeface="Inter Medium"/>
                    <a:cs typeface="Inter Medium"/>
                    <a:sym typeface="Inter Medium"/>
                  </a:rPr>
                  <a:t>Black box /</a:t>
                </a:r>
                <a:br>
                  <a:rPr lang="en-US" sz="786" b="0">
                    <a:solidFill>
                      <a:srgbClr val="334155"/>
                    </a:solidFill>
                    <a:latin typeface="Inter Medium"/>
                    <a:ea typeface="Inter Medium"/>
                    <a:cs typeface="Inter Medium"/>
                    <a:sym typeface="Inter Medium"/>
                  </a:rPr>
                </a:br>
                <a:r>
                  <a:rPr lang="en-US" sz="786" b="0">
                    <a:solidFill>
                      <a:srgbClr val="334155"/>
                    </a:solidFill>
                    <a:latin typeface="Inter Medium"/>
                    <a:ea typeface="Inter Medium"/>
                    <a:cs typeface="Inter Medium"/>
                    <a:sym typeface="Inter Medium"/>
                  </a:rPr>
                  <a:t>hard to debug</a:t>
                </a:r>
                <a:endParaRPr sz="786" b="0">
                  <a:solidFill>
                    <a:srgbClr val="334155"/>
                  </a:solidFill>
                  <a:latin typeface="Inter Medium"/>
                  <a:ea typeface="Inter Medium"/>
                  <a:cs typeface="Inter Medium"/>
                  <a:sym typeface="Inter Medium"/>
                </a:endParaRPr>
              </a:p>
            </p:txBody>
          </p:sp>
          <p:sp>
            <p:nvSpPr>
              <p:cNvPr id="465" name="Google Shape;465;p24"/>
              <p:cNvSpPr txBox="1"/>
              <p:nvPr/>
            </p:nvSpPr>
            <p:spPr>
              <a:xfrm>
                <a:off x="10401300" y="3019425"/>
                <a:ext cx="95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1">
                    <a:solidFill>
                      <a:srgbClr val="0F766E"/>
                    </a:solidFill>
                    <a:latin typeface="Inter"/>
                    <a:ea typeface="Inter"/>
                    <a:cs typeface="Inter"/>
                    <a:sym typeface="Inter"/>
                  </a:rPr>
                  <a:t>Highly explainable</a:t>
                </a:r>
                <a:br>
                  <a:rPr lang="en-US" sz="786" b="1">
                    <a:solidFill>
                      <a:srgbClr val="0F766E"/>
                    </a:solidFill>
                    <a:latin typeface="Inter"/>
                    <a:ea typeface="Inter"/>
                    <a:cs typeface="Inter"/>
                    <a:sym typeface="Inter"/>
                  </a:rPr>
                </a:br>
                <a:r>
                  <a:rPr lang="en-US" sz="786" b="1">
                    <a:solidFill>
                      <a:srgbClr val="0F766E"/>
                    </a:solidFill>
                    <a:latin typeface="Inter"/>
                    <a:ea typeface="Inter"/>
                    <a:cs typeface="Inter"/>
                    <a:sym typeface="Inter"/>
                  </a:rPr>
                  <a:t>steps</a:t>
                </a:r>
                <a:endParaRPr sz="786" b="1">
                  <a:solidFill>
                    <a:srgbClr val="0F766E"/>
                  </a:solidFill>
                  <a:latin typeface="Inter"/>
                  <a:ea typeface="Inter"/>
                  <a:cs typeface="Inter"/>
                  <a:sym typeface="Inter"/>
                </a:endParaRPr>
              </a:p>
            </p:txBody>
          </p:sp>
          <p:sp>
            <p:nvSpPr>
              <p:cNvPr id="466" name="Google Shape;466;p24"/>
              <p:cNvSpPr txBox="1"/>
              <p:nvPr/>
            </p:nvSpPr>
            <p:spPr>
              <a:xfrm>
                <a:off x="9353550" y="3400425"/>
                <a:ext cx="95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0">
                    <a:solidFill>
                      <a:srgbClr val="334155"/>
                    </a:solidFill>
                    <a:latin typeface="Inter Medium"/>
                    <a:ea typeface="Inter Medium"/>
                    <a:cs typeface="Inter Medium"/>
                    <a:sym typeface="Inter Medium"/>
                  </a:rPr>
                  <a:t>No collaboration</a:t>
                </a:r>
                <a:br>
                  <a:rPr lang="en-US" sz="786" b="0">
                    <a:solidFill>
                      <a:srgbClr val="334155"/>
                    </a:solidFill>
                    <a:latin typeface="Inter Medium"/>
                    <a:ea typeface="Inter Medium"/>
                    <a:cs typeface="Inter Medium"/>
                    <a:sym typeface="Inter Medium"/>
                  </a:rPr>
                </a:br>
                <a:r>
                  <a:rPr lang="en-US" sz="786" b="0">
                    <a:solidFill>
                      <a:srgbClr val="334155"/>
                    </a:solidFill>
                    <a:latin typeface="Inter Medium"/>
                    <a:ea typeface="Inter Medium"/>
                    <a:cs typeface="Inter Medium"/>
                    <a:sym typeface="Inter Medium"/>
                  </a:rPr>
                  <a:t>features</a:t>
                </a:r>
                <a:endParaRPr sz="786" b="0">
                  <a:solidFill>
                    <a:srgbClr val="334155"/>
                  </a:solidFill>
                  <a:latin typeface="Inter Medium"/>
                  <a:ea typeface="Inter Medium"/>
                  <a:cs typeface="Inter Medium"/>
                  <a:sym typeface="Inter Medium"/>
                </a:endParaRPr>
              </a:p>
            </p:txBody>
          </p:sp>
          <p:sp>
            <p:nvSpPr>
              <p:cNvPr id="467" name="Google Shape;467;p24"/>
              <p:cNvSpPr txBox="1"/>
              <p:nvPr/>
            </p:nvSpPr>
            <p:spPr>
              <a:xfrm>
                <a:off x="10401300" y="3400425"/>
                <a:ext cx="95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1">
                    <a:solidFill>
                      <a:srgbClr val="0F766E"/>
                    </a:solidFill>
                    <a:latin typeface="Inter"/>
                    <a:ea typeface="Inter"/>
                    <a:cs typeface="Inter"/>
                    <a:sym typeface="Inter"/>
                  </a:rPr>
                  <a:t>Shared, stateful</a:t>
                </a:r>
                <a:br>
                  <a:rPr lang="en-US" sz="786" b="1">
                    <a:solidFill>
                      <a:srgbClr val="0F766E"/>
                    </a:solidFill>
                    <a:latin typeface="Inter"/>
                    <a:ea typeface="Inter"/>
                    <a:cs typeface="Inter"/>
                    <a:sym typeface="Inter"/>
                  </a:rPr>
                </a:br>
                <a:r>
                  <a:rPr lang="en-US" sz="786" b="1">
                    <a:solidFill>
                      <a:srgbClr val="0F766E"/>
                    </a:solidFill>
                    <a:latin typeface="Inter"/>
                    <a:ea typeface="Inter"/>
                    <a:cs typeface="Inter"/>
                    <a:sym typeface="Inter"/>
                  </a:rPr>
                  <a:t>coordination</a:t>
                </a:r>
                <a:endParaRPr sz="786" b="1">
                  <a:solidFill>
                    <a:srgbClr val="0F766E"/>
                  </a:solidFill>
                  <a:latin typeface="Inter"/>
                  <a:ea typeface="Inter"/>
                  <a:cs typeface="Inter"/>
                  <a:sym typeface="Inter"/>
                </a:endParaRPr>
              </a:p>
            </p:txBody>
          </p:sp>
          <p:sp>
            <p:nvSpPr>
              <p:cNvPr id="468" name="Google Shape;468;p24"/>
              <p:cNvSpPr txBox="1"/>
              <p:nvPr/>
            </p:nvSpPr>
            <p:spPr>
              <a:xfrm>
                <a:off x="9353550" y="3781425"/>
                <a:ext cx="95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0">
                    <a:solidFill>
                      <a:srgbClr val="334155"/>
                    </a:solidFill>
                    <a:latin typeface="Inter Medium"/>
                    <a:ea typeface="Inter Medium"/>
                    <a:cs typeface="Inter Medium"/>
                    <a:sym typeface="Inter Medium"/>
                  </a:rPr>
                  <a:t>Single failure</a:t>
                </a:r>
                <a:br>
                  <a:rPr lang="en-US" sz="786" b="0">
                    <a:solidFill>
                      <a:srgbClr val="334155"/>
                    </a:solidFill>
                    <a:latin typeface="Inter Medium"/>
                    <a:ea typeface="Inter Medium"/>
                    <a:cs typeface="Inter Medium"/>
                    <a:sym typeface="Inter Medium"/>
                  </a:rPr>
                </a:br>
                <a:r>
                  <a:rPr lang="en-US" sz="786" b="0">
                    <a:solidFill>
                      <a:srgbClr val="334155"/>
                    </a:solidFill>
                    <a:latin typeface="Inter Medium"/>
                    <a:ea typeface="Inter Medium"/>
                    <a:cs typeface="Inter Medium"/>
                    <a:sym typeface="Inter Medium"/>
                  </a:rPr>
                  <a:t>point</a:t>
                </a:r>
                <a:endParaRPr sz="786" b="0">
                  <a:solidFill>
                    <a:srgbClr val="334155"/>
                  </a:solidFill>
                  <a:latin typeface="Inter Medium"/>
                  <a:ea typeface="Inter Medium"/>
                  <a:cs typeface="Inter Medium"/>
                  <a:sym typeface="Inter Medium"/>
                </a:endParaRPr>
              </a:p>
            </p:txBody>
          </p:sp>
          <p:sp>
            <p:nvSpPr>
              <p:cNvPr id="469" name="Google Shape;469;p24"/>
              <p:cNvSpPr txBox="1"/>
              <p:nvPr/>
            </p:nvSpPr>
            <p:spPr>
              <a:xfrm>
                <a:off x="10401300" y="3781425"/>
                <a:ext cx="95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86" b="1">
                    <a:solidFill>
                      <a:srgbClr val="0F766E"/>
                    </a:solidFill>
                    <a:latin typeface="Inter"/>
                    <a:ea typeface="Inter"/>
                    <a:cs typeface="Inter"/>
                    <a:sym typeface="Inter"/>
                  </a:rPr>
                  <a:t>Dynamic</a:t>
                </a:r>
                <a:br>
                  <a:rPr lang="en-US" sz="786" b="1">
                    <a:solidFill>
                      <a:srgbClr val="0F766E"/>
                    </a:solidFill>
                    <a:latin typeface="Inter"/>
                    <a:ea typeface="Inter"/>
                    <a:cs typeface="Inter"/>
                    <a:sym typeface="Inter"/>
                  </a:rPr>
                </a:br>
                <a:r>
                  <a:rPr lang="en-US" sz="786" b="1">
                    <a:solidFill>
                      <a:srgbClr val="0F766E"/>
                    </a:solidFill>
                    <a:latin typeface="Inter"/>
                    <a:ea typeface="Inter"/>
                    <a:cs typeface="Inter"/>
                    <a:sym typeface="Inter"/>
                  </a:rPr>
                  <a:t>self-correction</a:t>
                </a:r>
                <a:endParaRPr sz="786" b="1">
                  <a:solidFill>
                    <a:srgbClr val="0F766E"/>
                  </a:solidFill>
                  <a:latin typeface="Inter"/>
                  <a:ea typeface="Inter"/>
                  <a:cs typeface="Inter"/>
                  <a:sym typeface="Inter"/>
                </a:endParaRPr>
              </a:p>
            </p:txBody>
          </p:sp>
        </p:grpSp>
        <p:grpSp>
          <p:nvGrpSpPr>
            <p:cNvPr id="6" name="Google Shape;470;p24"/>
            <p:cNvGrpSpPr/>
            <p:nvPr/>
          </p:nvGrpSpPr>
          <p:grpSpPr>
            <a:xfrm>
              <a:off x="9191625" y="4333875"/>
              <a:ext cx="2324100" cy="1952700"/>
              <a:chOff x="9191625" y="4333875"/>
              <a:chExt cx="2324100" cy="1952700"/>
            </a:xfrm>
          </p:grpSpPr>
          <p:sp>
            <p:nvSpPr>
              <p:cNvPr id="471" name="Google Shape;471;p24"/>
              <p:cNvSpPr/>
              <p:nvPr/>
            </p:nvSpPr>
            <p:spPr>
              <a:xfrm>
                <a:off x="9191625" y="4333875"/>
                <a:ext cx="2324100" cy="1952700"/>
              </a:xfrm>
              <a:prstGeom prst="roundRect">
                <a:avLst>
                  <a:gd name="adj" fmla="val 3902"/>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2" name="Google Shape;472;p24"/>
              <p:cNvSpPr/>
              <p:nvPr/>
            </p:nvSpPr>
            <p:spPr>
              <a:xfrm>
                <a:off x="9191625" y="4333875"/>
                <a:ext cx="2324100" cy="333300"/>
              </a:xfrm>
              <a:prstGeom prst="roundRect">
                <a:avLst>
                  <a:gd name="adj" fmla="val 22857"/>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3" name="Google Shape;473;p24"/>
              <p:cNvSpPr txBox="1"/>
              <p:nvPr/>
            </p:nvSpPr>
            <p:spPr>
              <a:xfrm>
                <a:off x="9286875" y="4400550"/>
                <a:ext cx="21336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25" b="1">
                    <a:solidFill>
                      <a:srgbClr val="334155"/>
                    </a:solidFill>
                    <a:latin typeface="Poppins"/>
                    <a:ea typeface="Poppins"/>
                    <a:cs typeface="Poppins"/>
                    <a:sym typeface="Poppins"/>
                  </a:rPr>
                  <a:t>WHY LANGGRAPH ORCHESTRATION?</a:t>
                </a:r>
                <a:endParaRPr sz="925" b="1">
                  <a:solidFill>
                    <a:srgbClr val="334155"/>
                  </a:solidFill>
                  <a:latin typeface="Poppins"/>
                  <a:ea typeface="Poppins"/>
                  <a:cs typeface="Poppins"/>
                  <a:sym typeface="Poppins"/>
                </a:endParaRPr>
              </a:p>
            </p:txBody>
          </p:sp>
          <p:sp>
            <p:nvSpPr>
              <p:cNvPr id="474" name="Google Shape;474;p24"/>
              <p:cNvSpPr txBox="1"/>
              <p:nvPr/>
            </p:nvSpPr>
            <p:spPr>
              <a:xfrm>
                <a:off x="9305925" y="4762500"/>
                <a:ext cx="2095500" cy="1428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20" b="1">
                    <a:solidFill>
                      <a:srgbClr val="0F766E"/>
                    </a:solidFill>
                    <a:latin typeface="Inter"/>
                    <a:ea typeface="Inter"/>
                    <a:cs typeface="Inter"/>
                    <a:sym typeface="Inter"/>
                  </a:rPr>
                  <a:t>Stateful Cyclic Execution</a:t>
                </a:r>
                <a:r>
                  <a:rPr lang="en-US" sz="820" b="0">
                    <a:solidFill>
                      <a:srgbClr val="334155"/>
                    </a:solidFill>
                    <a:latin typeface="Inter"/>
                    <a:ea typeface="Inter"/>
                    <a:cs typeface="Inter"/>
                    <a:sym typeface="Inter"/>
                  </a:rPr>
                  <a:t/>
                </a:r>
                <a:br>
                  <a:rPr lang="en-US" sz="820" b="0">
                    <a:solidFill>
                      <a:srgbClr val="334155"/>
                    </a:solidFill>
                    <a:latin typeface="Inter"/>
                    <a:ea typeface="Inter"/>
                    <a:cs typeface="Inter"/>
                    <a:sym typeface="Inter"/>
                  </a:rPr>
                </a:br>
                <a:r>
                  <a:rPr lang="en-US" sz="820" b="0">
                    <a:solidFill>
                      <a:srgbClr val="334155"/>
                    </a:solidFill>
                    <a:latin typeface="Inter"/>
                    <a:ea typeface="Inter"/>
                    <a:cs typeface="Inter"/>
                    <a:sym typeface="Inter"/>
                  </a:rPr>
                  <a:t>Traditional pipelines run one-way. LangGraph enables loops for iterative self-correction.</a:t>
                </a:r>
                <a:br>
                  <a:rPr lang="en-US" sz="820" b="0">
                    <a:solidFill>
                      <a:srgbClr val="334155"/>
                    </a:solidFill>
                    <a:latin typeface="Inter"/>
                    <a:ea typeface="Inter"/>
                    <a:cs typeface="Inter"/>
                    <a:sym typeface="Inter"/>
                  </a:rPr>
                </a:br>
                <a:r>
                  <a:rPr lang="en-US" sz="820" b="0">
                    <a:solidFill>
                      <a:srgbClr val="334155"/>
                    </a:solidFill>
                    <a:latin typeface="Inter"/>
                    <a:ea typeface="Inter"/>
                    <a:cs typeface="Inter"/>
                    <a:sym typeface="Inter"/>
                  </a:rPr>
                  <a:t/>
                </a:r>
                <a:br>
                  <a:rPr lang="en-US" sz="820" b="0">
                    <a:solidFill>
                      <a:srgbClr val="334155"/>
                    </a:solidFill>
                    <a:latin typeface="Inter"/>
                    <a:ea typeface="Inter"/>
                    <a:cs typeface="Inter"/>
                    <a:sym typeface="Inter"/>
                  </a:rPr>
                </a:br>
                <a:r>
                  <a:rPr lang="en-US" sz="820" b="1">
                    <a:solidFill>
                      <a:srgbClr val="0F766E"/>
                    </a:solidFill>
                    <a:latin typeface="Inter"/>
                    <a:ea typeface="Inter"/>
                    <a:cs typeface="Inter"/>
                    <a:sym typeface="Inter"/>
                  </a:rPr>
                  <a:t>Coordinated Core Capabilities</a:t>
                </a:r>
                <a:endParaRPr sz="820" b="0">
                  <a:solidFill>
                    <a:srgbClr val="334155"/>
                  </a:solidFill>
                  <a:latin typeface="Inter"/>
                  <a:ea typeface="Inter"/>
                  <a:cs typeface="Inter"/>
                  <a:sym typeface="Inter"/>
                </a:endParaRPr>
              </a:p>
              <a:p>
                <a:pPr marL="0" lvl="0" indent="0" algn="ctr" rtl="0">
                  <a:spcBef>
                    <a:spcPts val="450"/>
                  </a:spcBef>
                  <a:spcAft>
                    <a:spcPts val="0"/>
                  </a:spcAft>
                  <a:buNone/>
                </a:pPr>
                <a:r>
                  <a:rPr lang="en-US" sz="750" b="0">
                    <a:solidFill>
                      <a:srgbClr val="0F172A"/>
                    </a:solidFill>
                    <a:latin typeface="Fira Code SemiBold"/>
                    <a:ea typeface="Fira Code SemiBold"/>
                    <a:cs typeface="Fira Code SemiBold"/>
                    <a:sym typeface="Fira Code SemiBold"/>
                  </a:rPr>
                  <a:t>Planning ➔ Tool Use ➔ Memory ➔ State Control ➔ Self-Correction ➔ Automation</a:t>
                </a:r>
                <a:endParaRPr sz="750" b="0">
                  <a:solidFill>
                    <a:srgbClr val="0F172A"/>
                  </a:solidFill>
                  <a:latin typeface="Fira Code SemiBold"/>
                  <a:ea typeface="Fira Code SemiBold"/>
                  <a:cs typeface="Fira Code SemiBold"/>
                  <a:sym typeface="Fira Code SemiBold"/>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18"/>
        <p:cNvGrpSpPr/>
        <p:nvPr/>
      </p:nvGrpSpPr>
      <p:grpSpPr>
        <a:xfrm>
          <a:off x="0" y="0"/>
          <a:ext cx="0" cy="0"/>
          <a:chOff x="0" y="0"/>
          <a:chExt cx="0" cy="0"/>
        </a:xfrm>
      </p:grpSpPr>
      <p:pic>
        <p:nvPicPr>
          <p:cNvPr id="519" name="Google Shape;519;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20" name="Google Shape;520;p27" descr="image.png"/>
          <p:cNvPicPr preferRelativeResize="0"/>
          <p:nvPr/>
        </p:nvPicPr>
        <p:blipFill rotWithShape="1">
          <a:blip r:embed="rId4">
            <a:alphaModFix/>
          </a:blip>
          <a:srcRect/>
          <a:stretch/>
        </p:blipFill>
        <p:spPr>
          <a:xfrm>
            <a:off x="6286500" y="1114425"/>
            <a:ext cx="5314950" cy="5248275"/>
          </a:xfrm>
          <a:prstGeom prst="rect">
            <a:avLst/>
          </a:prstGeom>
          <a:noFill/>
          <a:ln>
            <a:noFill/>
          </a:ln>
        </p:spPr>
      </p:pic>
      <p:sp>
        <p:nvSpPr>
          <p:cNvPr id="521" name="Google Shape;521;p27"/>
          <p:cNvSpPr txBox="1"/>
          <p:nvPr/>
        </p:nvSpPr>
        <p:spPr>
          <a:xfrm>
            <a:off x="590550" y="1114425"/>
            <a:ext cx="5580697"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E293B"/>
                </a:solidFill>
                <a:latin typeface="Urbanist SemiBold"/>
                <a:ea typeface="Urbanist SemiBold"/>
                <a:cs typeface="Urbanist SemiBold"/>
                <a:sym typeface="Urbanist SemiBold"/>
              </a:rPr>
              <a:t>Grounding AI in Enterprise Knowledge</a:t>
            </a:r>
            <a:endParaRPr/>
          </a:p>
        </p:txBody>
      </p:sp>
      <p:sp>
        <p:nvSpPr>
          <p:cNvPr id="522" name="Google Shape;522;p27"/>
          <p:cNvSpPr txBox="1"/>
          <p:nvPr/>
        </p:nvSpPr>
        <p:spPr>
          <a:xfrm>
            <a:off x="590550" y="1514475"/>
            <a:ext cx="5315100" cy="1077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The Vector Store Service facilitates RAG by processing contract text into 1,000-character chunks with a 100-character overlap. These chunks are then transformed into high-dimensional semantic embeddings using the mxbai-embed-large model and subsequently indexed within Pinecone.</a:t>
            </a:r>
            <a:endParaRPr/>
          </a:p>
        </p:txBody>
      </p:sp>
      <p:sp>
        <p:nvSpPr>
          <p:cNvPr id="523" name="Google Shape;523;p27"/>
          <p:cNvSpPr txBox="1"/>
          <p:nvPr/>
        </p:nvSpPr>
        <p:spPr>
          <a:xfrm>
            <a:off x="971550" y="26193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Accuracy:</a:t>
            </a:r>
            <a:r>
              <a:rPr lang="en-US" sz="1500" b="0" i="0" u="none" strike="noStrike" cap="none">
                <a:solidFill>
                  <a:srgbClr val="334155"/>
                </a:solidFill>
                <a:latin typeface="Urbanist"/>
                <a:ea typeface="Urbanist"/>
                <a:cs typeface="Urbanist"/>
                <a:sym typeface="Urbanist"/>
              </a:rPr>
              <a:t> Responses are grounded in retrieved contractual and regulatory information.</a:t>
            </a:r>
            <a:endParaRPr/>
          </a:p>
        </p:txBody>
      </p:sp>
      <p:sp>
        <p:nvSpPr>
          <p:cNvPr id="524" name="Google Shape;524;p27"/>
          <p:cNvSpPr txBox="1"/>
          <p:nvPr/>
        </p:nvSpPr>
        <p:spPr>
          <a:xfrm>
            <a:off x="971550" y="34194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Continuous Updates:</a:t>
            </a:r>
            <a:r>
              <a:rPr lang="en-US" sz="1500" b="0" i="0" u="none" strike="noStrike" cap="none">
                <a:solidFill>
                  <a:srgbClr val="334155"/>
                </a:solidFill>
                <a:latin typeface="Urbanist"/>
                <a:ea typeface="Urbanist"/>
                <a:cs typeface="Urbanist"/>
                <a:sym typeface="Urbanist"/>
              </a:rPr>
              <a:t> New contracts and regulations indexed independently of the LLM.</a:t>
            </a:r>
            <a:endParaRPr/>
          </a:p>
        </p:txBody>
      </p:sp>
      <p:sp>
        <p:nvSpPr>
          <p:cNvPr id="525" name="Google Shape;525;p27"/>
          <p:cNvSpPr txBox="1"/>
          <p:nvPr/>
        </p:nvSpPr>
        <p:spPr>
          <a:xfrm>
            <a:off x="971550" y="4219575"/>
            <a:ext cx="4934100" cy="923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1500">
                <a:solidFill>
                  <a:srgbClr val="0F172A"/>
                </a:solidFill>
                <a:latin typeface="Urbanist SemiBold"/>
                <a:ea typeface="Urbanist SemiBold"/>
                <a:cs typeface="Urbanist SemiBold"/>
                <a:sym typeface="Urbanist SemiBold"/>
              </a:rPr>
              <a:t>Optimizing Performance: </a:t>
            </a:r>
            <a:r>
              <a:rPr lang="en-US" sz="1500" b="1">
                <a:solidFill>
                  <a:srgbClr val="0F172A"/>
                </a:solidFill>
                <a:latin typeface="Urbanist"/>
                <a:ea typeface="Urbanist"/>
                <a:cs typeface="Urbanist"/>
                <a:sym typeface="Urbanist"/>
              </a:rPr>
              <a:t>Achieving low-latency through dense semantic search, leveraging Pinecone’s cosine-similarity indexing combined with precise score-threshold filtering.</a:t>
            </a:r>
            <a:endParaRPr b="1">
              <a:latin typeface="Urbanist"/>
              <a:ea typeface="Urbanist"/>
              <a:cs typeface="Urbanist"/>
              <a:sym typeface="Urbanist"/>
            </a:endParaRPr>
          </a:p>
        </p:txBody>
      </p:sp>
      <p:sp>
        <p:nvSpPr>
          <p:cNvPr id="526" name="Google Shape;526;p27"/>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Semantic Retrieval (RAG)</a:t>
            </a:r>
            <a:endParaRPr/>
          </a:p>
        </p:txBody>
      </p:sp>
      <p:sp>
        <p:nvSpPr>
          <p:cNvPr id="527" name="Google Shape;527;p27"/>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28" name="Google Shape;528;p27" descr="improvize this in vertical "/>
          <p:cNvPicPr preferRelativeResize="0"/>
          <p:nvPr/>
        </p:nvPicPr>
        <p:blipFill>
          <a:blip r:embed="rId5">
            <a:alphaModFix/>
          </a:blip>
          <a:stretch>
            <a:fillRect/>
          </a:stretch>
        </p:blipFill>
        <p:spPr>
          <a:xfrm>
            <a:off x="6361550" y="1095375"/>
            <a:ext cx="5114625" cy="5347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pic>
        <p:nvPicPr>
          <p:cNvPr id="533" name="Google Shape;533;p28"/>
          <p:cNvPicPr preferRelativeResize="0"/>
          <p:nvPr/>
        </p:nvPicPr>
        <p:blipFill rotWithShape="1">
          <a:blip r:embed="rId3">
            <a:alphaModFix/>
          </a:blip>
          <a:srcRect/>
          <a:stretch/>
        </p:blipFill>
        <p:spPr>
          <a:xfrm>
            <a:off x="-47625" y="0"/>
            <a:ext cx="12287250" cy="686358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37"/>
        <p:cNvGrpSpPr/>
        <p:nvPr/>
      </p:nvGrpSpPr>
      <p:grpSpPr>
        <a:xfrm>
          <a:off x="0" y="0"/>
          <a:ext cx="0" cy="0"/>
          <a:chOff x="0" y="0"/>
          <a:chExt cx="0" cy="0"/>
        </a:xfrm>
      </p:grpSpPr>
      <p:pic>
        <p:nvPicPr>
          <p:cNvPr id="538" name="Google Shape;538;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39" name="Google Shape;539;p29" descr="image.png"/>
          <p:cNvPicPr preferRelativeResize="0"/>
          <p:nvPr/>
        </p:nvPicPr>
        <p:blipFill rotWithShape="1">
          <a:blip r:embed="rId4">
            <a:alphaModFix/>
          </a:blip>
          <a:srcRect/>
          <a:stretch/>
        </p:blipFill>
        <p:spPr>
          <a:xfrm>
            <a:off x="590550" y="1914525"/>
            <a:ext cx="5362575" cy="2081212"/>
          </a:xfrm>
          <a:prstGeom prst="rect">
            <a:avLst/>
          </a:prstGeom>
          <a:noFill/>
          <a:ln>
            <a:noFill/>
          </a:ln>
        </p:spPr>
      </p:pic>
      <p:pic>
        <p:nvPicPr>
          <p:cNvPr id="540" name="Google Shape;540;p29" descr="image.png"/>
          <p:cNvPicPr preferRelativeResize="0"/>
          <p:nvPr/>
        </p:nvPicPr>
        <p:blipFill rotWithShape="1">
          <a:blip r:embed="rId5">
            <a:alphaModFix/>
          </a:blip>
          <a:srcRect/>
          <a:stretch/>
        </p:blipFill>
        <p:spPr>
          <a:xfrm>
            <a:off x="6238875" y="1914525"/>
            <a:ext cx="5362575" cy="2081212"/>
          </a:xfrm>
          <a:prstGeom prst="rect">
            <a:avLst/>
          </a:prstGeom>
          <a:noFill/>
          <a:ln>
            <a:noFill/>
          </a:ln>
        </p:spPr>
      </p:pic>
      <p:pic>
        <p:nvPicPr>
          <p:cNvPr id="541" name="Google Shape;541;p29" descr="image.png"/>
          <p:cNvPicPr preferRelativeResize="0"/>
          <p:nvPr/>
        </p:nvPicPr>
        <p:blipFill rotWithShape="1">
          <a:blip r:embed="rId6">
            <a:alphaModFix/>
          </a:blip>
          <a:srcRect/>
          <a:stretch/>
        </p:blipFill>
        <p:spPr>
          <a:xfrm>
            <a:off x="590550" y="4281487"/>
            <a:ext cx="5362575" cy="2081212"/>
          </a:xfrm>
          <a:prstGeom prst="rect">
            <a:avLst/>
          </a:prstGeom>
          <a:noFill/>
          <a:ln>
            <a:noFill/>
          </a:ln>
        </p:spPr>
      </p:pic>
      <p:pic>
        <p:nvPicPr>
          <p:cNvPr id="542" name="Google Shape;542;p29" descr="image.png"/>
          <p:cNvPicPr preferRelativeResize="0"/>
          <p:nvPr/>
        </p:nvPicPr>
        <p:blipFill rotWithShape="1">
          <a:blip r:embed="rId7">
            <a:alphaModFix/>
          </a:blip>
          <a:srcRect/>
          <a:stretch/>
        </p:blipFill>
        <p:spPr>
          <a:xfrm>
            <a:off x="6238875" y="4281487"/>
            <a:ext cx="5362575" cy="2081212"/>
          </a:xfrm>
          <a:prstGeom prst="rect">
            <a:avLst/>
          </a:prstGeom>
          <a:noFill/>
          <a:ln>
            <a:noFill/>
          </a:ln>
        </p:spPr>
      </p:pic>
      <p:sp>
        <p:nvSpPr>
          <p:cNvPr id="543" name="Google Shape;543;p29"/>
          <p:cNvSpPr txBox="1"/>
          <p:nvPr/>
        </p:nvSpPr>
        <p:spPr>
          <a:xfrm>
            <a:off x="590550" y="1114425"/>
            <a:ext cx="110109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The Guardrails Service performs runtime validation on inputs and AI outputs before presentation, enforcing strict regulatory boundaries.</a:t>
            </a:r>
            <a:endParaRPr/>
          </a:p>
        </p:txBody>
      </p:sp>
      <p:sp>
        <p:nvSpPr>
          <p:cNvPr id="544" name="Google Shape;544;p29"/>
          <p:cNvSpPr txBox="1"/>
          <p:nvPr/>
        </p:nvSpPr>
        <p:spPr>
          <a:xfrm>
            <a:off x="838200" y="2190750"/>
            <a:ext cx="2060257"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59E0B"/>
                </a:solidFill>
                <a:latin typeface="Urbanist SemiBold"/>
                <a:ea typeface="Urbanist SemiBold"/>
                <a:cs typeface="Urbanist SemiBold"/>
                <a:sym typeface="Urbanist SemiBold"/>
              </a:rPr>
              <a:t>PII Filter Validator</a:t>
            </a:r>
            <a:endParaRPr/>
          </a:p>
        </p:txBody>
      </p:sp>
      <p:sp>
        <p:nvSpPr>
          <p:cNvPr id="545" name="Google Shape;545;p29"/>
          <p:cNvSpPr txBox="1"/>
          <p:nvPr/>
        </p:nvSpPr>
        <p:spPr>
          <a:xfrm>
            <a:off x="838200" y="2590800"/>
            <a:ext cx="48672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Detects and automatically masks sensitive data (Aadhaar, PAN, IFSC) to prevent leakage.</a:t>
            </a:r>
            <a:endParaRPr/>
          </a:p>
        </p:txBody>
      </p:sp>
      <p:sp>
        <p:nvSpPr>
          <p:cNvPr id="546" name="Google Shape;546;p29"/>
          <p:cNvSpPr txBox="1"/>
          <p:nvPr/>
        </p:nvSpPr>
        <p:spPr>
          <a:xfrm>
            <a:off x="6486525" y="2190750"/>
            <a:ext cx="311038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EF4444"/>
                </a:solidFill>
                <a:latin typeface="Urbanist SemiBold"/>
                <a:ea typeface="Urbanist SemiBold"/>
                <a:cs typeface="Urbanist SemiBold"/>
                <a:sym typeface="Urbanist SemiBold"/>
              </a:rPr>
              <a:t>Restricted Terms Validator</a:t>
            </a:r>
            <a:endParaRPr/>
          </a:p>
        </p:txBody>
      </p:sp>
      <p:sp>
        <p:nvSpPr>
          <p:cNvPr id="547" name="Google Shape;547;p29"/>
          <p:cNvSpPr txBox="1"/>
          <p:nvPr/>
        </p:nvSpPr>
        <p:spPr>
          <a:xfrm>
            <a:off x="6486525" y="2590800"/>
            <a:ext cx="48672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Blocks prohibited legal terminology (e.g., "zero risk") to prevent unsafe legal commitments.</a:t>
            </a:r>
            <a:endParaRPr/>
          </a:p>
        </p:txBody>
      </p:sp>
      <p:sp>
        <p:nvSpPr>
          <p:cNvPr id="548" name="Google Shape;548;p29"/>
          <p:cNvSpPr txBox="1"/>
          <p:nvPr/>
        </p:nvSpPr>
        <p:spPr>
          <a:xfrm>
            <a:off x="838200" y="4557712"/>
            <a:ext cx="2590323"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3B82F6"/>
                </a:solidFill>
                <a:latin typeface="Urbanist SemiBold"/>
                <a:ea typeface="Urbanist SemiBold"/>
                <a:cs typeface="Urbanist SemiBold"/>
                <a:sym typeface="Urbanist SemiBold"/>
              </a:rPr>
              <a:t>Hallucination Detector</a:t>
            </a:r>
            <a:endParaRPr/>
          </a:p>
        </p:txBody>
      </p:sp>
      <p:sp>
        <p:nvSpPr>
          <p:cNvPr id="549" name="Google Shape;549;p29"/>
          <p:cNvSpPr txBox="1"/>
          <p:nvPr/>
        </p:nvSpPr>
        <p:spPr>
          <a:xfrm>
            <a:off x="838200" y="4957762"/>
            <a:ext cx="48672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Verifies RBI circular references formats, detecting future years or invalid fiscal pairs.</a:t>
            </a:r>
            <a:endParaRPr/>
          </a:p>
        </p:txBody>
      </p:sp>
      <p:sp>
        <p:nvSpPr>
          <p:cNvPr id="550" name="Google Shape;550;p29"/>
          <p:cNvSpPr txBox="1"/>
          <p:nvPr/>
        </p:nvSpPr>
        <p:spPr>
          <a:xfrm>
            <a:off x="6486525" y="4557712"/>
            <a:ext cx="236029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0B981"/>
                </a:solidFill>
                <a:latin typeface="Urbanist SemiBold"/>
                <a:ea typeface="Urbanist SemiBold"/>
                <a:cs typeface="Urbanist SemiBold"/>
                <a:sym typeface="Urbanist SemiBold"/>
              </a:rPr>
              <a:t>Disclaimer Validator</a:t>
            </a:r>
            <a:endParaRPr/>
          </a:p>
        </p:txBody>
      </p:sp>
      <p:sp>
        <p:nvSpPr>
          <p:cNvPr id="551" name="Google Shape;551;p29"/>
          <p:cNvSpPr txBox="1"/>
          <p:nvPr/>
        </p:nvSpPr>
        <p:spPr>
          <a:xfrm>
            <a:off x="6486525" y="4957762"/>
            <a:ext cx="48672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Ensures responses containing regulatory guidance include appropriate legal disclaimers.</a:t>
            </a:r>
            <a:endParaRPr/>
          </a:p>
        </p:txBody>
      </p:sp>
      <p:sp>
        <p:nvSpPr>
          <p:cNvPr id="552" name="Google Shape;552;p29"/>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AI Governance &amp; Safety</a:t>
            </a:r>
            <a:endParaRPr/>
          </a:p>
        </p:txBody>
      </p:sp>
      <p:sp>
        <p:nvSpPr>
          <p:cNvPr id="553" name="Google Shape;553;p29"/>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pic>
        <p:nvPicPr>
          <p:cNvPr id="558" name="Google Shape;558;p30"/>
          <p:cNvPicPr preferRelativeResize="0"/>
          <p:nvPr/>
        </p:nvPicPr>
        <p:blipFill rotWithShape="1">
          <a:blip r:embed="rId3">
            <a:alphaModFix/>
          </a:blip>
          <a:srcRect t="2963" b="2963"/>
          <a:stretch/>
        </p:blipFill>
        <p:spPr>
          <a:xfrm>
            <a:off x="152400" y="152400"/>
            <a:ext cx="11592175" cy="6326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62"/>
        <p:cNvGrpSpPr/>
        <p:nvPr/>
      </p:nvGrpSpPr>
      <p:grpSpPr>
        <a:xfrm>
          <a:off x="0" y="0"/>
          <a:ext cx="0" cy="0"/>
          <a:chOff x="0" y="0"/>
          <a:chExt cx="0" cy="0"/>
        </a:xfrm>
      </p:grpSpPr>
      <p:pic>
        <p:nvPicPr>
          <p:cNvPr id="563" name="Google Shape;563;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64" name="Google Shape;564;p31" descr="image.png"/>
          <p:cNvPicPr preferRelativeResize="0"/>
          <p:nvPr/>
        </p:nvPicPr>
        <p:blipFill rotWithShape="1">
          <a:blip r:embed="rId4">
            <a:alphaModFix/>
          </a:blip>
          <a:srcRect/>
          <a:stretch/>
        </p:blipFill>
        <p:spPr>
          <a:xfrm>
            <a:off x="6286500" y="1114425"/>
            <a:ext cx="5314950" cy="5295602"/>
          </a:xfrm>
          <a:prstGeom prst="rect">
            <a:avLst/>
          </a:prstGeom>
          <a:noFill/>
          <a:ln>
            <a:noFill/>
          </a:ln>
        </p:spPr>
      </p:pic>
      <p:sp>
        <p:nvSpPr>
          <p:cNvPr id="565" name="Google Shape;565;p31"/>
          <p:cNvSpPr txBox="1"/>
          <p:nvPr/>
        </p:nvSpPr>
        <p:spPr>
          <a:xfrm>
            <a:off x="590550" y="1114425"/>
            <a:ext cx="5580697"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E293B"/>
                </a:solidFill>
                <a:latin typeface="Urbanist SemiBold"/>
                <a:ea typeface="Urbanist SemiBold"/>
                <a:cs typeface="Urbanist SemiBold"/>
                <a:sym typeface="Urbanist SemiBold"/>
              </a:rPr>
              <a:t>Token-Level Feature Attribution</a:t>
            </a:r>
            <a:endParaRPr/>
          </a:p>
        </p:txBody>
      </p:sp>
      <p:sp>
        <p:nvSpPr>
          <p:cNvPr id="566" name="Google Shape;566;p31"/>
          <p:cNvSpPr txBox="1"/>
          <p:nvPr/>
        </p:nvSpPr>
        <p:spPr>
          <a:xfrm>
            <a:off x="590550" y="1514475"/>
            <a:ext cx="53149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To satisfy auditability mandates under Basel III, the platform uses SHapley Additive exPlanations (SHAP) to interpret opaque AI decisions.</a:t>
            </a:r>
            <a:endParaRPr/>
          </a:p>
        </p:txBody>
      </p:sp>
      <p:pic>
        <p:nvPicPr>
          <p:cNvPr id="567" name="Google Shape;567;p31" descr="image.png"/>
          <p:cNvPicPr preferRelativeResize="0"/>
          <p:nvPr/>
        </p:nvPicPr>
        <p:blipFill rotWithShape="1">
          <a:blip r:embed="rId5">
            <a:alphaModFix/>
          </a:blip>
          <a:srcRect/>
          <a:stretch/>
        </p:blipFill>
        <p:spPr>
          <a:xfrm>
            <a:off x="6296025" y="1123950"/>
            <a:ext cx="5295900" cy="5276552"/>
          </a:xfrm>
          <a:prstGeom prst="rect">
            <a:avLst/>
          </a:prstGeom>
          <a:noFill/>
          <a:ln>
            <a:noFill/>
          </a:ln>
        </p:spPr>
      </p:pic>
      <p:sp>
        <p:nvSpPr>
          <p:cNvPr id="568" name="Google Shape;568;p31"/>
          <p:cNvSpPr txBox="1"/>
          <p:nvPr/>
        </p:nvSpPr>
        <p:spPr>
          <a:xfrm>
            <a:off x="971550" y="26193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Mathematical Proof:</a:t>
            </a:r>
            <a:r>
              <a:rPr lang="en-US" sz="1500" b="0" i="0" u="none" strike="noStrike" cap="none">
                <a:solidFill>
                  <a:srgbClr val="334155"/>
                </a:solidFill>
                <a:latin typeface="Urbanist"/>
                <a:ea typeface="Urbanist"/>
                <a:cs typeface="Urbanist"/>
                <a:sym typeface="Urbanist"/>
              </a:rPr>
              <a:t> Computes exact contribution of each term to the compliance decision.</a:t>
            </a:r>
            <a:endParaRPr/>
          </a:p>
        </p:txBody>
      </p:sp>
      <p:sp>
        <p:nvSpPr>
          <p:cNvPr id="569" name="Google Shape;569;p31"/>
          <p:cNvSpPr txBox="1"/>
          <p:nvPr/>
        </p:nvSpPr>
        <p:spPr>
          <a:xfrm>
            <a:off x="971550" y="3419475"/>
            <a:ext cx="49339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Model-Agnostic:</a:t>
            </a:r>
            <a:r>
              <a:rPr lang="en-US" sz="1500" b="0" i="0" u="none" strike="noStrike" cap="none">
                <a:solidFill>
                  <a:srgbClr val="334155"/>
                </a:solidFill>
                <a:latin typeface="Urbanist"/>
                <a:ea typeface="Urbanist"/>
                <a:cs typeface="Urbanist"/>
                <a:sym typeface="Urbanist"/>
              </a:rPr>
              <a:t> Uses a SHAP Text Masker to systematically hide portions of text and measure confidence changes.</a:t>
            </a:r>
            <a:endParaRPr/>
          </a:p>
        </p:txBody>
      </p:sp>
      <p:sp>
        <p:nvSpPr>
          <p:cNvPr id="570" name="Google Shape;570;p31"/>
          <p:cNvSpPr txBox="1"/>
          <p:nvPr/>
        </p:nvSpPr>
        <p:spPr>
          <a:xfrm>
            <a:off x="971550" y="45243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Visual Heatmaps:</a:t>
            </a:r>
            <a:r>
              <a:rPr lang="en-US" sz="1500" b="0" i="0" u="none" strike="noStrike" cap="none">
                <a:solidFill>
                  <a:srgbClr val="334155"/>
                </a:solidFill>
                <a:latin typeface="Urbanist"/>
                <a:ea typeface="Urbanist"/>
                <a:cs typeface="Urbanist"/>
                <a:sym typeface="Urbanist"/>
              </a:rPr>
              <a:t> Highlights terms driving risk up (positive attribution) or down.</a:t>
            </a:r>
            <a:endParaRPr/>
          </a:p>
        </p:txBody>
      </p:sp>
      <p:sp>
        <p:nvSpPr>
          <p:cNvPr id="571" name="Google Shape;571;p31"/>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Explainable AI (SHAP)</a:t>
            </a:r>
            <a:endParaRPr/>
          </a:p>
        </p:txBody>
      </p:sp>
      <p:sp>
        <p:nvSpPr>
          <p:cNvPr id="572" name="Google Shape;572;p31"/>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32"/>
          <p:cNvSpPr/>
          <p:nvPr/>
        </p:nvSpPr>
        <p:spPr>
          <a:xfrm>
            <a:off x="0" y="0"/>
            <a:ext cx="12192000" cy="68580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578" name="Google Shape;578;p32"/>
          <p:cNvPicPr preferRelativeResize="0"/>
          <p:nvPr/>
        </p:nvPicPr>
        <p:blipFill rotWithShape="1">
          <a:blip r:embed="rId3">
            <a:alphaModFix/>
          </a:blip>
          <a:srcRect/>
          <a:stretch/>
        </p:blipFill>
        <p:spPr>
          <a:xfrm>
            <a:off x="590550" y="1038225"/>
            <a:ext cx="11010900" cy="19200"/>
          </a:xfrm>
          <a:prstGeom prst="rect">
            <a:avLst/>
          </a:prstGeom>
          <a:noFill/>
          <a:ln>
            <a:noFill/>
          </a:ln>
        </p:spPr>
      </p:pic>
      <p:grpSp>
        <p:nvGrpSpPr>
          <p:cNvPr id="579" name="Google Shape;579;p32"/>
          <p:cNvGrpSpPr/>
          <p:nvPr/>
        </p:nvGrpSpPr>
        <p:grpSpPr>
          <a:xfrm>
            <a:off x="590550" y="428625"/>
            <a:ext cx="11010900" cy="571500"/>
            <a:chOff x="590550" y="428625"/>
            <a:chExt cx="11010900" cy="571500"/>
          </a:xfrm>
        </p:grpSpPr>
        <p:sp>
          <p:nvSpPr>
            <p:cNvPr id="580" name="Google Shape;580;p32"/>
            <p:cNvSpPr txBox="1"/>
            <p:nvPr/>
          </p:nvSpPr>
          <p:spPr>
            <a:xfrm>
              <a:off x="590550" y="428625"/>
              <a:ext cx="7620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590" b="1">
                  <a:solidFill>
                    <a:srgbClr val="0F172A"/>
                  </a:solidFill>
                  <a:latin typeface="Urbanist"/>
                  <a:ea typeface="Urbanist"/>
                  <a:cs typeface="Urbanist"/>
                  <a:sym typeface="Urbanist"/>
                </a:rPr>
                <a:t>Resource Management Strategy for Explainable AI</a:t>
              </a:r>
              <a:endParaRPr sz="2590" b="1">
                <a:solidFill>
                  <a:srgbClr val="0F172A"/>
                </a:solidFill>
                <a:latin typeface="Urbanist"/>
                <a:ea typeface="Urbanist"/>
                <a:cs typeface="Urbanist"/>
                <a:sym typeface="Urbanist"/>
              </a:endParaRPr>
            </a:p>
          </p:txBody>
        </p:sp>
        <p:sp>
          <p:nvSpPr>
            <p:cNvPr id="581" name="Google Shape;581;p32"/>
            <p:cNvSpPr txBox="1"/>
            <p:nvPr/>
          </p:nvSpPr>
          <p:spPr>
            <a:xfrm>
              <a:off x="8286750" y="523875"/>
              <a:ext cx="3314700" cy="381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500" b="0">
                  <a:solidFill>
                    <a:srgbClr val="475569"/>
                  </a:solidFill>
                  <a:latin typeface="Urbanist SemiBold"/>
                  <a:ea typeface="Urbanist SemiBold"/>
                  <a:cs typeface="Urbanist SemiBold"/>
                  <a:sym typeface="Urbanist SemiBold"/>
                </a:rPr>
                <a:t>Computational Efficiency &amp; UX</a:t>
              </a:r>
              <a:endParaRPr sz="1500" b="0">
                <a:solidFill>
                  <a:srgbClr val="475569"/>
                </a:solidFill>
                <a:latin typeface="Urbanist SemiBold"/>
                <a:ea typeface="Urbanist SemiBold"/>
                <a:cs typeface="Urbanist SemiBold"/>
                <a:sym typeface="Urbanist SemiBold"/>
              </a:endParaRPr>
            </a:p>
          </p:txBody>
        </p:sp>
      </p:grpSp>
      <p:grpSp>
        <p:nvGrpSpPr>
          <p:cNvPr id="582" name="Google Shape;582;p32"/>
          <p:cNvGrpSpPr/>
          <p:nvPr/>
        </p:nvGrpSpPr>
        <p:grpSpPr>
          <a:xfrm>
            <a:off x="590550" y="1285875"/>
            <a:ext cx="5410200" cy="2809800"/>
            <a:chOff x="590550" y="1285875"/>
            <a:chExt cx="5410200" cy="2809800"/>
          </a:xfrm>
        </p:grpSpPr>
        <p:sp>
          <p:nvSpPr>
            <p:cNvPr id="583" name="Google Shape;583;p32"/>
            <p:cNvSpPr/>
            <p:nvPr/>
          </p:nvSpPr>
          <p:spPr>
            <a:xfrm>
              <a:off x="590550" y="1285875"/>
              <a:ext cx="5410200" cy="2809800"/>
            </a:xfrm>
            <a:prstGeom prst="roundRect">
              <a:avLst>
                <a:gd name="adj" fmla="val 406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4" name="Google Shape;584;p32"/>
            <p:cNvSpPr/>
            <p:nvPr/>
          </p:nvSpPr>
          <p:spPr>
            <a:xfrm>
              <a:off x="781050" y="1476375"/>
              <a:ext cx="1047900" cy="228600"/>
            </a:xfrm>
            <a:prstGeom prst="roundRect">
              <a:avLst>
                <a:gd name="adj" fmla="val 5000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5" name="Google Shape;585;p32"/>
            <p:cNvSpPr txBox="1"/>
            <p:nvPr/>
          </p:nvSpPr>
          <p:spPr>
            <a:xfrm>
              <a:off x="781050" y="1476375"/>
              <a:ext cx="1047900" cy="228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2563EB"/>
                  </a:solidFill>
                  <a:latin typeface="Urbanist"/>
                  <a:ea typeface="Urbanist"/>
                  <a:cs typeface="Urbanist"/>
                  <a:sym typeface="Urbanist"/>
                </a:rPr>
                <a:t>THE CHALLENGE</a:t>
              </a:r>
              <a:endParaRPr sz="1000" b="1">
                <a:solidFill>
                  <a:srgbClr val="2563EB"/>
                </a:solidFill>
                <a:latin typeface="Urbanist"/>
                <a:ea typeface="Urbanist"/>
                <a:cs typeface="Urbanist"/>
                <a:sym typeface="Urbanist"/>
              </a:endParaRPr>
            </a:p>
          </p:txBody>
        </p:sp>
        <p:sp>
          <p:nvSpPr>
            <p:cNvPr id="586" name="Google Shape;586;p32"/>
            <p:cNvSpPr txBox="1"/>
            <p:nvPr/>
          </p:nvSpPr>
          <p:spPr>
            <a:xfrm>
              <a:off x="781050" y="1857375"/>
              <a:ext cx="5029200" cy="20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500" b="1">
                  <a:solidFill>
                    <a:srgbClr val="1E293B"/>
                  </a:solidFill>
                  <a:latin typeface="Urbanist"/>
                  <a:ea typeface="Urbanist"/>
                  <a:cs typeface="Urbanist"/>
                  <a:sym typeface="Urbanist"/>
                </a:rPr>
                <a:t>Iterative SHAP Bottleneck</a:t>
              </a:r>
              <a:endParaRPr sz="1500" b="1">
                <a:solidFill>
                  <a:srgbClr val="1E293B"/>
                </a:solidFill>
                <a:latin typeface="Urbanist"/>
                <a:ea typeface="Urbanist"/>
                <a:cs typeface="Urbanist"/>
                <a:sym typeface="Urbanist"/>
              </a:endParaRPr>
            </a:p>
            <a:p>
              <a:pPr marL="0" lvl="0" indent="0" algn="l" rtl="0">
                <a:spcBef>
                  <a:spcPts val="600"/>
                </a:spcBef>
                <a:spcAft>
                  <a:spcPts val="0"/>
                </a:spcAft>
                <a:buNone/>
              </a:pPr>
              <a:r>
                <a:rPr lang="en-US" sz="1110" b="0">
                  <a:solidFill>
                    <a:srgbClr val="0F172A"/>
                  </a:solidFill>
                  <a:latin typeface="Urbanist SemiBold"/>
                  <a:ea typeface="Urbanist SemiBold"/>
                  <a:cs typeface="Urbanist SemiBold"/>
                  <a:sym typeface="Urbanist SemiBold"/>
                </a:rPr>
                <a:t>Exponential Scale:</a:t>
              </a:r>
              <a:r>
                <a:rPr lang="en-US" sz="1110" b="0">
                  <a:solidFill>
                    <a:srgbClr val="334155"/>
                  </a:solidFill>
                  <a:latin typeface="Urbanist"/>
                  <a:ea typeface="Urbanist"/>
                  <a:cs typeface="Urbanist"/>
                  <a:sym typeface="Urbanist"/>
                </a:rPr>
                <a:t> SHAP works by masking words and running the neural network iteratively, resulting in an </a:t>
              </a:r>
              <a:r>
                <a:rPr lang="en-US" sz="1110" b="0">
                  <a:solidFill>
                    <a:srgbClr val="0F172A"/>
                  </a:solidFill>
                  <a:latin typeface="Urbanist SemiBold"/>
                  <a:ea typeface="Urbanist SemiBold"/>
                  <a:cs typeface="Urbanist SemiBold"/>
                  <a:sym typeface="Urbanist SemiBold"/>
                </a:rPr>
                <a:t>O(N)</a:t>
              </a:r>
              <a:r>
                <a:rPr lang="en-US" sz="1110" b="0">
                  <a:solidFill>
                    <a:srgbClr val="334155"/>
                  </a:solidFill>
                  <a:latin typeface="Urbanist"/>
                  <a:ea typeface="Urbanist"/>
                  <a:cs typeface="Urbanist"/>
                  <a:sym typeface="Urbanist"/>
                </a:rPr>
                <a:t> or exponentially scaling operation.</a:t>
              </a:r>
              <a:endParaRPr sz="1110" b="0">
                <a:solidFill>
                  <a:srgbClr val="334155"/>
                </a:solidFill>
                <a:latin typeface="Urbanist"/>
                <a:ea typeface="Urbanist"/>
                <a:cs typeface="Urbanist"/>
                <a:sym typeface="Urbanist"/>
              </a:endParaRPr>
            </a:p>
            <a:p>
              <a:pPr marL="0" lvl="0" indent="0" algn="l" rtl="0">
                <a:spcBef>
                  <a:spcPts val="600"/>
                </a:spcBef>
                <a:spcAft>
                  <a:spcPts val="600"/>
                </a:spcAft>
                <a:buNone/>
              </a:pPr>
              <a:r>
                <a:rPr lang="en-US" sz="1110" b="0">
                  <a:solidFill>
                    <a:srgbClr val="0F172A"/>
                  </a:solidFill>
                  <a:latin typeface="Urbanist SemiBold"/>
                  <a:ea typeface="Urbanist SemiBold"/>
                  <a:cs typeface="Urbanist SemiBold"/>
                  <a:sym typeface="Urbanist SemiBold"/>
                </a:rPr>
                <a:t>The GPU Killer:</a:t>
              </a:r>
              <a:r>
                <a:rPr lang="en-US" sz="1110" b="0">
                  <a:solidFill>
                    <a:srgbClr val="334155"/>
                  </a:solidFill>
                  <a:latin typeface="Urbanist"/>
                  <a:ea typeface="Urbanist"/>
                  <a:cs typeface="Urbanist"/>
                  <a:sym typeface="Urbanist"/>
                </a:rPr>
                <a:t> Running SHAP on upload for a 50-page contract with 40 clauses locks the server's CPU/GPU for minutes, severely degrading system throughput.</a:t>
              </a:r>
              <a:endParaRPr sz="1110" b="0">
                <a:solidFill>
                  <a:srgbClr val="334155"/>
                </a:solidFill>
                <a:latin typeface="Urbanist"/>
                <a:ea typeface="Urbanist"/>
                <a:cs typeface="Urbanist"/>
                <a:sym typeface="Urbanist"/>
              </a:endParaRPr>
            </a:p>
          </p:txBody>
        </p:sp>
      </p:grpSp>
      <p:grpSp>
        <p:nvGrpSpPr>
          <p:cNvPr id="587" name="Google Shape;587;p32"/>
          <p:cNvGrpSpPr/>
          <p:nvPr/>
        </p:nvGrpSpPr>
        <p:grpSpPr>
          <a:xfrm>
            <a:off x="6191250" y="1285875"/>
            <a:ext cx="5410200" cy="2809800"/>
            <a:chOff x="6191250" y="1285875"/>
            <a:chExt cx="5410200" cy="2809800"/>
          </a:xfrm>
        </p:grpSpPr>
        <p:sp>
          <p:nvSpPr>
            <p:cNvPr id="588" name="Google Shape;588;p32"/>
            <p:cNvSpPr/>
            <p:nvPr/>
          </p:nvSpPr>
          <p:spPr>
            <a:xfrm>
              <a:off x="6191250" y="1285875"/>
              <a:ext cx="5410200" cy="2809800"/>
            </a:xfrm>
            <a:prstGeom prst="roundRect">
              <a:avLst>
                <a:gd name="adj" fmla="val 406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9" name="Google Shape;589;p32"/>
            <p:cNvSpPr/>
            <p:nvPr/>
          </p:nvSpPr>
          <p:spPr>
            <a:xfrm>
              <a:off x="6381750" y="1476375"/>
              <a:ext cx="1047900" cy="228600"/>
            </a:xfrm>
            <a:prstGeom prst="roundRect">
              <a:avLst>
                <a:gd name="adj" fmla="val 50000"/>
              </a:avLst>
            </a:prstGeom>
            <a:solidFill>
              <a:srgbClr val="FEF3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0" name="Google Shape;590;p32"/>
            <p:cNvSpPr txBox="1"/>
            <p:nvPr/>
          </p:nvSpPr>
          <p:spPr>
            <a:xfrm>
              <a:off x="6381750" y="1476375"/>
              <a:ext cx="1047900" cy="228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D97706"/>
                  </a:solidFill>
                  <a:latin typeface="Urbanist"/>
                  <a:ea typeface="Urbanist"/>
                  <a:cs typeface="Urbanist"/>
                  <a:sym typeface="Urbanist"/>
                </a:rPr>
                <a:t>THE SOLUTION</a:t>
              </a:r>
              <a:endParaRPr sz="1000" b="1">
                <a:solidFill>
                  <a:srgbClr val="D97706"/>
                </a:solidFill>
                <a:latin typeface="Urbanist"/>
                <a:ea typeface="Urbanist"/>
                <a:cs typeface="Urbanist"/>
                <a:sym typeface="Urbanist"/>
              </a:endParaRPr>
            </a:p>
          </p:txBody>
        </p:sp>
        <p:sp>
          <p:nvSpPr>
            <p:cNvPr id="591" name="Google Shape;591;p32"/>
            <p:cNvSpPr txBox="1"/>
            <p:nvPr/>
          </p:nvSpPr>
          <p:spPr>
            <a:xfrm>
              <a:off x="6381750" y="1857375"/>
              <a:ext cx="5029200" cy="20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500" b="1">
                  <a:solidFill>
                    <a:srgbClr val="1E293B"/>
                  </a:solidFill>
                  <a:latin typeface="Urbanist"/>
                  <a:ea typeface="Urbanist"/>
                  <a:cs typeface="Urbanist"/>
                  <a:sym typeface="Urbanist"/>
                </a:rPr>
                <a:t>"Lazy Loading" UX Architecture</a:t>
              </a:r>
              <a:endParaRPr sz="1500" b="1">
                <a:solidFill>
                  <a:srgbClr val="1E293B"/>
                </a:solidFill>
                <a:latin typeface="Urbanist"/>
                <a:ea typeface="Urbanist"/>
                <a:cs typeface="Urbanist"/>
                <a:sym typeface="Urbanist"/>
              </a:endParaRPr>
            </a:p>
            <a:p>
              <a:pPr marL="0" lvl="0" indent="0" algn="l" rtl="0">
                <a:spcBef>
                  <a:spcPts val="600"/>
                </a:spcBef>
                <a:spcAft>
                  <a:spcPts val="0"/>
                </a:spcAft>
                <a:buNone/>
              </a:pPr>
              <a:r>
                <a:rPr lang="en-US" sz="1110" b="0">
                  <a:solidFill>
                    <a:srgbClr val="0F172A"/>
                  </a:solidFill>
                  <a:latin typeface="Urbanist SemiBold"/>
                  <a:ea typeface="Urbanist SemiBold"/>
                  <a:cs typeface="Urbanist SemiBold"/>
                  <a:sym typeface="Urbanist SemiBold"/>
                </a:rPr>
                <a:t>Asynchronous Processing:</a:t>
              </a:r>
              <a:r>
                <a:rPr lang="en-US" sz="1110" b="0">
                  <a:solidFill>
                    <a:srgbClr val="334155"/>
                  </a:solidFill>
                  <a:latin typeface="Urbanist"/>
                  <a:ea typeface="Urbanist"/>
                  <a:cs typeface="Urbanist"/>
                  <a:sym typeface="Urbanist"/>
                </a:rPr>
                <a:t> Separating the SHAP API reduces initial Time-to-First-Value from </a:t>
              </a:r>
              <a:r>
                <a:rPr lang="en-US" sz="1110" b="0">
                  <a:solidFill>
                    <a:srgbClr val="0F172A"/>
                  </a:solidFill>
                  <a:latin typeface="Urbanist SemiBold"/>
                  <a:ea typeface="Urbanist SemiBold"/>
                  <a:cs typeface="Urbanist SemiBold"/>
                  <a:sym typeface="Urbanist SemiBold"/>
                </a:rPr>
                <a:t>3 minutes</a:t>
              </a:r>
              <a:r>
                <a:rPr lang="en-US" sz="1110" b="0">
                  <a:solidFill>
                    <a:srgbClr val="334155"/>
                  </a:solidFill>
                  <a:latin typeface="Urbanist"/>
                  <a:ea typeface="Urbanist"/>
                  <a:cs typeface="Urbanist"/>
                  <a:sym typeface="Urbanist"/>
                </a:rPr>
                <a:t> down to just </a:t>
              </a:r>
              <a:r>
                <a:rPr lang="en-US" sz="1110" b="0">
                  <a:solidFill>
                    <a:srgbClr val="0F172A"/>
                  </a:solidFill>
                  <a:latin typeface="Urbanist SemiBold"/>
                  <a:ea typeface="Urbanist SemiBold"/>
                  <a:cs typeface="Urbanist SemiBold"/>
                  <a:sym typeface="Urbanist SemiBold"/>
                </a:rPr>
                <a:t>10-15 seconds</a:t>
              </a:r>
              <a:r>
                <a:rPr lang="en-US" sz="1110" b="0">
                  <a:solidFill>
                    <a:srgbClr val="334155"/>
                  </a:solidFill>
                  <a:latin typeface="Urbanist"/>
                  <a:ea typeface="Urbanist"/>
                  <a:cs typeface="Urbanist"/>
                  <a:sym typeface="Urbanist"/>
                </a:rPr>
                <a:t>.</a:t>
              </a:r>
              <a:endParaRPr sz="1110" b="0">
                <a:solidFill>
                  <a:srgbClr val="334155"/>
                </a:solidFill>
                <a:latin typeface="Urbanist"/>
                <a:ea typeface="Urbanist"/>
                <a:cs typeface="Urbanist"/>
                <a:sym typeface="Urbanist"/>
              </a:endParaRPr>
            </a:p>
            <a:p>
              <a:pPr marL="0" lvl="0" indent="0" algn="l" rtl="0">
                <a:spcBef>
                  <a:spcPts val="600"/>
                </a:spcBef>
                <a:spcAft>
                  <a:spcPts val="600"/>
                </a:spcAft>
                <a:buNone/>
              </a:pPr>
              <a:r>
                <a:rPr lang="en-US" sz="1110" b="0">
                  <a:solidFill>
                    <a:srgbClr val="0F172A"/>
                  </a:solidFill>
                  <a:latin typeface="Urbanist SemiBold"/>
                  <a:ea typeface="Urbanist SemiBold"/>
                  <a:cs typeface="Urbanist SemiBold"/>
                  <a:sym typeface="Urbanist SemiBold"/>
                </a:rPr>
                <a:t>On-Demand Triggers:</a:t>
              </a:r>
              <a:r>
                <a:rPr lang="en-US" sz="1110" b="0">
                  <a:solidFill>
                    <a:srgbClr val="334155"/>
                  </a:solidFill>
                  <a:latin typeface="Urbanist"/>
                  <a:ea typeface="Urbanist"/>
                  <a:cs typeface="Urbanist"/>
                  <a:sym typeface="Urbanist"/>
                </a:rPr>
                <a:t> Avoids wasting expensive compute resources explaining standard clauses. GPU cycles are spent only when an auditor clicks a high-risk anomaly.</a:t>
              </a:r>
              <a:endParaRPr sz="1110" b="0">
                <a:solidFill>
                  <a:srgbClr val="334155"/>
                </a:solidFill>
                <a:latin typeface="Urbanist"/>
                <a:ea typeface="Urbanist"/>
                <a:cs typeface="Urbanist"/>
                <a:sym typeface="Urbanist"/>
              </a:endParaRPr>
            </a:p>
          </p:txBody>
        </p:sp>
      </p:grpSp>
      <p:grpSp>
        <p:nvGrpSpPr>
          <p:cNvPr id="592" name="Google Shape;592;p32"/>
          <p:cNvGrpSpPr/>
          <p:nvPr/>
        </p:nvGrpSpPr>
        <p:grpSpPr>
          <a:xfrm>
            <a:off x="590550" y="4333875"/>
            <a:ext cx="11010900" cy="1428900"/>
            <a:chOff x="590550" y="4333875"/>
            <a:chExt cx="11010900" cy="1428900"/>
          </a:xfrm>
        </p:grpSpPr>
        <p:sp>
          <p:nvSpPr>
            <p:cNvPr id="593" name="Google Shape;593;p32"/>
            <p:cNvSpPr/>
            <p:nvPr/>
          </p:nvSpPr>
          <p:spPr>
            <a:xfrm>
              <a:off x="590550" y="4333875"/>
              <a:ext cx="11010900" cy="1428900"/>
            </a:xfrm>
            <a:prstGeom prst="roundRect">
              <a:avLst>
                <a:gd name="adj" fmla="val 8000"/>
              </a:avLst>
            </a:prstGeom>
            <a:solidFill>
              <a:srgbClr val="FFFFFF"/>
            </a:solidFill>
            <a:ln w="14300" cap="flat" cmpd="sng">
              <a:solidFill>
                <a:srgbClr val="2563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4" name="Google Shape;594;p32"/>
            <p:cNvSpPr/>
            <p:nvPr/>
          </p:nvSpPr>
          <p:spPr>
            <a:xfrm>
              <a:off x="781050" y="4524375"/>
              <a:ext cx="96774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5" name="Google Shape;595;p32"/>
            <p:cNvSpPr txBox="1"/>
            <p:nvPr/>
          </p:nvSpPr>
          <p:spPr>
            <a:xfrm>
              <a:off x="781050" y="4495800"/>
              <a:ext cx="96774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500" b="1">
                  <a:solidFill>
                    <a:srgbClr val="0F172A"/>
                  </a:solidFill>
                  <a:latin typeface="Urbanist"/>
                  <a:ea typeface="Urbanist"/>
                  <a:cs typeface="Urbanist"/>
                  <a:sym typeface="Urbanist"/>
                </a:rPr>
                <a:t>Architecture Decision: Dual-Layer Explainability (XAI)</a:t>
              </a:r>
              <a:endParaRPr sz="1500" b="1">
                <a:solidFill>
                  <a:srgbClr val="0F172A"/>
                </a:solidFill>
                <a:latin typeface="Urbanist"/>
                <a:ea typeface="Urbanist"/>
                <a:cs typeface="Urbanist"/>
                <a:sym typeface="Urbanist"/>
              </a:endParaRPr>
            </a:p>
          </p:txBody>
        </p:sp>
        <p:grpSp>
          <p:nvGrpSpPr>
            <p:cNvPr id="596" name="Google Shape;596;p32"/>
            <p:cNvGrpSpPr/>
            <p:nvPr/>
          </p:nvGrpSpPr>
          <p:grpSpPr>
            <a:xfrm>
              <a:off x="781050" y="4905375"/>
              <a:ext cx="5029200" cy="714300"/>
              <a:chOff x="781050" y="4905375"/>
              <a:chExt cx="5029200" cy="714300"/>
            </a:xfrm>
          </p:grpSpPr>
          <p:sp>
            <p:nvSpPr>
              <p:cNvPr id="597" name="Google Shape;597;p32"/>
              <p:cNvSpPr/>
              <p:nvPr/>
            </p:nvSpPr>
            <p:spPr>
              <a:xfrm>
                <a:off x="781050" y="4905375"/>
                <a:ext cx="5029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8" name="Google Shape;598;p32"/>
              <p:cNvSpPr txBox="1"/>
              <p:nvPr/>
            </p:nvSpPr>
            <p:spPr>
              <a:xfrm>
                <a:off x="895350" y="4981575"/>
                <a:ext cx="48006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10" b="0">
                    <a:solidFill>
                      <a:srgbClr val="0F172A"/>
                    </a:solidFill>
                    <a:latin typeface="Urbanist SemiBold"/>
                    <a:ea typeface="Urbanist SemiBold"/>
                    <a:cs typeface="Urbanist SemiBold"/>
                    <a:sym typeface="Urbanist SemiBold"/>
                  </a:rPr>
                  <a:t>⚡ Level 1 (Upload): Cognitive Reasoning</a:t>
                </a:r>
                <a:endParaRPr sz="1110" b="0">
                  <a:solidFill>
                    <a:srgbClr val="334155"/>
                  </a:solidFill>
                  <a:latin typeface="Urbanist"/>
                  <a:ea typeface="Urbanist"/>
                  <a:cs typeface="Urbanist"/>
                  <a:sym typeface="Urbanist"/>
                </a:endParaRPr>
              </a:p>
              <a:p>
                <a:pPr marL="0" lvl="0" indent="0" algn="l" rtl="0">
                  <a:spcBef>
                    <a:spcPts val="600"/>
                  </a:spcBef>
                  <a:spcAft>
                    <a:spcPts val="600"/>
                  </a:spcAft>
                  <a:buNone/>
                </a:pPr>
                <a:r>
                  <a:rPr lang="en-US" sz="1018" b="0">
                    <a:solidFill>
                      <a:srgbClr val="334155"/>
                    </a:solidFill>
                    <a:latin typeface="Urbanist"/>
                    <a:ea typeface="Urbanist"/>
                    <a:cs typeface="Urbanist"/>
                    <a:sym typeface="Urbanist"/>
                  </a:rPr>
                  <a:t>Agentic Chain-of-Thought provides instant, human-readable legal context for business users. Zero latency impact.</a:t>
                </a:r>
                <a:endParaRPr sz="1018" b="0">
                  <a:solidFill>
                    <a:srgbClr val="334155"/>
                  </a:solidFill>
                  <a:latin typeface="Urbanist"/>
                  <a:ea typeface="Urbanist"/>
                  <a:cs typeface="Urbanist"/>
                  <a:sym typeface="Urbanist"/>
                </a:endParaRPr>
              </a:p>
            </p:txBody>
          </p:sp>
        </p:grpSp>
        <p:grpSp>
          <p:nvGrpSpPr>
            <p:cNvPr id="599" name="Google Shape;599;p32"/>
            <p:cNvGrpSpPr/>
            <p:nvPr/>
          </p:nvGrpSpPr>
          <p:grpSpPr>
            <a:xfrm>
              <a:off x="6381750" y="4905375"/>
              <a:ext cx="5029200" cy="714300"/>
              <a:chOff x="6381750" y="4905375"/>
              <a:chExt cx="5029200" cy="714300"/>
            </a:xfrm>
          </p:grpSpPr>
          <p:sp>
            <p:nvSpPr>
              <p:cNvPr id="600" name="Google Shape;600;p32"/>
              <p:cNvSpPr/>
              <p:nvPr/>
            </p:nvSpPr>
            <p:spPr>
              <a:xfrm>
                <a:off x="6381750" y="4905375"/>
                <a:ext cx="5029200" cy="714300"/>
              </a:xfrm>
              <a:prstGeom prst="roundRect">
                <a:avLst>
                  <a:gd name="adj" fmla="val 10666"/>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1" name="Google Shape;601;p32"/>
              <p:cNvSpPr txBox="1"/>
              <p:nvPr/>
            </p:nvSpPr>
            <p:spPr>
              <a:xfrm>
                <a:off x="6496050" y="4981575"/>
                <a:ext cx="48006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10" b="0">
                    <a:solidFill>
                      <a:srgbClr val="2563EB"/>
                    </a:solidFill>
                    <a:latin typeface="Urbanist SemiBold"/>
                    <a:ea typeface="Urbanist SemiBold"/>
                    <a:cs typeface="Urbanist SemiBold"/>
                    <a:sym typeface="Urbanist SemiBold"/>
                  </a:rPr>
                  <a:t>🔍 Level 2 (On-Demand): Mathematical SHAP</a:t>
                </a:r>
                <a:endParaRPr sz="1110" b="0">
                  <a:solidFill>
                    <a:srgbClr val="334155"/>
                  </a:solidFill>
                  <a:latin typeface="Urbanist"/>
                  <a:ea typeface="Urbanist"/>
                  <a:cs typeface="Urbanist"/>
                  <a:sym typeface="Urbanist"/>
                </a:endParaRPr>
              </a:p>
              <a:p>
                <a:pPr marL="0" lvl="0" indent="0" algn="l" rtl="0">
                  <a:spcBef>
                    <a:spcPts val="600"/>
                  </a:spcBef>
                  <a:spcAft>
                    <a:spcPts val="600"/>
                  </a:spcAft>
                  <a:buNone/>
                </a:pPr>
                <a:r>
                  <a:rPr lang="en-US" sz="1018" b="0">
                    <a:solidFill>
                      <a:srgbClr val="334155"/>
                    </a:solidFill>
                    <a:latin typeface="Urbanist"/>
                    <a:ea typeface="Urbanist"/>
                    <a:cs typeface="Urbanist"/>
                    <a:sym typeface="Urbanist"/>
                  </a:rPr>
                  <a:t>Neural feature attribution provides rigorous auditing for regulators, decoupled to optimize scaling.</a:t>
                </a:r>
                <a:endParaRPr sz="1018" b="0">
                  <a:solidFill>
                    <a:srgbClr val="334155"/>
                  </a:solidFill>
                  <a:latin typeface="Urbanist"/>
                  <a:ea typeface="Urbanist"/>
                  <a:cs typeface="Urbanist"/>
                  <a:sym typeface="Urbanist"/>
                </a:endParaRPr>
              </a:p>
            </p:txBody>
          </p:sp>
        </p:grpSp>
      </p:grpSp>
      <p:grpSp>
        <p:nvGrpSpPr>
          <p:cNvPr id="602" name="Google Shape;602;p32"/>
          <p:cNvGrpSpPr/>
          <p:nvPr/>
        </p:nvGrpSpPr>
        <p:grpSpPr>
          <a:xfrm>
            <a:off x="590550" y="5953125"/>
            <a:ext cx="11010900" cy="523800"/>
            <a:chOff x="590550" y="5953125"/>
            <a:chExt cx="11010900" cy="523800"/>
          </a:xfrm>
        </p:grpSpPr>
        <p:sp>
          <p:nvSpPr>
            <p:cNvPr id="603" name="Google Shape;603;p32"/>
            <p:cNvSpPr/>
            <p:nvPr/>
          </p:nvSpPr>
          <p:spPr>
            <a:xfrm>
              <a:off x="590550" y="5953125"/>
              <a:ext cx="11010900" cy="523800"/>
            </a:xfrm>
            <a:prstGeom prst="roundRect">
              <a:avLst>
                <a:gd name="adj" fmla="val 14545"/>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4" name="Google Shape;604;p32"/>
            <p:cNvSpPr txBox="1"/>
            <p:nvPr/>
          </p:nvSpPr>
          <p:spPr>
            <a:xfrm>
              <a:off x="781050" y="6048375"/>
              <a:ext cx="106299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50">
                  <a:solidFill>
                    <a:srgbClr val="38BDF8"/>
                  </a:solidFill>
                  <a:latin typeface="Arial"/>
                  <a:ea typeface="Arial"/>
                  <a:cs typeface="Arial"/>
                  <a:sym typeface="Arial"/>
                </a:rPr>
                <a:t># Optimization Framework:</a:t>
              </a:r>
              <a:r>
                <a:rPr lang="en-US" sz="1150">
                  <a:solidFill>
                    <a:srgbClr val="F8FAFC"/>
                  </a:solidFill>
                  <a:latin typeface="Arial"/>
                  <a:ea typeface="Arial"/>
                  <a:cs typeface="Arial"/>
                  <a:sym typeface="Arial"/>
                </a:rPr>
                <a:t> self.lazy_load_shap(clause_id) if user.clicks_inspect(clause_id) else self.render_cognitive_rationale()</a:t>
              </a:r>
              <a:endParaRPr sz="1150">
                <a:solidFill>
                  <a:srgbClr val="F8FAFC"/>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08"/>
        <p:cNvGrpSpPr/>
        <p:nvPr/>
      </p:nvGrpSpPr>
      <p:grpSpPr>
        <a:xfrm>
          <a:off x="0" y="0"/>
          <a:ext cx="0" cy="0"/>
          <a:chOff x="0" y="0"/>
          <a:chExt cx="0" cy="0"/>
        </a:xfrm>
      </p:grpSpPr>
      <p:pic>
        <p:nvPicPr>
          <p:cNvPr id="609" name="Google Shape;609;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10" name="Google Shape;610;p33"/>
          <p:cNvSpPr txBox="1"/>
          <p:nvPr/>
        </p:nvSpPr>
        <p:spPr>
          <a:xfrm>
            <a:off x="7349430" y="1114425"/>
            <a:ext cx="446462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E293B"/>
                </a:solidFill>
                <a:latin typeface="Urbanist SemiBold"/>
                <a:ea typeface="Urbanist SemiBold"/>
                <a:cs typeface="Urbanist SemiBold"/>
                <a:sym typeface="Urbanist SemiBold"/>
              </a:rPr>
              <a:t>Proactive Compliance</a:t>
            </a:r>
            <a:endParaRPr/>
          </a:p>
        </p:txBody>
      </p:sp>
      <p:sp>
        <p:nvSpPr>
          <p:cNvPr id="611" name="Google Shape;611;p33"/>
          <p:cNvSpPr txBox="1"/>
          <p:nvPr/>
        </p:nvSpPr>
        <p:spPr>
          <a:xfrm>
            <a:off x="7349430" y="1657350"/>
            <a:ext cx="425201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By continuously scraping new RBI guidelines and updating the vector database automatically, future contract analyses benefit from the latest regulatory context without requiring manual updates to the AI models.</a:t>
            </a:r>
            <a:endParaRPr/>
          </a:p>
        </p:txBody>
      </p:sp>
      <p:sp>
        <p:nvSpPr>
          <p:cNvPr id="612" name="Google Shape;612;p33"/>
          <p:cNvSpPr/>
          <p:nvPr/>
        </p:nvSpPr>
        <p:spPr>
          <a:xfrm>
            <a:off x="590550" y="1114425"/>
            <a:ext cx="6377880" cy="4333875"/>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613" name="Google Shape;613;p33"/>
          <p:cNvGraphicFramePr/>
          <p:nvPr/>
        </p:nvGraphicFramePr>
        <p:xfrm>
          <a:off x="590550" y="1114425"/>
          <a:ext cx="6368375" cy="4333825"/>
        </p:xfrm>
        <a:graphic>
          <a:graphicData uri="http://schemas.openxmlformats.org/drawingml/2006/table">
            <a:tbl>
              <a:tblPr firstRow="1" bandRow="1">
                <a:noFill/>
                <a:tableStyleId>{FC249B67-7DB8-415B-95D0-D5DF70AE9054}</a:tableStyleId>
              </a:tblPr>
              <a:tblGrid>
                <a:gridCol w="2134800"/>
                <a:gridCol w="4233575"/>
              </a:tblGrid>
              <a:tr h="722300">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LRR Component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Function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r>
              <a:tr h="722300">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Regulatory Monitor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Detects new RBI notifications via APScheduler.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722300">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Doc Processing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Extracts textual info from raw regulations.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722300">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Obligation Extractor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Identifies mandatory compliance rules.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722300">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Impact Engine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Evaluates organizational/policy impact.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722325">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Knowledge Updater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Updates Pinecone Semantic DB for 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614" name="Google Shape;614;p33"/>
          <p:cNvSpPr/>
          <p:nvPr/>
        </p:nvSpPr>
        <p:spPr>
          <a:xfrm>
            <a:off x="595312" y="1728787"/>
            <a:ext cx="213479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5" name="Google Shape;615;p33"/>
          <p:cNvSpPr/>
          <p:nvPr/>
        </p:nvSpPr>
        <p:spPr>
          <a:xfrm>
            <a:off x="2730103" y="1728787"/>
            <a:ext cx="4233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6" name="Google Shape;616;p33"/>
          <p:cNvSpPr/>
          <p:nvPr/>
        </p:nvSpPr>
        <p:spPr>
          <a:xfrm>
            <a:off x="595312" y="2652712"/>
            <a:ext cx="213479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7" name="Google Shape;617;p33"/>
          <p:cNvSpPr/>
          <p:nvPr/>
        </p:nvSpPr>
        <p:spPr>
          <a:xfrm>
            <a:off x="2730103" y="2652712"/>
            <a:ext cx="4233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8" name="Google Shape;618;p33"/>
          <p:cNvSpPr/>
          <p:nvPr/>
        </p:nvSpPr>
        <p:spPr>
          <a:xfrm>
            <a:off x="595312" y="3271837"/>
            <a:ext cx="213479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9" name="Google Shape;619;p33"/>
          <p:cNvSpPr/>
          <p:nvPr/>
        </p:nvSpPr>
        <p:spPr>
          <a:xfrm>
            <a:off x="2730103" y="3271837"/>
            <a:ext cx="4233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0" name="Google Shape;620;p33"/>
          <p:cNvSpPr/>
          <p:nvPr/>
        </p:nvSpPr>
        <p:spPr>
          <a:xfrm>
            <a:off x="595312" y="4195762"/>
            <a:ext cx="213479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1" name="Google Shape;621;p33"/>
          <p:cNvSpPr/>
          <p:nvPr/>
        </p:nvSpPr>
        <p:spPr>
          <a:xfrm>
            <a:off x="2730103" y="4195762"/>
            <a:ext cx="4233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2" name="Google Shape;622;p33"/>
          <p:cNvSpPr/>
          <p:nvPr/>
        </p:nvSpPr>
        <p:spPr>
          <a:xfrm>
            <a:off x="595312" y="4814887"/>
            <a:ext cx="213479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3" name="Google Shape;623;p33"/>
          <p:cNvSpPr/>
          <p:nvPr/>
        </p:nvSpPr>
        <p:spPr>
          <a:xfrm>
            <a:off x="2730103" y="4814887"/>
            <a:ext cx="4233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4" name="Google Shape;624;p33"/>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Regulatory Lifecycle (LRR)</a:t>
            </a:r>
            <a:endParaRPr/>
          </a:p>
        </p:txBody>
      </p:sp>
      <p:sp>
        <p:nvSpPr>
          <p:cNvPr id="625" name="Google Shape;625;p33"/>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29"/>
        <p:cNvGrpSpPr/>
        <p:nvPr/>
      </p:nvGrpSpPr>
      <p:grpSpPr>
        <a:xfrm>
          <a:off x="0" y="0"/>
          <a:ext cx="0" cy="0"/>
          <a:chOff x="0" y="0"/>
          <a:chExt cx="0" cy="0"/>
        </a:xfrm>
      </p:grpSpPr>
      <p:pic>
        <p:nvPicPr>
          <p:cNvPr id="630" name="Google Shape;630;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31" name="Google Shape;631;p34" descr="image.png"/>
          <p:cNvPicPr preferRelativeResize="0"/>
          <p:nvPr/>
        </p:nvPicPr>
        <p:blipFill rotWithShape="1">
          <a:blip r:embed="rId4">
            <a:alphaModFix/>
          </a:blip>
          <a:srcRect/>
          <a:stretch/>
        </p:blipFill>
        <p:spPr>
          <a:xfrm>
            <a:off x="590550" y="5257800"/>
            <a:ext cx="11010900" cy="1104900"/>
          </a:xfrm>
          <a:prstGeom prst="rect">
            <a:avLst/>
          </a:prstGeom>
          <a:noFill/>
          <a:ln>
            <a:noFill/>
          </a:ln>
        </p:spPr>
      </p:pic>
      <p:pic>
        <p:nvPicPr>
          <p:cNvPr id="632" name="Google Shape;632;p34" descr="image.png"/>
          <p:cNvPicPr preferRelativeResize="0"/>
          <p:nvPr/>
        </p:nvPicPr>
        <p:blipFill rotWithShape="1">
          <a:blip r:embed="rId5">
            <a:alphaModFix/>
          </a:blip>
          <a:srcRect/>
          <a:stretch/>
        </p:blipFill>
        <p:spPr>
          <a:xfrm>
            <a:off x="590550" y="1114425"/>
            <a:ext cx="2388393" cy="3762375"/>
          </a:xfrm>
          <a:prstGeom prst="rect">
            <a:avLst/>
          </a:prstGeom>
          <a:noFill/>
          <a:ln>
            <a:noFill/>
          </a:ln>
        </p:spPr>
      </p:pic>
      <p:pic>
        <p:nvPicPr>
          <p:cNvPr id="633" name="Google Shape;633;p34" descr="image.png"/>
          <p:cNvPicPr preferRelativeResize="0"/>
          <p:nvPr/>
        </p:nvPicPr>
        <p:blipFill rotWithShape="1">
          <a:blip r:embed="rId6">
            <a:alphaModFix/>
          </a:blip>
          <a:srcRect/>
          <a:stretch/>
        </p:blipFill>
        <p:spPr>
          <a:xfrm>
            <a:off x="3464718" y="1114425"/>
            <a:ext cx="2388393" cy="3762375"/>
          </a:xfrm>
          <a:prstGeom prst="rect">
            <a:avLst/>
          </a:prstGeom>
          <a:noFill/>
          <a:ln>
            <a:noFill/>
          </a:ln>
        </p:spPr>
      </p:pic>
      <p:pic>
        <p:nvPicPr>
          <p:cNvPr id="634" name="Google Shape;634;p34" descr="image.png"/>
          <p:cNvPicPr preferRelativeResize="0"/>
          <p:nvPr/>
        </p:nvPicPr>
        <p:blipFill rotWithShape="1">
          <a:blip r:embed="rId7">
            <a:alphaModFix/>
          </a:blip>
          <a:srcRect/>
          <a:stretch/>
        </p:blipFill>
        <p:spPr>
          <a:xfrm>
            <a:off x="6338887" y="1114425"/>
            <a:ext cx="2388393" cy="3762375"/>
          </a:xfrm>
          <a:prstGeom prst="rect">
            <a:avLst/>
          </a:prstGeom>
          <a:noFill/>
          <a:ln>
            <a:noFill/>
          </a:ln>
        </p:spPr>
      </p:pic>
      <p:pic>
        <p:nvPicPr>
          <p:cNvPr id="635" name="Google Shape;635;p34" descr="image.png"/>
          <p:cNvPicPr preferRelativeResize="0"/>
          <p:nvPr/>
        </p:nvPicPr>
        <p:blipFill rotWithShape="1">
          <a:blip r:embed="rId8">
            <a:alphaModFix/>
          </a:blip>
          <a:srcRect/>
          <a:stretch/>
        </p:blipFill>
        <p:spPr>
          <a:xfrm>
            <a:off x="9213056" y="1114425"/>
            <a:ext cx="2388393" cy="3762375"/>
          </a:xfrm>
          <a:prstGeom prst="rect">
            <a:avLst/>
          </a:prstGeom>
          <a:noFill/>
          <a:ln>
            <a:noFill/>
          </a:ln>
        </p:spPr>
      </p:pic>
      <p:pic>
        <p:nvPicPr>
          <p:cNvPr id="636" name="Google Shape;636;p34" descr="image.png"/>
          <p:cNvPicPr preferRelativeResize="0"/>
          <p:nvPr/>
        </p:nvPicPr>
        <p:blipFill rotWithShape="1">
          <a:blip r:embed="rId9">
            <a:alphaModFix/>
          </a:blip>
          <a:srcRect/>
          <a:stretch/>
        </p:blipFill>
        <p:spPr>
          <a:xfrm>
            <a:off x="3121818" y="2881312"/>
            <a:ext cx="200025" cy="228600"/>
          </a:xfrm>
          <a:prstGeom prst="rect">
            <a:avLst/>
          </a:prstGeom>
          <a:noFill/>
          <a:ln>
            <a:noFill/>
          </a:ln>
        </p:spPr>
      </p:pic>
      <p:pic>
        <p:nvPicPr>
          <p:cNvPr id="637" name="Google Shape;637;p34" descr="image.png"/>
          <p:cNvPicPr preferRelativeResize="0"/>
          <p:nvPr/>
        </p:nvPicPr>
        <p:blipFill rotWithShape="1">
          <a:blip r:embed="rId9">
            <a:alphaModFix/>
          </a:blip>
          <a:srcRect/>
          <a:stretch/>
        </p:blipFill>
        <p:spPr>
          <a:xfrm>
            <a:off x="5995987" y="2881312"/>
            <a:ext cx="200025" cy="228600"/>
          </a:xfrm>
          <a:prstGeom prst="rect">
            <a:avLst/>
          </a:prstGeom>
          <a:noFill/>
          <a:ln>
            <a:noFill/>
          </a:ln>
        </p:spPr>
      </p:pic>
      <p:pic>
        <p:nvPicPr>
          <p:cNvPr id="638" name="Google Shape;638;p34" descr="image.png"/>
          <p:cNvPicPr preferRelativeResize="0"/>
          <p:nvPr/>
        </p:nvPicPr>
        <p:blipFill rotWithShape="1">
          <a:blip r:embed="rId10">
            <a:alphaModFix/>
          </a:blip>
          <a:srcRect/>
          <a:stretch/>
        </p:blipFill>
        <p:spPr>
          <a:xfrm>
            <a:off x="8870156" y="2881312"/>
            <a:ext cx="200025" cy="228600"/>
          </a:xfrm>
          <a:prstGeom prst="rect">
            <a:avLst/>
          </a:prstGeom>
          <a:noFill/>
          <a:ln>
            <a:noFill/>
          </a:ln>
        </p:spPr>
      </p:pic>
      <p:sp>
        <p:nvSpPr>
          <p:cNvPr id="639" name="Google Shape;639;p34"/>
          <p:cNvSpPr txBox="1"/>
          <p:nvPr/>
        </p:nvSpPr>
        <p:spPr>
          <a:xfrm>
            <a:off x="750867" y="2714625"/>
            <a:ext cx="2067758"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RBI Sources</a:t>
            </a:r>
            <a:endParaRPr/>
          </a:p>
        </p:txBody>
      </p:sp>
      <p:sp>
        <p:nvSpPr>
          <p:cNvPr id="640" name="Google Shape;640;p34"/>
          <p:cNvSpPr txBox="1"/>
          <p:nvPr/>
        </p:nvSpPr>
        <p:spPr>
          <a:xfrm>
            <a:off x="800100" y="2971800"/>
            <a:ext cx="1969293"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Web Scraper</a:t>
            </a:r>
            <a:endParaRPr/>
          </a:p>
        </p:txBody>
      </p:sp>
      <p:sp>
        <p:nvSpPr>
          <p:cNvPr id="641" name="Google Shape;641;p34"/>
          <p:cNvSpPr txBox="1"/>
          <p:nvPr/>
        </p:nvSpPr>
        <p:spPr>
          <a:xfrm>
            <a:off x="3625036" y="2714625"/>
            <a:ext cx="2067758"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Obligation Extraction</a:t>
            </a:r>
            <a:endParaRPr/>
          </a:p>
        </p:txBody>
      </p:sp>
      <p:sp>
        <p:nvSpPr>
          <p:cNvPr id="642" name="Google Shape;642;p34"/>
          <p:cNvSpPr txBox="1"/>
          <p:nvPr/>
        </p:nvSpPr>
        <p:spPr>
          <a:xfrm>
            <a:off x="3674268" y="2971800"/>
            <a:ext cx="1969293"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Rule-Based Detection</a:t>
            </a:r>
            <a:endParaRPr/>
          </a:p>
        </p:txBody>
      </p:sp>
      <p:sp>
        <p:nvSpPr>
          <p:cNvPr id="643" name="Google Shape;643;p34"/>
          <p:cNvSpPr txBox="1"/>
          <p:nvPr/>
        </p:nvSpPr>
        <p:spPr>
          <a:xfrm>
            <a:off x="6499205" y="2714625"/>
            <a:ext cx="2067758"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Impact Assess</a:t>
            </a:r>
            <a:endParaRPr/>
          </a:p>
        </p:txBody>
      </p:sp>
      <p:sp>
        <p:nvSpPr>
          <p:cNvPr id="644" name="Google Shape;644;p34"/>
          <p:cNvSpPr txBox="1"/>
          <p:nvPr/>
        </p:nvSpPr>
        <p:spPr>
          <a:xfrm>
            <a:off x="6548437" y="2971800"/>
            <a:ext cx="1969293"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Policy Mapping</a:t>
            </a:r>
            <a:endParaRPr/>
          </a:p>
        </p:txBody>
      </p:sp>
      <p:sp>
        <p:nvSpPr>
          <p:cNvPr id="645" name="Google Shape;645;p34"/>
          <p:cNvSpPr txBox="1"/>
          <p:nvPr/>
        </p:nvSpPr>
        <p:spPr>
          <a:xfrm>
            <a:off x="9373373" y="2714625"/>
            <a:ext cx="2067758"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0F172A"/>
                </a:solidFill>
                <a:latin typeface="Urbanist SemiBold"/>
                <a:ea typeface="Urbanist SemiBold"/>
                <a:cs typeface="Urbanist SemiBold"/>
                <a:sym typeface="Urbanist SemiBold"/>
              </a:rPr>
              <a:t>Pinecone DB</a:t>
            </a:r>
            <a:endParaRPr/>
          </a:p>
        </p:txBody>
      </p:sp>
      <p:sp>
        <p:nvSpPr>
          <p:cNvPr id="646" name="Google Shape;646;p34"/>
          <p:cNvSpPr txBox="1"/>
          <p:nvPr/>
        </p:nvSpPr>
        <p:spPr>
          <a:xfrm>
            <a:off x="9422606" y="2971800"/>
            <a:ext cx="1969293"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Knowledge Updated</a:t>
            </a:r>
            <a:endParaRPr/>
          </a:p>
        </p:txBody>
      </p:sp>
      <p:sp>
        <p:nvSpPr>
          <p:cNvPr id="647" name="Google Shape;647;p34"/>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Workflow: LRR Automation</a:t>
            </a:r>
            <a:endParaRPr/>
          </a:p>
        </p:txBody>
      </p:sp>
      <p:sp>
        <p:nvSpPr>
          <p:cNvPr id="648" name="Google Shape;648;p34"/>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52"/>
        <p:cNvGrpSpPr/>
        <p:nvPr/>
      </p:nvGrpSpPr>
      <p:grpSpPr>
        <a:xfrm>
          <a:off x="0" y="0"/>
          <a:ext cx="0" cy="0"/>
          <a:chOff x="0" y="0"/>
          <a:chExt cx="0" cy="0"/>
        </a:xfrm>
      </p:grpSpPr>
      <p:pic>
        <p:nvPicPr>
          <p:cNvPr id="653" name="Google Shape;653;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54" name="Google Shape;654;p35"/>
          <p:cNvSpPr txBox="1"/>
          <p:nvPr/>
        </p:nvSpPr>
        <p:spPr>
          <a:xfrm>
            <a:off x="590550" y="1114425"/>
            <a:ext cx="110109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Urbanist"/>
                <a:ea typeface="Urbanist"/>
                <a:cs typeface="Urbanist"/>
                <a:sym typeface="Urbanist"/>
              </a:rPr>
              <a:t>The platform was evaluated through functional experiments using real banking contracts and simulated policies.</a:t>
            </a:r>
            <a:endParaRPr/>
          </a:p>
        </p:txBody>
      </p:sp>
      <p:sp>
        <p:nvSpPr>
          <p:cNvPr id="655" name="Google Shape;655;p35"/>
          <p:cNvSpPr txBox="1"/>
          <p:nvPr/>
        </p:nvSpPr>
        <p:spPr>
          <a:xfrm>
            <a:off x="971550" y="1640085"/>
            <a:ext cx="10629900" cy="1181862"/>
          </a:xfrm>
          <a:prstGeom prst="rect">
            <a:avLst/>
          </a:prstGeom>
          <a:noFill/>
          <a:ln>
            <a:noFill/>
          </a:ln>
        </p:spPr>
        <p:txBody>
          <a:bodyPr spcFirstLastPara="1" wrap="square" lIns="0" tIns="0" rIns="0" bIns="0" anchor="t" anchorCtr="0">
            <a:spAutoFit/>
          </a:bodyPr>
          <a:lstStyle/>
          <a:p>
            <a:pPr lvl="0">
              <a:lnSpc>
                <a:spcPct val="160000"/>
              </a:lnSpc>
            </a:pPr>
            <a:r>
              <a:rPr lang="en-US" sz="1500" b="0" i="0" u="none" strike="noStrike" cap="none" dirty="0">
                <a:solidFill>
                  <a:srgbClr val="0F172A"/>
                </a:solidFill>
                <a:latin typeface="Urbanist SemiBold"/>
                <a:ea typeface="Urbanist SemiBold"/>
                <a:cs typeface="Urbanist SemiBold"/>
                <a:sym typeface="Urbanist SemiBold"/>
              </a:rPr>
              <a:t>Exp 1 (Contract Upload):</a:t>
            </a:r>
            <a:r>
              <a:rPr lang="en-US" sz="1500" b="0" i="0" u="none" strike="noStrike" cap="none" dirty="0">
                <a:solidFill>
                  <a:srgbClr val="334155"/>
                </a:solidFill>
                <a:latin typeface="Urbanist"/>
                <a:ea typeface="Urbanist"/>
                <a:cs typeface="Urbanist"/>
                <a:sym typeface="Urbanist"/>
              </a:rPr>
              <a:t> </a:t>
            </a:r>
            <a:r>
              <a:rPr lang="en-US" sz="1600" dirty="0" smtClean="0"/>
              <a:t>A typical manual review for a 42-page franchise agreement takes a legal associate approximately </a:t>
            </a:r>
            <a:r>
              <a:rPr lang="en-US" sz="1600" dirty="0" smtClean="0"/>
              <a:t>3 to 4 days. </a:t>
            </a:r>
            <a:r>
              <a:rPr lang="en-US" sz="1600" dirty="0" smtClean="0"/>
              <a:t>Our system processes it in </a:t>
            </a:r>
            <a:r>
              <a:rPr lang="en-US" sz="1600" dirty="0" smtClean="0"/>
              <a:t>5 minutes, </a:t>
            </a:r>
            <a:r>
              <a:rPr lang="en-US" sz="1600" dirty="0" smtClean="0"/>
              <a:t>representing a </a:t>
            </a:r>
            <a:r>
              <a:rPr lang="en-US" sz="1600" dirty="0" smtClean="0"/>
              <a:t>99% </a:t>
            </a:r>
            <a:r>
              <a:rPr lang="en-US" sz="1600" dirty="0" smtClean="0"/>
              <a:t>reduction in initial processing time, allowing human reviewers to focus solely on the 194 flagged risks rather than reading boilerplate</a:t>
            </a:r>
            <a:endParaRPr dirty="0"/>
          </a:p>
        </p:txBody>
      </p:sp>
      <p:sp>
        <p:nvSpPr>
          <p:cNvPr id="656" name="Google Shape;656;p35"/>
          <p:cNvSpPr txBox="1"/>
          <p:nvPr/>
        </p:nvSpPr>
        <p:spPr>
          <a:xfrm>
            <a:off x="971550" y="2933104"/>
            <a:ext cx="10629900" cy="7316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smtClean="0">
                <a:solidFill>
                  <a:srgbClr val="0F172A"/>
                </a:solidFill>
                <a:latin typeface="Urbanist SemiBold"/>
                <a:ea typeface="Urbanist SemiBold"/>
                <a:cs typeface="Urbanist SemiBold"/>
                <a:sym typeface="Urbanist SemiBold"/>
              </a:rPr>
              <a:t>Exp </a:t>
            </a:r>
            <a:r>
              <a:rPr lang="en-US" sz="1500" b="0" i="0" u="none" strike="noStrike" cap="none" dirty="0">
                <a:solidFill>
                  <a:srgbClr val="0F172A"/>
                </a:solidFill>
                <a:latin typeface="Urbanist SemiBold"/>
                <a:ea typeface="Urbanist SemiBold"/>
                <a:cs typeface="Urbanist SemiBold"/>
                <a:sym typeface="Urbanist SemiBold"/>
              </a:rPr>
              <a:t>2 (Compliance Agent + MCP):</a:t>
            </a:r>
            <a:r>
              <a:rPr lang="en-US" sz="1500" b="0" i="0" u="none" strike="noStrike" cap="none" dirty="0">
                <a:solidFill>
                  <a:srgbClr val="334155"/>
                </a:solidFill>
                <a:latin typeface="Urbanist"/>
                <a:ea typeface="Urbanist"/>
                <a:cs typeface="Urbanist"/>
                <a:sym typeface="Urbanist"/>
              </a:rPr>
              <a:t> Agent successfully invoked MCP tools to retrieve live RBI feed data, passed Guardrails hallucination checks, and returned a structured summary.</a:t>
            </a:r>
            <a:endParaRPr dirty="0"/>
          </a:p>
        </p:txBody>
      </p:sp>
      <p:sp>
        <p:nvSpPr>
          <p:cNvPr id="657" name="Google Shape;657;p35"/>
          <p:cNvSpPr txBox="1"/>
          <p:nvPr/>
        </p:nvSpPr>
        <p:spPr>
          <a:xfrm>
            <a:off x="1014413" y="3961803"/>
            <a:ext cx="1062990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0F172A"/>
                </a:solidFill>
                <a:latin typeface="Urbanist SemiBold"/>
                <a:ea typeface="Urbanist SemiBold"/>
                <a:cs typeface="Urbanist SemiBold"/>
                <a:sym typeface="Urbanist SemiBold"/>
              </a:rPr>
              <a:t>Exp 3 (Policy Impact):</a:t>
            </a:r>
            <a:r>
              <a:rPr lang="en-US" sz="1500" b="0" i="0" u="none" strike="noStrike" cap="none" dirty="0">
                <a:solidFill>
                  <a:srgbClr val="334155"/>
                </a:solidFill>
                <a:latin typeface="Urbanist"/>
                <a:ea typeface="Urbanist"/>
                <a:cs typeface="Urbanist"/>
                <a:sym typeface="Urbanist"/>
              </a:rPr>
              <a:t> Queried "maximum allowed DLG percentage". Impact Assessor retrieved Policy POL-002 via MCP and mapped the 20% limit constraint.</a:t>
            </a:r>
            <a:endParaRPr dirty="0"/>
          </a:p>
        </p:txBody>
      </p:sp>
      <p:pic>
        <p:nvPicPr>
          <p:cNvPr id="658" name="Google Shape;658;p35" descr="image.png"/>
          <p:cNvPicPr preferRelativeResize="0"/>
          <p:nvPr/>
        </p:nvPicPr>
        <p:blipFill rotWithShape="1">
          <a:blip r:embed="rId4">
            <a:alphaModFix/>
          </a:blip>
          <a:srcRect/>
          <a:stretch/>
        </p:blipFill>
        <p:spPr>
          <a:xfrm>
            <a:off x="590550" y="1692473"/>
            <a:ext cx="190500" cy="200025"/>
          </a:xfrm>
          <a:prstGeom prst="rect">
            <a:avLst/>
          </a:prstGeom>
          <a:noFill/>
          <a:ln>
            <a:noFill/>
          </a:ln>
        </p:spPr>
      </p:pic>
      <p:pic>
        <p:nvPicPr>
          <p:cNvPr id="659" name="Google Shape;659;p35" descr="image.png"/>
          <p:cNvPicPr preferRelativeResize="0"/>
          <p:nvPr/>
        </p:nvPicPr>
        <p:blipFill rotWithShape="1">
          <a:blip r:embed="rId5">
            <a:alphaModFix/>
          </a:blip>
          <a:srcRect/>
          <a:stretch/>
        </p:blipFill>
        <p:spPr>
          <a:xfrm>
            <a:off x="526256" y="3142654"/>
            <a:ext cx="238125" cy="200025"/>
          </a:xfrm>
          <a:prstGeom prst="rect">
            <a:avLst/>
          </a:prstGeom>
          <a:noFill/>
          <a:ln>
            <a:noFill/>
          </a:ln>
        </p:spPr>
      </p:pic>
      <p:pic>
        <p:nvPicPr>
          <p:cNvPr id="660" name="Google Shape;660;p35" descr="image.png"/>
          <p:cNvPicPr preferRelativeResize="0"/>
          <p:nvPr/>
        </p:nvPicPr>
        <p:blipFill rotWithShape="1">
          <a:blip r:embed="rId6">
            <a:alphaModFix/>
          </a:blip>
          <a:srcRect/>
          <a:stretch/>
        </p:blipFill>
        <p:spPr>
          <a:xfrm>
            <a:off x="611981" y="4071341"/>
            <a:ext cx="190500" cy="200025"/>
          </a:xfrm>
          <a:prstGeom prst="rect">
            <a:avLst/>
          </a:prstGeom>
          <a:noFill/>
          <a:ln>
            <a:noFill/>
          </a:ln>
        </p:spPr>
      </p:pic>
      <p:sp>
        <p:nvSpPr>
          <p:cNvPr id="661" name="Google Shape;661;p35"/>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Experimental Scenarios</a:t>
            </a:r>
            <a:endParaRPr/>
          </a:p>
        </p:txBody>
      </p:sp>
      <p:sp>
        <p:nvSpPr>
          <p:cNvPr id="662" name="Google Shape;662;p35"/>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80" name="Google Shape;480;p25"/>
          <p:cNvSpPr txBox="1"/>
          <p:nvPr/>
        </p:nvSpPr>
        <p:spPr>
          <a:xfrm>
            <a:off x="692944" y="514350"/>
            <a:ext cx="10629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80" b="1" dirty="0">
                <a:solidFill>
                  <a:srgbClr val="0F172A"/>
                </a:solidFill>
                <a:latin typeface="Poppins"/>
                <a:ea typeface="Poppins"/>
                <a:cs typeface="Poppins"/>
                <a:sym typeface="Poppins"/>
              </a:rPr>
              <a:t>Data Collection &amp; </a:t>
            </a:r>
            <a:r>
              <a:rPr lang="en-US" sz="1680" b="1" dirty="0">
                <a:solidFill>
                  <a:srgbClr val="0F766E"/>
                </a:solidFill>
                <a:latin typeface="Poppins"/>
                <a:ea typeface="Poppins"/>
                <a:cs typeface="Poppins"/>
                <a:sym typeface="Poppins"/>
              </a:rPr>
              <a:t>Dataset Preparation</a:t>
            </a:r>
            <a:endParaRPr sz="1680" b="1" dirty="0">
              <a:solidFill>
                <a:srgbClr val="0F172A"/>
              </a:solidFill>
              <a:latin typeface="Poppins"/>
              <a:ea typeface="Poppins"/>
              <a:cs typeface="Poppins"/>
              <a:sym typeface="Poppins"/>
            </a:endParaRPr>
          </a:p>
        </p:txBody>
      </p:sp>
      <p:sp>
        <p:nvSpPr>
          <p:cNvPr id="481" name="Google Shape;481;p25"/>
          <p:cNvSpPr txBox="1"/>
          <p:nvPr/>
        </p:nvSpPr>
        <p:spPr>
          <a:xfrm>
            <a:off x="676275" y="971550"/>
            <a:ext cx="108396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50" b="0">
                <a:solidFill>
                  <a:srgbClr val="475569"/>
                </a:solidFill>
                <a:latin typeface="Inter"/>
                <a:ea typeface="Inter"/>
                <a:cs typeface="Inter"/>
                <a:sym typeface="Inter"/>
              </a:rPr>
              <a:t>To ensure reproducibility, privacy, and scientific validity, the proposed framework uses publicly available benchmark datasets, regulatory documents, and synthetic enterprise policies instead of proprietary banking data.</a:t>
            </a:r>
            <a:endParaRPr sz="1050" b="0">
              <a:solidFill>
                <a:srgbClr val="475569"/>
              </a:solidFill>
              <a:latin typeface="Inter"/>
              <a:ea typeface="Inter"/>
              <a:cs typeface="Inter"/>
              <a:sym typeface="Inter"/>
            </a:endParaRPr>
          </a:p>
        </p:txBody>
      </p:sp>
      <p:sp>
        <p:nvSpPr>
          <p:cNvPr id="482" name="Google Shape;482;p25"/>
          <p:cNvSpPr/>
          <p:nvPr/>
        </p:nvSpPr>
        <p:spPr>
          <a:xfrm>
            <a:off x="676275" y="1571625"/>
            <a:ext cx="8039100" cy="4714800"/>
          </a:xfrm>
          <a:prstGeom prst="roundRect">
            <a:avLst>
              <a:gd name="adj" fmla="val 161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3" name="Google Shape;483;p25"/>
          <p:cNvSpPr/>
          <p:nvPr/>
        </p:nvSpPr>
        <p:spPr>
          <a:xfrm>
            <a:off x="676275" y="1571625"/>
            <a:ext cx="8039100" cy="333300"/>
          </a:xfrm>
          <a:prstGeom prst="roundRect">
            <a:avLst>
              <a:gd name="adj" fmla="val 22857"/>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4" name="Google Shape;484;p25"/>
          <p:cNvSpPr txBox="1"/>
          <p:nvPr/>
        </p:nvSpPr>
        <p:spPr>
          <a:xfrm>
            <a:off x="866775" y="1638300"/>
            <a:ext cx="76581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25" b="1">
                <a:solidFill>
                  <a:srgbClr val="334155"/>
                </a:solidFill>
                <a:latin typeface="Poppins"/>
                <a:ea typeface="Poppins"/>
                <a:cs typeface="Poppins"/>
                <a:sym typeface="Poppins"/>
              </a:rPr>
              <a:t>THREE-LAYER DATA &amp; PIPELINE ARCHITECTURE</a:t>
            </a:r>
            <a:endParaRPr sz="925" b="1">
              <a:solidFill>
                <a:srgbClr val="334155"/>
              </a:solidFill>
              <a:latin typeface="Poppins"/>
              <a:ea typeface="Poppins"/>
              <a:cs typeface="Poppins"/>
              <a:sym typeface="Poppins"/>
            </a:endParaRPr>
          </a:p>
        </p:txBody>
      </p:sp>
      <p:sp>
        <p:nvSpPr>
          <p:cNvPr id="485" name="Google Shape;485;p25"/>
          <p:cNvSpPr/>
          <p:nvPr/>
        </p:nvSpPr>
        <p:spPr>
          <a:xfrm>
            <a:off x="809625" y="2047875"/>
            <a:ext cx="2381400" cy="381000"/>
          </a:xfrm>
          <a:prstGeom prst="roundRect">
            <a:avLst>
              <a:gd name="adj" fmla="val 15000"/>
            </a:avLst>
          </a:prstGeom>
          <a:solidFill>
            <a:srgbClr val="F0FDF4"/>
          </a:solidFill>
          <a:ln w="9525" cap="flat" cmpd="sng">
            <a:solidFill>
              <a:srgbClr val="BBF7D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6" name="Google Shape;486;p25"/>
          <p:cNvSpPr txBox="1"/>
          <p:nvPr/>
        </p:nvSpPr>
        <p:spPr>
          <a:xfrm>
            <a:off x="809625" y="2047875"/>
            <a:ext cx="2381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0F766E"/>
                </a:solidFill>
                <a:latin typeface="Poppins"/>
                <a:ea typeface="Poppins"/>
                <a:cs typeface="Poppins"/>
                <a:sym typeface="Poppins"/>
              </a:rPr>
              <a:t>DATA LAYER 1: PUBLIC DATASETS</a:t>
            </a:r>
            <a:endParaRPr sz="1000" b="1">
              <a:solidFill>
                <a:srgbClr val="0F766E"/>
              </a:solidFill>
              <a:latin typeface="Poppins"/>
              <a:ea typeface="Poppins"/>
              <a:cs typeface="Poppins"/>
              <a:sym typeface="Poppins"/>
            </a:endParaRPr>
          </a:p>
        </p:txBody>
      </p:sp>
      <p:sp>
        <p:nvSpPr>
          <p:cNvPr id="487" name="Google Shape;487;p25"/>
          <p:cNvSpPr/>
          <p:nvPr/>
        </p:nvSpPr>
        <p:spPr>
          <a:xfrm>
            <a:off x="3505200" y="2047875"/>
            <a:ext cx="2381400" cy="381000"/>
          </a:xfrm>
          <a:prstGeom prst="roundRect">
            <a:avLst>
              <a:gd name="adj" fmla="val 15000"/>
            </a:avLst>
          </a:prstGeom>
          <a:solidFill>
            <a:srgbClr val="F0FDF4"/>
          </a:solidFill>
          <a:ln w="9525" cap="flat" cmpd="sng">
            <a:solidFill>
              <a:srgbClr val="BBF7D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8" name="Google Shape;488;p25"/>
          <p:cNvSpPr txBox="1"/>
          <p:nvPr/>
        </p:nvSpPr>
        <p:spPr>
          <a:xfrm>
            <a:off x="3505200" y="2047875"/>
            <a:ext cx="2381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0F766E"/>
                </a:solidFill>
                <a:latin typeface="Poppins"/>
                <a:ea typeface="Poppins"/>
                <a:cs typeface="Poppins"/>
                <a:sym typeface="Poppins"/>
              </a:rPr>
              <a:t>DATA LAYER 2: REGULATORY KNOWLEDGE</a:t>
            </a:r>
            <a:endParaRPr sz="1000" b="1">
              <a:solidFill>
                <a:srgbClr val="0F766E"/>
              </a:solidFill>
              <a:latin typeface="Poppins"/>
              <a:ea typeface="Poppins"/>
              <a:cs typeface="Poppins"/>
              <a:sym typeface="Poppins"/>
            </a:endParaRPr>
          </a:p>
        </p:txBody>
      </p:sp>
      <p:sp>
        <p:nvSpPr>
          <p:cNvPr id="489" name="Google Shape;489;p25"/>
          <p:cNvSpPr/>
          <p:nvPr/>
        </p:nvSpPr>
        <p:spPr>
          <a:xfrm>
            <a:off x="6200775" y="2047875"/>
            <a:ext cx="2381400" cy="381000"/>
          </a:xfrm>
          <a:prstGeom prst="roundRect">
            <a:avLst>
              <a:gd name="adj" fmla="val 15000"/>
            </a:avLst>
          </a:prstGeom>
          <a:solidFill>
            <a:srgbClr val="F0FDF4"/>
          </a:solidFill>
          <a:ln w="9525" cap="flat" cmpd="sng">
            <a:solidFill>
              <a:srgbClr val="BBF7D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0" name="Google Shape;490;p25"/>
          <p:cNvSpPr txBox="1"/>
          <p:nvPr/>
        </p:nvSpPr>
        <p:spPr>
          <a:xfrm>
            <a:off x="6200775" y="2047875"/>
            <a:ext cx="2381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0F766E"/>
                </a:solidFill>
                <a:latin typeface="Poppins"/>
                <a:ea typeface="Poppins"/>
                <a:cs typeface="Poppins"/>
                <a:sym typeface="Poppins"/>
              </a:rPr>
              <a:t>DATA LAYER 3: SYNTHETIC DATA</a:t>
            </a:r>
            <a:endParaRPr sz="1000" b="1">
              <a:solidFill>
                <a:srgbClr val="0F766E"/>
              </a:solidFill>
              <a:latin typeface="Poppins"/>
              <a:ea typeface="Poppins"/>
              <a:cs typeface="Poppins"/>
              <a:sym typeface="Poppins"/>
            </a:endParaRPr>
          </a:p>
        </p:txBody>
      </p:sp>
      <p:sp>
        <p:nvSpPr>
          <p:cNvPr id="491" name="Google Shape;491;p25"/>
          <p:cNvSpPr/>
          <p:nvPr/>
        </p:nvSpPr>
        <p:spPr>
          <a:xfrm>
            <a:off x="809625" y="2524125"/>
            <a:ext cx="2381400" cy="1476300"/>
          </a:xfrm>
          <a:prstGeom prst="roundRect">
            <a:avLst>
              <a:gd name="adj" fmla="val 3870"/>
            </a:avLst>
          </a:prstGeom>
          <a:solidFill>
            <a:srgbClr val="FFFFFF"/>
          </a:solidFill>
          <a:ln w="14300"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25"/>
          <p:cNvSpPr txBox="1"/>
          <p:nvPr/>
        </p:nvSpPr>
        <p:spPr>
          <a:xfrm>
            <a:off x="904875" y="2590800"/>
            <a:ext cx="21909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50" b="0" dirty="0">
                <a:solidFill>
                  <a:srgbClr val="1E293B"/>
                </a:solidFill>
                <a:latin typeface="Inter SemiBold"/>
                <a:ea typeface="Inter SemiBold"/>
                <a:cs typeface="Inter SemiBold"/>
                <a:sym typeface="Inter SemiBold"/>
              </a:rPr>
              <a:t>📘 </a:t>
            </a:r>
            <a:r>
              <a:rPr lang="en-US" sz="850" b="0" dirty="0" smtClean="0">
                <a:solidFill>
                  <a:srgbClr val="1E293B"/>
                </a:solidFill>
                <a:latin typeface="Inter SemiBold"/>
                <a:ea typeface="Inter SemiBold"/>
                <a:cs typeface="Inter SemiBold"/>
                <a:sym typeface="Inter SemiBold"/>
              </a:rPr>
              <a:t>  CUAD </a:t>
            </a:r>
            <a:r>
              <a:rPr lang="en-US" sz="850" b="0" dirty="0">
                <a:solidFill>
                  <a:srgbClr val="1E293B"/>
                </a:solidFill>
                <a:latin typeface="Inter SemiBold"/>
                <a:ea typeface="Inter SemiBold"/>
                <a:cs typeface="Inter SemiBold"/>
                <a:sym typeface="Inter SemiBold"/>
              </a:rPr>
              <a:t>Dataset</a:t>
            </a:r>
            <a:endParaRPr sz="850" b="0" dirty="0">
              <a:solidFill>
                <a:srgbClr val="1E293B"/>
              </a:solidFill>
              <a:latin typeface="Inter SemiBold"/>
              <a:ea typeface="Inter SemiBold"/>
              <a:cs typeface="Inter SemiBold"/>
              <a:sym typeface="Inter SemiBold"/>
            </a:endParaRPr>
          </a:p>
          <a:p>
            <a:pPr marL="0" lvl="0" indent="0" algn="l" rtl="0">
              <a:spcBef>
                <a:spcPts val="0"/>
              </a:spcBef>
              <a:spcAft>
                <a:spcPts val="0"/>
              </a:spcAft>
              <a:buNone/>
            </a:pPr>
            <a:r>
              <a:rPr lang="en-US" sz="740" b="0" dirty="0">
                <a:solidFill>
                  <a:srgbClr val="475569"/>
                </a:solidFill>
                <a:latin typeface="Inter"/>
                <a:ea typeface="Inter"/>
                <a:cs typeface="Inter"/>
                <a:sym typeface="Inter"/>
              </a:rPr>
              <a:t>• Extract legal obligations &amp; expert clauses</a:t>
            </a:r>
            <a:endParaRPr sz="740" b="0" dirty="0">
              <a:solidFill>
                <a:srgbClr val="475569"/>
              </a:solidFill>
              <a:latin typeface="Inter"/>
              <a:ea typeface="Inter"/>
              <a:cs typeface="Inter"/>
              <a:sym typeface="Inter"/>
            </a:endParaRPr>
          </a:p>
          <a:p>
            <a:pPr marL="0" lvl="0" indent="0" algn="l" rtl="0">
              <a:spcBef>
                <a:spcPts val="300"/>
              </a:spcBef>
              <a:spcAft>
                <a:spcPts val="0"/>
              </a:spcAft>
              <a:buNone/>
            </a:pPr>
            <a:r>
              <a:rPr lang="en-US" sz="740" b="0" dirty="0">
                <a:solidFill>
                  <a:srgbClr val="475569"/>
                </a:solidFill>
                <a:latin typeface="Inter"/>
                <a:ea typeface="Inter"/>
                <a:cs typeface="Inter"/>
                <a:sym typeface="Inter"/>
              </a:rPr>
              <a:t>• Supports supervised Legal-BERT training</a:t>
            </a:r>
            <a:endParaRPr sz="740" b="0" dirty="0">
              <a:solidFill>
                <a:srgbClr val="475569"/>
              </a:solidFill>
              <a:latin typeface="Inter"/>
              <a:ea typeface="Inter"/>
              <a:cs typeface="Inter"/>
              <a:sym typeface="Inter"/>
            </a:endParaRPr>
          </a:p>
          <a:p>
            <a:pPr marL="0" lvl="0" indent="0" algn="l" rtl="0">
              <a:spcBef>
                <a:spcPts val="450"/>
              </a:spcBef>
              <a:spcAft>
                <a:spcPts val="0"/>
              </a:spcAft>
              <a:buNone/>
            </a:pPr>
            <a:r>
              <a:rPr lang="en-US" sz="850" b="0" dirty="0">
                <a:solidFill>
                  <a:srgbClr val="1E293B"/>
                </a:solidFill>
                <a:latin typeface="Inter SemiBold"/>
                <a:ea typeface="Inter SemiBold"/>
                <a:cs typeface="Inter SemiBold"/>
                <a:sym typeface="Inter SemiBold"/>
              </a:rPr>
              <a:t>📘 </a:t>
            </a:r>
            <a:r>
              <a:rPr lang="en-US" sz="850" b="0" dirty="0" smtClean="0">
                <a:solidFill>
                  <a:srgbClr val="1E293B"/>
                </a:solidFill>
                <a:latin typeface="Inter SemiBold"/>
                <a:ea typeface="Inter SemiBold"/>
                <a:cs typeface="Inter SemiBold"/>
                <a:sym typeface="Inter SemiBold"/>
              </a:rPr>
              <a:t>  </a:t>
            </a:r>
            <a:r>
              <a:rPr lang="en-US" sz="850" b="0" dirty="0" err="1" smtClean="0">
                <a:solidFill>
                  <a:srgbClr val="1E293B"/>
                </a:solidFill>
                <a:latin typeface="Inter SemiBold"/>
                <a:ea typeface="Inter SemiBold"/>
                <a:cs typeface="Inter SemiBold"/>
                <a:sym typeface="Inter SemiBold"/>
              </a:rPr>
              <a:t>DocLayNet</a:t>
            </a:r>
            <a:endParaRPr sz="850" b="0" dirty="0">
              <a:solidFill>
                <a:srgbClr val="1E293B"/>
              </a:solidFill>
              <a:latin typeface="Inter SemiBold"/>
              <a:ea typeface="Inter SemiBold"/>
              <a:cs typeface="Inter SemiBold"/>
              <a:sym typeface="Inter SemiBold"/>
            </a:endParaRPr>
          </a:p>
          <a:p>
            <a:pPr marL="0" lvl="0" indent="0" algn="l" rtl="0">
              <a:spcBef>
                <a:spcPts val="0"/>
              </a:spcBef>
              <a:spcAft>
                <a:spcPts val="0"/>
              </a:spcAft>
              <a:buNone/>
            </a:pPr>
            <a:r>
              <a:rPr lang="en-US" sz="740" b="0" dirty="0">
                <a:solidFill>
                  <a:srgbClr val="475569"/>
                </a:solidFill>
                <a:latin typeface="Inter"/>
                <a:ea typeface="Inter"/>
                <a:cs typeface="Inter"/>
                <a:sym typeface="Inter"/>
              </a:rPr>
              <a:t>• Tables, headers, paragraph visual analysis</a:t>
            </a:r>
            <a:endParaRPr sz="740" b="0" dirty="0">
              <a:solidFill>
                <a:srgbClr val="475569"/>
              </a:solidFill>
              <a:latin typeface="Inter"/>
              <a:ea typeface="Inter"/>
              <a:cs typeface="Inter"/>
              <a:sym typeface="Inter"/>
            </a:endParaRPr>
          </a:p>
          <a:p>
            <a:pPr marL="0" lvl="0" indent="0" algn="l" rtl="0">
              <a:spcBef>
                <a:spcPts val="300"/>
              </a:spcBef>
              <a:spcAft>
                <a:spcPts val="300"/>
              </a:spcAft>
              <a:buNone/>
            </a:pPr>
            <a:r>
              <a:rPr lang="en-US" sz="740" b="0" dirty="0">
                <a:solidFill>
                  <a:srgbClr val="475569"/>
                </a:solidFill>
                <a:latin typeface="Inter"/>
                <a:ea typeface="Inter"/>
                <a:cs typeface="Inter"/>
                <a:sym typeface="Inter"/>
              </a:rPr>
              <a:t>• Multimodal layout annotations for LayoutLMv3</a:t>
            </a:r>
            <a:endParaRPr sz="740" b="0" dirty="0">
              <a:solidFill>
                <a:srgbClr val="475569"/>
              </a:solidFill>
              <a:latin typeface="Inter"/>
              <a:ea typeface="Inter"/>
              <a:cs typeface="Inter"/>
              <a:sym typeface="Inter"/>
            </a:endParaRPr>
          </a:p>
        </p:txBody>
      </p:sp>
      <p:sp>
        <p:nvSpPr>
          <p:cNvPr id="493" name="Google Shape;493;p25"/>
          <p:cNvSpPr/>
          <p:nvPr/>
        </p:nvSpPr>
        <p:spPr>
          <a:xfrm>
            <a:off x="3505200" y="2524125"/>
            <a:ext cx="2381400" cy="1476300"/>
          </a:xfrm>
          <a:prstGeom prst="roundRect">
            <a:avLst>
              <a:gd name="adj" fmla="val 3870"/>
            </a:avLst>
          </a:prstGeom>
          <a:solidFill>
            <a:srgbClr val="FFFFFF"/>
          </a:solidFill>
          <a:ln w="14300"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25"/>
          <p:cNvSpPr txBox="1"/>
          <p:nvPr/>
        </p:nvSpPr>
        <p:spPr>
          <a:xfrm>
            <a:off x="3600450" y="2590800"/>
            <a:ext cx="21909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50" b="0" dirty="0">
                <a:solidFill>
                  <a:srgbClr val="1E293B"/>
                </a:solidFill>
                <a:latin typeface="Inter SemiBold"/>
                <a:ea typeface="Inter SemiBold"/>
                <a:cs typeface="Inter SemiBold"/>
                <a:sym typeface="Inter SemiBold"/>
              </a:rPr>
              <a:t>🏦 </a:t>
            </a:r>
            <a:r>
              <a:rPr lang="en-US" sz="850" b="0" dirty="0" smtClean="0">
                <a:solidFill>
                  <a:srgbClr val="1E293B"/>
                </a:solidFill>
                <a:latin typeface="Inter SemiBold"/>
                <a:ea typeface="Inter SemiBold"/>
                <a:cs typeface="Inter SemiBold"/>
                <a:sym typeface="Inter SemiBold"/>
              </a:rPr>
              <a:t>  RBI </a:t>
            </a:r>
            <a:r>
              <a:rPr lang="en-US" sz="850" b="0" dirty="0">
                <a:solidFill>
                  <a:srgbClr val="1E293B"/>
                </a:solidFill>
                <a:latin typeface="Inter SemiBold"/>
                <a:ea typeface="Inter SemiBold"/>
                <a:cs typeface="Inter SemiBold"/>
                <a:sym typeface="Inter SemiBold"/>
              </a:rPr>
              <a:t>Circulars &amp; Guidelines</a:t>
            </a:r>
            <a:endParaRPr sz="850" b="0" dirty="0">
              <a:solidFill>
                <a:srgbClr val="1E293B"/>
              </a:solidFill>
              <a:latin typeface="Inter SemiBold"/>
              <a:ea typeface="Inter SemiBold"/>
              <a:cs typeface="Inter SemiBold"/>
              <a:sym typeface="Inter SemiBold"/>
            </a:endParaRPr>
          </a:p>
          <a:p>
            <a:pPr marL="0" lvl="0" indent="0" algn="l" rtl="0">
              <a:spcBef>
                <a:spcPts val="0"/>
              </a:spcBef>
              <a:spcAft>
                <a:spcPts val="0"/>
              </a:spcAft>
              <a:buNone/>
            </a:pPr>
            <a:r>
              <a:rPr lang="en-US" sz="740" b="0" dirty="0">
                <a:solidFill>
                  <a:srgbClr val="475569"/>
                </a:solidFill>
                <a:latin typeface="Inter"/>
                <a:ea typeface="Inter"/>
                <a:cs typeface="Inter"/>
                <a:sym typeface="Inter"/>
              </a:rPr>
              <a:t>• Focus on Digital Lending, Outsourcing, Risk</a:t>
            </a:r>
            <a:endParaRPr sz="740" b="0" dirty="0">
              <a:solidFill>
                <a:srgbClr val="475569"/>
              </a:solidFill>
              <a:latin typeface="Inter"/>
              <a:ea typeface="Inter"/>
              <a:cs typeface="Inter"/>
              <a:sym typeface="Inter"/>
            </a:endParaRPr>
          </a:p>
          <a:p>
            <a:pPr marL="0" lvl="0" indent="0" algn="l" rtl="0">
              <a:spcBef>
                <a:spcPts val="300"/>
              </a:spcBef>
              <a:spcAft>
                <a:spcPts val="0"/>
              </a:spcAft>
              <a:buNone/>
            </a:pPr>
            <a:r>
              <a:rPr lang="en-US" sz="740" b="0" dirty="0">
                <a:solidFill>
                  <a:srgbClr val="475569"/>
                </a:solidFill>
                <a:latin typeface="Inter"/>
                <a:ea typeface="Inter"/>
                <a:cs typeface="Inter"/>
                <a:sym typeface="Inter"/>
              </a:rPr>
              <a:t>• Acts as primary external compliant ground truth</a:t>
            </a:r>
            <a:endParaRPr sz="740" b="0" dirty="0">
              <a:solidFill>
                <a:srgbClr val="475569"/>
              </a:solidFill>
              <a:latin typeface="Inter"/>
              <a:ea typeface="Inter"/>
              <a:cs typeface="Inter"/>
              <a:sym typeface="Inter"/>
            </a:endParaRPr>
          </a:p>
          <a:p>
            <a:pPr marL="0" lvl="0" indent="0" algn="l" rtl="0">
              <a:spcBef>
                <a:spcPts val="450"/>
              </a:spcBef>
              <a:spcAft>
                <a:spcPts val="0"/>
              </a:spcAft>
              <a:buNone/>
            </a:pPr>
            <a:r>
              <a:rPr lang="en-US" sz="850" b="0" dirty="0">
                <a:solidFill>
                  <a:srgbClr val="1E293B"/>
                </a:solidFill>
                <a:latin typeface="Inter SemiBold"/>
                <a:ea typeface="Inter SemiBold"/>
                <a:cs typeface="Inter SemiBold"/>
                <a:sym typeface="Inter SemiBold"/>
              </a:rPr>
              <a:t>🌐 </a:t>
            </a:r>
            <a:r>
              <a:rPr lang="en-US" sz="850" b="0" dirty="0" smtClean="0">
                <a:solidFill>
                  <a:srgbClr val="1E293B"/>
                </a:solidFill>
                <a:latin typeface="Inter SemiBold"/>
                <a:ea typeface="Inter SemiBold"/>
                <a:cs typeface="Inter SemiBold"/>
                <a:sym typeface="Inter SemiBold"/>
              </a:rPr>
              <a:t>  Basel </a:t>
            </a:r>
            <a:r>
              <a:rPr lang="en-US" sz="850" b="0" dirty="0">
                <a:solidFill>
                  <a:srgbClr val="1E293B"/>
                </a:solidFill>
                <a:latin typeface="Inter SemiBold"/>
                <a:ea typeface="Inter SemiBold"/>
                <a:cs typeface="Inter SemiBold"/>
                <a:sym typeface="Inter SemiBold"/>
              </a:rPr>
              <a:t>III Accord</a:t>
            </a:r>
            <a:endParaRPr sz="850" b="0" dirty="0">
              <a:solidFill>
                <a:srgbClr val="1E293B"/>
              </a:solidFill>
              <a:latin typeface="Inter SemiBold"/>
              <a:ea typeface="Inter SemiBold"/>
              <a:cs typeface="Inter SemiBold"/>
              <a:sym typeface="Inter SemiBold"/>
            </a:endParaRPr>
          </a:p>
          <a:p>
            <a:pPr marL="0" lvl="0" indent="0" algn="l" rtl="0">
              <a:spcBef>
                <a:spcPts val="0"/>
              </a:spcBef>
              <a:spcAft>
                <a:spcPts val="0"/>
              </a:spcAft>
              <a:buNone/>
            </a:pPr>
            <a:r>
              <a:rPr lang="en-US" sz="740" b="0" dirty="0">
                <a:solidFill>
                  <a:srgbClr val="475569"/>
                </a:solidFill>
                <a:latin typeface="Inter"/>
                <a:ea typeface="Inter"/>
                <a:cs typeface="Inter"/>
                <a:sym typeface="Inter"/>
              </a:rPr>
              <a:t>• International banking regulations &amp; standards</a:t>
            </a:r>
            <a:endParaRPr sz="740" b="0" dirty="0">
              <a:solidFill>
                <a:srgbClr val="475569"/>
              </a:solidFill>
              <a:latin typeface="Inter"/>
              <a:ea typeface="Inter"/>
              <a:cs typeface="Inter"/>
              <a:sym typeface="Inter"/>
            </a:endParaRPr>
          </a:p>
          <a:p>
            <a:pPr marL="0" lvl="0" indent="0" algn="l" rtl="0">
              <a:spcBef>
                <a:spcPts val="300"/>
              </a:spcBef>
              <a:spcAft>
                <a:spcPts val="300"/>
              </a:spcAft>
              <a:buNone/>
            </a:pPr>
            <a:r>
              <a:rPr lang="en-US" sz="740" b="0" dirty="0">
                <a:solidFill>
                  <a:srgbClr val="475569"/>
                </a:solidFill>
                <a:latin typeface="Inter"/>
                <a:ea typeface="Inter"/>
                <a:cs typeface="Inter"/>
                <a:sym typeface="Inter"/>
              </a:rPr>
              <a:t>• Mapped strictly to the LRR safety module</a:t>
            </a:r>
            <a:endParaRPr sz="740" b="0" dirty="0">
              <a:solidFill>
                <a:srgbClr val="475569"/>
              </a:solidFill>
              <a:latin typeface="Inter"/>
              <a:ea typeface="Inter"/>
              <a:cs typeface="Inter"/>
              <a:sym typeface="Inter"/>
            </a:endParaRPr>
          </a:p>
        </p:txBody>
      </p:sp>
      <p:sp>
        <p:nvSpPr>
          <p:cNvPr id="495" name="Google Shape;495;p25"/>
          <p:cNvSpPr/>
          <p:nvPr/>
        </p:nvSpPr>
        <p:spPr>
          <a:xfrm>
            <a:off x="6200775" y="2524125"/>
            <a:ext cx="2381400" cy="1476300"/>
          </a:xfrm>
          <a:prstGeom prst="roundRect">
            <a:avLst>
              <a:gd name="adj" fmla="val 3870"/>
            </a:avLst>
          </a:prstGeom>
          <a:solidFill>
            <a:srgbClr val="FFFFFF"/>
          </a:solidFill>
          <a:ln w="14300"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6" name="Google Shape;496;p25"/>
          <p:cNvSpPr txBox="1"/>
          <p:nvPr/>
        </p:nvSpPr>
        <p:spPr>
          <a:xfrm>
            <a:off x="6296025" y="2590800"/>
            <a:ext cx="21909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50" b="0">
                <a:solidFill>
                  <a:srgbClr val="1E293B"/>
                </a:solidFill>
                <a:latin typeface="Inter SemiBold"/>
                <a:ea typeface="Inter SemiBold"/>
                <a:cs typeface="Inter SemiBold"/>
                <a:sym typeface="Inter SemiBold"/>
              </a:rPr>
              <a:t>🛡️ Synthetic Banking Policies</a:t>
            </a:r>
            <a:endParaRPr sz="850" b="0">
              <a:solidFill>
                <a:srgbClr val="1E293B"/>
              </a:solidFill>
              <a:latin typeface="Inter SemiBold"/>
              <a:ea typeface="Inter SemiBold"/>
              <a:cs typeface="Inter SemiBold"/>
              <a:sym typeface="Inter SemiBold"/>
            </a:endParaRPr>
          </a:p>
          <a:p>
            <a:pPr marL="0" lvl="0" indent="0" algn="l" rtl="0">
              <a:spcBef>
                <a:spcPts val="225"/>
              </a:spcBef>
              <a:spcAft>
                <a:spcPts val="0"/>
              </a:spcAft>
              <a:buNone/>
            </a:pPr>
            <a:r>
              <a:rPr lang="en-US" sz="740" b="0">
                <a:solidFill>
                  <a:srgbClr val="475569"/>
                </a:solidFill>
                <a:latin typeface="Inter"/>
                <a:ea typeface="Inter"/>
                <a:cs typeface="Inter"/>
                <a:sym typeface="Inter"/>
              </a:rPr>
              <a:t>• Replaces highly sensitive internal policies</a:t>
            </a:r>
            <a:endParaRPr sz="740" b="0">
              <a:solidFill>
                <a:srgbClr val="475569"/>
              </a:solidFill>
              <a:latin typeface="Inter"/>
              <a:ea typeface="Inter"/>
              <a:cs typeface="Inter"/>
              <a:sym typeface="Inter"/>
            </a:endParaRPr>
          </a:p>
          <a:p>
            <a:pPr marL="0" lvl="0" indent="0" algn="l" rtl="0">
              <a:spcBef>
                <a:spcPts val="300"/>
              </a:spcBef>
              <a:spcAft>
                <a:spcPts val="0"/>
              </a:spcAft>
              <a:buNone/>
            </a:pPr>
            <a:r>
              <a:rPr lang="en-US" sz="740" b="0">
                <a:solidFill>
                  <a:srgbClr val="475569"/>
                </a:solidFill>
                <a:latin typeface="Inter"/>
                <a:ea typeface="Inter"/>
                <a:cs typeface="Inter"/>
                <a:sym typeface="Inter"/>
              </a:rPr>
              <a:t>• Simulates operational risk &amp; limits</a:t>
            </a:r>
            <a:endParaRPr sz="740" b="0">
              <a:solidFill>
                <a:srgbClr val="475569"/>
              </a:solidFill>
              <a:latin typeface="Inter"/>
              <a:ea typeface="Inter"/>
              <a:cs typeface="Inter"/>
              <a:sym typeface="Inter"/>
            </a:endParaRPr>
          </a:p>
          <a:p>
            <a:pPr marL="0" lvl="0" indent="0" algn="l" rtl="0">
              <a:spcBef>
                <a:spcPts val="450"/>
              </a:spcBef>
              <a:spcAft>
                <a:spcPts val="0"/>
              </a:spcAft>
              <a:buNone/>
            </a:pPr>
            <a:r>
              <a:rPr lang="en-US" sz="850" b="0">
                <a:solidFill>
                  <a:srgbClr val="1E293B"/>
                </a:solidFill>
                <a:latin typeface="Inter SemiBold"/>
                <a:ea typeface="Inter SemiBold"/>
                <a:cs typeface="Inter SemiBold"/>
                <a:sym typeface="Inter SemiBold"/>
              </a:rPr>
              <a:t>Advantage Profile</a:t>
            </a:r>
            <a:endParaRPr sz="850" b="0">
              <a:solidFill>
                <a:srgbClr val="1E293B"/>
              </a:solidFill>
              <a:latin typeface="Inter SemiBold"/>
              <a:ea typeface="Inter SemiBold"/>
              <a:cs typeface="Inter SemiBold"/>
              <a:sym typeface="Inter SemiBold"/>
            </a:endParaRPr>
          </a:p>
          <a:p>
            <a:pPr marL="0" lvl="0" indent="0" algn="l" rtl="0">
              <a:spcBef>
                <a:spcPts val="0"/>
              </a:spcBef>
              <a:spcAft>
                <a:spcPts val="0"/>
              </a:spcAft>
              <a:buNone/>
            </a:pPr>
            <a:r>
              <a:rPr lang="en-US" sz="740" b="0">
                <a:solidFill>
                  <a:srgbClr val="475569"/>
                </a:solidFill>
                <a:latin typeface="Inter"/>
                <a:ea typeface="Inter"/>
                <a:cs typeface="Inter"/>
                <a:sym typeface="Inter"/>
              </a:rPr>
              <a:t>✅ 100% Privacy preserving</a:t>
            </a:r>
            <a:endParaRPr sz="740" b="0">
              <a:solidFill>
                <a:srgbClr val="475569"/>
              </a:solidFill>
              <a:latin typeface="Inter"/>
              <a:ea typeface="Inter"/>
              <a:cs typeface="Inter"/>
              <a:sym typeface="Inter"/>
            </a:endParaRPr>
          </a:p>
          <a:p>
            <a:pPr marL="0" lvl="0" indent="0" algn="l" rtl="0">
              <a:spcBef>
                <a:spcPts val="300"/>
              </a:spcBef>
              <a:spcAft>
                <a:spcPts val="300"/>
              </a:spcAft>
              <a:buNone/>
            </a:pPr>
            <a:r>
              <a:rPr lang="en-US" sz="740" b="0">
                <a:solidFill>
                  <a:srgbClr val="475569"/>
                </a:solidFill>
                <a:latin typeface="Inter"/>
                <a:ea typeface="Inter"/>
                <a:cs typeface="Inter"/>
                <a:sym typeface="Inter"/>
              </a:rPr>
              <a:t>✅ Standardized &amp; reproducible research</a:t>
            </a:r>
            <a:endParaRPr sz="740" b="0">
              <a:solidFill>
                <a:srgbClr val="475569"/>
              </a:solidFill>
              <a:latin typeface="Inter"/>
              <a:ea typeface="Inter"/>
              <a:cs typeface="Inter"/>
              <a:sym typeface="Inter"/>
            </a:endParaRPr>
          </a:p>
        </p:txBody>
      </p:sp>
      <p:cxnSp>
        <p:nvCxnSpPr>
          <p:cNvPr id="497" name="Google Shape;497;p25"/>
          <p:cNvCxnSpPr/>
          <p:nvPr/>
        </p:nvCxnSpPr>
        <p:spPr>
          <a:xfrm>
            <a:off x="809625" y="4143375"/>
            <a:ext cx="7772400" cy="0"/>
          </a:xfrm>
          <a:prstGeom prst="straightConnector1">
            <a:avLst/>
          </a:prstGeom>
          <a:solidFill>
            <a:srgbClr val="FFFFFF"/>
          </a:solidFill>
          <a:ln w="14300" cap="flat" cmpd="sng">
            <a:solidFill>
              <a:srgbClr val="E2E8F0"/>
            </a:solidFill>
            <a:prstDash val="solid"/>
            <a:round/>
            <a:headEnd type="none" w="sm" len="sm"/>
            <a:tailEnd type="none" w="sm" len="sm"/>
          </a:ln>
        </p:spPr>
      </p:cxnSp>
      <p:sp>
        <p:nvSpPr>
          <p:cNvPr id="498" name="Google Shape;498;p25"/>
          <p:cNvSpPr/>
          <p:nvPr/>
        </p:nvSpPr>
        <p:spPr>
          <a:xfrm>
            <a:off x="809625" y="4286250"/>
            <a:ext cx="7772400" cy="381000"/>
          </a:xfrm>
          <a:prstGeom prst="roundRect">
            <a:avLst>
              <a:gd name="adj" fmla="val 15000"/>
            </a:avLst>
          </a:prstGeom>
          <a:solidFill>
            <a:srgbClr val="E0F2FE"/>
          </a:solidFill>
          <a:ln w="9525" cap="flat" cmpd="sng">
            <a:solidFill>
              <a:srgbClr val="BAE6FD"/>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9" name="Google Shape;499;p25"/>
          <p:cNvSpPr txBox="1"/>
          <p:nvPr/>
        </p:nvSpPr>
        <p:spPr>
          <a:xfrm>
            <a:off x="904875" y="4314825"/>
            <a:ext cx="75819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95"/>
              <a:t>DATA PREPROCESSING PIPELINE (AUTOMATED ENGINE)</a:t>
            </a:r>
            <a:endParaRPr sz="1295"/>
          </a:p>
          <a:p>
            <a:pPr marL="0" lvl="0" indent="0" algn="ctr" rtl="0">
              <a:spcBef>
                <a:spcPts val="0"/>
              </a:spcBef>
              <a:spcAft>
                <a:spcPts val="0"/>
              </a:spcAft>
              <a:buNone/>
            </a:pPr>
            <a:r>
              <a:rPr lang="en-US" sz="694">
                <a:solidFill>
                  <a:srgbClr val="0369A1"/>
                </a:solidFill>
                <a:latin typeface="Fira Code"/>
                <a:ea typeface="Fira Code"/>
                <a:cs typeface="Fira Code"/>
                <a:sym typeface="Fira Code"/>
              </a:rPr>
              <a:t>Raw Documents ➔ OCR Validation ➔ Bounding Box Extraction ➔ Layout Normalization ➔ Clause Annotation ➔ Chunking ➔ Embedding Generation</a:t>
            </a:r>
            <a:endParaRPr sz="694">
              <a:solidFill>
                <a:srgbClr val="0369A1"/>
              </a:solidFill>
              <a:latin typeface="Fira Code"/>
              <a:ea typeface="Fira Code"/>
              <a:cs typeface="Fira Code"/>
              <a:sym typeface="Fira Code"/>
            </a:endParaRPr>
          </a:p>
        </p:txBody>
      </p:sp>
      <p:cxnSp>
        <p:nvCxnSpPr>
          <p:cNvPr id="500" name="Google Shape;500;p25"/>
          <p:cNvCxnSpPr/>
          <p:nvPr/>
        </p:nvCxnSpPr>
        <p:spPr>
          <a:xfrm>
            <a:off x="809625" y="4810125"/>
            <a:ext cx="7772400" cy="0"/>
          </a:xfrm>
          <a:prstGeom prst="straightConnector1">
            <a:avLst/>
          </a:prstGeom>
          <a:solidFill>
            <a:srgbClr val="FFFFFF"/>
          </a:solidFill>
          <a:ln w="14300" cap="flat" cmpd="sng">
            <a:solidFill>
              <a:srgbClr val="E2E8F0"/>
            </a:solidFill>
            <a:prstDash val="solid"/>
            <a:round/>
            <a:headEnd type="none" w="sm" len="sm"/>
            <a:tailEnd type="none" w="sm" len="sm"/>
          </a:ln>
        </p:spPr>
      </p:cxnSp>
      <p:sp>
        <p:nvSpPr>
          <p:cNvPr id="501" name="Google Shape;501;p25"/>
          <p:cNvSpPr/>
          <p:nvPr/>
        </p:nvSpPr>
        <p:spPr>
          <a:xfrm>
            <a:off x="809625" y="4953000"/>
            <a:ext cx="7772400" cy="381000"/>
          </a:xfrm>
          <a:prstGeom prst="roundRect">
            <a:avLst>
              <a:gd name="adj" fmla="val 15000"/>
            </a:avLst>
          </a:prstGeom>
          <a:solidFill>
            <a:srgbClr val="F0FDFA"/>
          </a:solidFill>
          <a:ln w="9525" cap="flat" cmpd="sng">
            <a:solidFill>
              <a:srgbClr val="5EEAD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2" name="Google Shape;502;p25"/>
          <p:cNvSpPr txBox="1"/>
          <p:nvPr/>
        </p:nvSpPr>
        <p:spPr>
          <a:xfrm>
            <a:off x="904875" y="4981575"/>
            <a:ext cx="75819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95"/>
              <a:t>AI MODEL TRAINING &amp; COMPLIANCE EXECUTION PIPELINE</a:t>
            </a:r>
            <a:endParaRPr sz="1295"/>
          </a:p>
          <a:p>
            <a:pPr marL="0" lvl="0" indent="0" algn="ctr" rtl="0">
              <a:spcBef>
                <a:spcPts val="0"/>
              </a:spcBef>
              <a:spcAft>
                <a:spcPts val="0"/>
              </a:spcAft>
              <a:buNone/>
            </a:pPr>
            <a:r>
              <a:rPr lang="en-US" sz="694">
                <a:solidFill>
                  <a:srgbClr val="0F766E"/>
                </a:solidFill>
                <a:latin typeface="Fira Code"/>
                <a:ea typeface="Fira Code"/>
                <a:cs typeface="Fira Code"/>
                <a:sym typeface="Fira Code"/>
              </a:rPr>
              <a:t>Multi-Modal Inputs ➔ LayoutLMv3 Visual Features ➔ Legal-BERT Semantic Classifiers ➔ LangGraph Orchestrator ➔ RAG Loop ➔ Shield Guardrails</a:t>
            </a:r>
            <a:endParaRPr sz="694">
              <a:solidFill>
                <a:srgbClr val="0F766E"/>
              </a:solidFill>
              <a:latin typeface="Fira Code"/>
              <a:ea typeface="Fira Code"/>
              <a:cs typeface="Fira Code"/>
              <a:sym typeface="Fira Code"/>
            </a:endParaRPr>
          </a:p>
        </p:txBody>
      </p:sp>
      <p:sp>
        <p:nvSpPr>
          <p:cNvPr id="503" name="Google Shape;503;p25"/>
          <p:cNvSpPr/>
          <p:nvPr/>
        </p:nvSpPr>
        <p:spPr>
          <a:xfrm>
            <a:off x="809625" y="5448300"/>
            <a:ext cx="7772400" cy="723900"/>
          </a:xfrm>
          <a:prstGeom prst="roundRect">
            <a:avLst>
              <a:gd name="adj" fmla="val 7894"/>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4" name="Google Shape;504;p25"/>
          <p:cNvSpPr txBox="1"/>
          <p:nvPr/>
        </p:nvSpPr>
        <p:spPr>
          <a:xfrm>
            <a:off x="952500" y="5543550"/>
            <a:ext cx="285900" cy="533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80">
                <a:solidFill>
                  <a:srgbClr val="38BDF8"/>
                </a:solidFill>
              </a:rPr>
              <a:t>🛡️</a:t>
            </a:r>
            <a:endParaRPr sz="1680">
              <a:solidFill>
                <a:srgbClr val="38BDF8"/>
              </a:solidFill>
            </a:endParaRPr>
          </a:p>
        </p:txBody>
      </p:sp>
      <p:sp>
        <p:nvSpPr>
          <p:cNvPr id="505" name="Google Shape;505;p25"/>
          <p:cNvSpPr txBox="1"/>
          <p:nvPr/>
        </p:nvSpPr>
        <p:spPr>
          <a:xfrm>
            <a:off x="1381125" y="5524500"/>
            <a:ext cx="7048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50" b="1">
                <a:solidFill>
                  <a:srgbClr val="38BDF8"/>
                </a:solidFill>
                <a:latin typeface="Poppins"/>
                <a:ea typeface="Poppins"/>
                <a:cs typeface="Poppins"/>
                <a:sym typeface="Poppins"/>
              </a:rPr>
              <a:t>Strict Privacy &amp; Confidentiality Strategy</a:t>
            </a:r>
            <a:endParaRPr sz="950" b="1">
              <a:solidFill>
                <a:srgbClr val="38BDF8"/>
              </a:solidFill>
              <a:latin typeface="Poppins"/>
              <a:ea typeface="Poppins"/>
              <a:cs typeface="Poppins"/>
              <a:sym typeface="Poppins"/>
            </a:endParaRPr>
          </a:p>
          <a:p>
            <a:pPr marL="0" lvl="0" indent="0" algn="l" rtl="0">
              <a:spcBef>
                <a:spcPts val="300"/>
              </a:spcBef>
              <a:spcAft>
                <a:spcPts val="0"/>
              </a:spcAft>
              <a:buNone/>
            </a:pPr>
            <a:r>
              <a:rPr lang="en-US" sz="850" b="0">
                <a:solidFill>
                  <a:srgbClr val="94A3B8"/>
                </a:solidFill>
                <a:latin typeface="Inter"/>
                <a:ea typeface="Inter"/>
                <a:cs typeface="Inter"/>
                <a:sym typeface="Inter"/>
              </a:rPr>
              <a:t>No proprietary Bank of America data is used. The research relies exclusively on public datasets, publicly available RBI regulations, and synthetic enterprise policies, ensuring absolute confidentiality while enabling highly realistic evaluations.</a:t>
            </a:r>
            <a:endParaRPr sz="850" b="0">
              <a:solidFill>
                <a:srgbClr val="94A3B8"/>
              </a:solidFill>
              <a:latin typeface="Inter"/>
              <a:ea typeface="Inter"/>
              <a:cs typeface="Inter"/>
              <a:sym typeface="Inter"/>
            </a:endParaRPr>
          </a:p>
        </p:txBody>
      </p:sp>
      <p:sp>
        <p:nvSpPr>
          <p:cNvPr id="506" name="Google Shape;506;p25"/>
          <p:cNvSpPr/>
          <p:nvPr/>
        </p:nvSpPr>
        <p:spPr>
          <a:xfrm>
            <a:off x="8848725" y="1571625"/>
            <a:ext cx="2667000" cy="4714800"/>
          </a:xfrm>
          <a:prstGeom prst="roundRect">
            <a:avLst>
              <a:gd name="adj" fmla="val 285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7" name="Google Shape;507;p25"/>
          <p:cNvSpPr/>
          <p:nvPr/>
        </p:nvSpPr>
        <p:spPr>
          <a:xfrm>
            <a:off x="8848725" y="1571625"/>
            <a:ext cx="2667000" cy="333300"/>
          </a:xfrm>
          <a:prstGeom prst="roundRect">
            <a:avLst>
              <a:gd name="adj" fmla="val 22857"/>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8" name="Google Shape;508;p25"/>
          <p:cNvSpPr txBox="1"/>
          <p:nvPr/>
        </p:nvSpPr>
        <p:spPr>
          <a:xfrm>
            <a:off x="8943975" y="1638300"/>
            <a:ext cx="24765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25" b="1">
                <a:solidFill>
                  <a:srgbClr val="334155"/>
                </a:solidFill>
                <a:latin typeface="Poppins"/>
                <a:ea typeface="Poppins"/>
                <a:cs typeface="Poppins"/>
                <a:sym typeface="Poppins"/>
              </a:rPr>
              <a:t>DATASET METRICS &amp; RECORDS</a:t>
            </a:r>
            <a:endParaRPr sz="925" b="1">
              <a:solidFill>
                <a:srgbClr val="334155"/>
              </a:solidFill>
              <a:latin typeface="Poppins"/>
              <a:ea typeface="Poppins"/>
              <a:cs typeface="Poppins"/>
              <a:sym typeface="Poppins"/>
            </a:endParaRPr>
          </a:p>
        </p:txBody>
      </p:sp>
      <p:sp>
        <p:nvSpPr>
          <p:cNvPr id="509" name="Google Shape;509;p25"/>
          <p:cNvSpPr/>
          <p:nvPr/>
        </p:nvSpPr>
        <p:spPr>
          <a:xfrm>
            <a:off x="8991600" y="2047875"/>
            <a:ext cx="2381400" cy="304800"/>
          </a:xfrm>
          <a:prstGeom prst="roundRect">
            <a:avLst>
              <a:gd name="adj" fmla="val 12500"/>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0" name="Google Shape;510;p25"/>
          <p:cNvSpPr txBox="1"/>
          <p:nvPr/>
        </p:nvSpPr>
        <p:spPr>
          <a:xfrm>
            <a:off x="9086850" y="2047875"/>
            <a:ext cx="8574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1">
                <a:solidFill>
                  <a:srgbClr val="FFFFFF"/>
                </a:solidFill>
                <a:latin typeface="Poppins"/>
                <a:ea typeface="Poppins"/>
                <a:cs typeface="Poppins"/>
                <a:sym typeface="Poppins"/>
              </a:rPr>
              <a:t>Dataset Name</a:t>
            </a:r>
            <a:endParaRPr sz="740" b="1">
              <a:solidFill>
                <a:srgbClr val="FFFFFF"/>
              </a:solidFill>
              <a:latin typeface="Poppins"/>
              <a:ea typeface="Poppins"/>
              <a:cs typeface="Poppins"/>
              <a:sym typeface="Poppins"/>
            </a:endParaRPr>
          </a:p>
        </p:txBody>
      </p:sp>
      <p:sp>
        <p:nvSpPr>
          <p:cNvPr id="511" name="Google Shape;511;p25"/>
          <p:cNvSpPr txBox="1"/>
          <p:nvPr/>
        </p:nvSpPr>
        <p:spPr>
          <a:xfrm>
            <a:off x="10039350" y="2047875"/>
            <a:ext cx="5715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1">
                <a:solidFill>
                  <a:srgbClr val="FFFFFF"/>
                </a:solidFill>
                <a:latin typeface="Poppins"/>
                <a:ea typeface="Poppins"/>
                <a:cs typeface="Poppins"/>
                <a:sym typeface="Poppins"/>
              </a:rPr>
              <a:t>Records</a:t>
            </a:r>
            <a:endParaRPr sz="740" b="1">
              <a:solidFill>
                <a:srgbClr val="FFFFFF"/>
              </a:solidFill>
              <a:latin typeface="Poppins"/>
              <a:ea typeface="Poppins"/>
              <a:cs typeface="Poppins"/>
              <a:sym typeface="Poppins"/>
            </a:endParaRPr>
          </a:p>
        </p:txBody>
      </p:sp>
      <p:sp>
        <p:nvSpPr>
          <p:cNvPr id="512" name="Google Shape;512;p25"/>
          <p:cNvSpPr txBox="1"/>
          <p:nvPr/>
        </p:nvSpPr>
        <p:spPr>
          <a:xfrm>
            <a:off x="10706100" y="2047875"/>
            <a:ext cx="5715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1">
                <a:solidFill>
                  <a:srgbClr val="FFFFFF"/>
                </a:solidFill>
                <a:latin typeface="Poppins"/>
                <a:ea typeface="Poppins"/>
                <a:cs typeface="Poppins"/>
                <a:sym typeface="Poppins"/>
              </a:rPr>
              <a:t>Framework Usage</a:t>
            </a:r>
            <a:endParaRPr sz="740" b="1">
              <a:solidFill>
                <a:srgbClr val="FFFFFF"/>
              </a:solidFill>
              <a:latin typeface="Poppins"/>
              <a:ea typeface="Poppins"/>
              <a:cs typeface="Poppins"/>
              <a:sym typeface="Poppins"/>
            </a:endParaRPr>
          </a:p>
        </p:txBody>
      </p:sp>
      <p:sp>
        <p:nvSpPr>
          <p:cNvPr id="513" name="Google Shape;513;p25"/>
          <p:cNvSpPr/>
          <p:nvPr/>
        </p:nvSpPr>
        <p:spPr>
          <a:xfrm>
            <a:off x="8991600" y="2400300"/>
            <a:ext cx="2381400" cy="4572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514" name="Google Shape;514;p25"/>
          <p:cNvCxnSpPr/>
          <p:nvPr/>
        </p:nvCxnSpPr>
        <p:spPr>
          <a:xfrm>
            <a:off x="8991600" y="2857500"/>
            <a:ext cx="23814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515" name="Google Shape;515;p25"/>
          <p:cNvSpPr txBox="1"/>
          <p:nvPr/>
        </p:nvSpPr>
        <p:spPr>
          <a:xfrm>
            <a:off x="9086850" y="2400300"/>
            <a:ext cx="8574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0">
                <a:solidFill>
                  <a:srgbClr val="334155"/>
                </a:solidFill>
                <a:latin typeface="Inter Medium"/>
                <a:ea typeface="Inter Medium"/>
                <a:cs typeface="Inter Medium"/>
                <a:sym typeface="Inter Medium"/>
              </a:rPr>
              <a:t>CUAD (Contract Understanding)</a:t>
            </a:r>
            <a:endParaRPr sz="740" b="0">
              <a:solidFill>
                <a:srgbClr val="334155"/>
              </a:solidFill>
              <a:latin typeface="Inter Medium"/>
              <a:ea typeface="Inter Medium"/>
              <a:cs typeface="Inter Medium"/>
              <a:sym typeface="Inter Medium"/>
            </a:endParaRPr>
          </a:p>
        </p:txBody>
      </p:sp>
      <p:sp>
        <p:nvSpPr>
          <p:cNvPr id="516" name="Google Shape;516;p25"/>
          <p:cNvSpPr txBox="1"/>
          <p:nvPr/>
        </p:nvSpPr>
        <p:spPr>
          <a:xfrm>
            <a:off x="10039350" y="2400300"/>
            <a:ext cx="5715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1">
                <a:solidFill>
                  <a:srgbClr val="334155"/>
                </a:solidFill>
                <a:latin typeface="Inter"/>
                <a:ea typeface="Inter"/>
                <a:cs typeface="Inter"/>
                <a:sym typeface="Inter"/>
              </a:rPr>
              <a:t>500+</a:t>
            </a:r>
            <a:br>
              <a:rPr lang="en-US" sz="740" b="1">
                <a:solidFill>
                  <a:srgbClr val="334155"/>
                </a:solidFill>
                <a:latin typeface="Inter"/>
                <a:ea typeface="Inter"/>
                <a:cs typeface="Inter"/>
                <a:sym typeface="Inter"/>
              </a:rPr>
            </a:br>
            <a:r>
              <a:rPr lang="en-US" sz="700" b="0">
                <a:solidFill>
                  <a:srgbClr val="64748B"/>
                </a:solidFill>
                <a:latin typeface="Inter"/>
                <a:ea typeface="Inter"/>
                <a:cs typeface="Inter"/>
                <a:sym typeface="Inter"/>
              </a:rPr>
              <a:t>Contracts</a:t>
            </a:r>
            <a:endParaRPr sz="740" b="1">
              <a:solidFill>
                <a:srgbClr val="334155"/>
              </a:solidFill>
              <a:latin typeface="Inter"/>
              <a:ea typeface="Inter"/>
              <a:cs typeface="Inter"/>
              <a:sym typeface="Inter"/>
            </a:endParaRPr>
          </a:p>
        </p:txBody>
      </p:sp>
      <p:sp>
        <p:nvSpPr>
          <p:cNvPr id="517" name="Google Shape;517;p25"/>
          <p:cNvSpPr txBox="1"/>
          <p:nvPr/>
        </p:nvSpPr>
        <p:spPr>
          <a:xfrm>
            <a:off x="10706100" y="2400300"/>
            <a:ext cx="5715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0">
                <a:solidFill>
                  <a:srgbClr val="334155"/>
                </a:solidFill>
                <a:latin typeface="Inter Medium"/>
                <a:ea typeface="Inter Medium"/>
                <a:cs typeface="Inter Medium"/>
                <a:sym typeface="Inter Medium"/>
              </a:rPr>
              <a:t>Clause Extraction &amp; BERT Training</a:t>
            </a:r>
            <a:endParaRPr sz="740" b="0">
              <a:solidFill>
                <a:srgbClr val="334155"/>
              </a:solidFill>
              <a:latin typeface="Inter Medium"/>
              <a:ea typeface="Inter Medium"/>
              <a:cs typeface="Inter Medium"/>
              <a:sym typeface="Inter Medium"/>
            </a:endParaRPr>
          </a:p>
        </p:txBody>
      </p:sp>
      <p:sp>
        <p:nvSpPr>
          <p:cNvPr id="518" name="Google Shape;518;p25"/>
          <p:cNvSpPr/>
          <p:nvPr/>
        </p:nvSpPr>
        <p:spPr>
          <a:xfrm>
            <a:off x="8991600" y="2867025"/>
            <a:ext cx="2381400" cy="4572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519" name="Google Shape;519;p25"/>
          <p:cNvCxnSpPr/>
          <p:nvPr/>
        </p:nvCxnSpPr>
        <p:spPr>
          <a:xfrm>
            <a:off x="8991600" y="3324225"/>
            <a:ext cx="23814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520" name="Google Shape;520;p25"/>
          <p:cNvSpPr txBox="1"/>
          <p:nvPr/>
        </p:nvSpPr>
        <p:spPr>
          <a:xfrm>
            <a:off x="9086850" y="2867025"/>
            <a:ext cx="8574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0">
                <a:solidFill>
                  <a:srgbClr val="334155"/>
                </a:solidFill>
                <a:latin typeface="Inter Medium"/>
                <a:ea typeface="Inter Medium"/>
                <a:cs typeface="Inter Medium"/>
                <a:sym typeface="Inter Medium"/>
              </a:rPr>
              <a:t>DocLayNet (Document Layout)</a:t>
            </a:r>
            <a:endParaRPr sz="740" b="0">
              <a:solidFill>
                <a:srgbClr val="334155"/>
              </a:solidFill>
              <a:latin typeface="Inter Medium"/>
              <a:ea typeface="Inter Medium"/>
              <a:cs typeface="Inter Medium"/>
              <a:sym typeface="Inter Medium"/>
            </a:endParaRPr>
          </a:p>
        </p:txBody>
      </p:sp>
      <p:sp>
        <p:nvSpPr>
          <p:cNvPr id="521" name="Google Shape;521;p25"/>
          <p:cNvSpPr txBox="1"/>
          <p:nvPr/>
        </p:nvSpPr>
        <p:spPr>
          <a:xfrm>
            <a:off x="10039350" y="2867025"/>
            <a:ext cx="5715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1">
                <a:solidFill>
                  <a:srgbClr val="334155"/>
                </a:solidFill>
                <a:latin typeface="Inter"/>
                <a:ea typeface="Inter"/>
                <a:cs typeface="Inter"/>
                <a:sym typeface="Inter"/>
              </a:rPr>
              <a:t>80,000+</a:t>
            </a:r>
            <a:br>
              <a:rPr lang="en-US" sz="740" b="1">
                <a:solidFill>
                  <a:srgbClr val="334155"/>
                </a:solidFill>
                <a:latin typeface="Inter"/>
                <a:ea typeface="Inter"/>
                <a:cs typeface="Inter"/>
                <a:sym typeface="Inter"/>
              </a:rPr>
            </a:br>
            <a:r>
              <a:rPr lang="en-US" sz="700" b="0">
                <a:solidFill>
                  <a:srgbClr val="64748B"/>
                </a:solidFill>
                <a:latin typeface="Inter"/>
                <a:ea typeface="Inter"/>
                <a:cs typeface="Inter"/>
                <a:sym typeface="Inter"/>
              </a:rPr>
              <a:t>Pages</a:t>
            </a:r>
            <a:endParaRPr sz="740" b="1">
              <a:solidFill>
                <a:srgbClr val="334155"/>
              </a:solidFill>
              <a:latin typeface="Inter"/>
              <a:ea typeface="Inter"/>
              <a:cs typeface="Inter"/>
              <a:sym typeface="Inter"/>
            </a:endParaRPr>
          </a:p>
        </p:txBody>
      </p:sp>
      <p:sp>
        <p:nvSpPr>
          <p:cNvPr id="522" name="Google Shape;522;p25"/>
          <p:cNvSpPr txBox="1"/>
          <p:nvPr/>
        </p:nvSpPr>
        <p:spPr>
          <a:xfrm>
            <a:off x="10706100" y="2867025"/>
            <a:ext cx="5715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0">
                <a:solidFill>
                  <a:srgbClr val="334155"/>
                </a:solidFill>
                <a:latin typeface="Inter Medium"/>
                <a:ea typeface="Inter Medium"/>
                <a:cs typeface="Inter Medium"/>
                <a:sym typeface="Inter Medium"/>
              </a:rPr>
              <a:t>Multi-modal Layout Parsing</a:t>
            </a:r>
            <a:endParaRPr sz="740" b="0">
              <a:solidFill>
                <a:srgbClr val="334155"/>
              </a:solidFill>
              <a:latin typeface="Inter Medium"/>
              <a:ea typeface="Inter Medium"/>
              <a:cs typeface="Inter Medium"/>
              <a:sym typeface="Inter Medium"/>
            </a:endParaRPr>
          </a:p>
        </p:txBody>
      </p:sp>
      <p:sp>
        <p:nvSpPr>
          <p:cNvPr id="523" name="Google Shape;523;p25"/>
          <p:cNvSpPr/>
          <p:nvPr/>
        </p:nvSpPr>
        <p:spPr>
          <a:xfrm>
            <a:off x="8991600" y="3333750"/>
            <a:ext cx="2381400" cy="4572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524" name="Google Shape;524;p25"/>
          <p:cNvCxnSpPr/>
          <p:nvPr/>
        </p:nvCxnSpPr>
        <p:spPr>
          <a:xfrm>
            <a:off x="8991600" y="3790950"/>
            <a:ext cx="23814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525" name="Google Shape;525;p25"/>
          <p:cNvSpPr txBox="1"/>
          <p:nvPr/>
        </p:nvSpPr>
        <p:spPr>
          <a:xfrm>
            <a:off x="9086850" y="3333750"/>
            <a:ext cx="8574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0">
                <a:solidFill>
                  <a:srgbClr val="334155"/>
                </a:solidFill>
                <a:latin typeface="Inter Medium"/>
                <a:ea typeface="Inter Medium"/>
                <a:cs typeface="Inter Medium"/>
                <a:sym typeface="Inter Medium"/>
              </a:rPr>
              <a:t>RBI Circulars (Regulatory)</a:t>
            </a:r>
            <a:endParaRPr sz="740" b="0">
              <a:solidFill>
                <a:srgbClr val="334155"/>
              </a:solidFill>
              <a:latin typeface="Inter Medium"/>
              <a:ea typeface="Inter Medium"/>
              <a:cs typeface="Inter Medium"/>
              <a:sym typeface="Inter Medium"/>
            </a:endParaRPr>
          </a:p>
        </p:txBody>
      </p:sp>
      <p:sp>
        <p:nvSpPr>
          <p:cNvPr id="526" name="Google Shape;526;p25"/>
          <p:cNvSpPr txBox="1"/>
          <p:nvPr/>
        </p:nvSpPr>
        <p:spPr>
          <a:xfrm>
            <a:off x="10039350" y="3333750"/>
            <a:ext cx="5715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1">
                <a:solidFill>
                  <a:srgbClr val="334155"/>
                </a:solidFill>
                <a:latin typeface="Inter"/>
                <a:ea typeface="Inter"/>
                <a:cs typeface="Inter"/>
                <a:sym typeface="Inter"/>
              </a:rPr>
              <a:t>Multiple</a:t>
            </a:r>
            <a:br>
              <a:rPr lang="en-US" sz="740" b="1">
                <a:solidFill>
                  <a:srgbClr val="334155"/>
                </a:solidFill>
                <a:latin typeface="Inter"/>
                <a:ea typeface="Inter"/>
                <a:cs typeface="Inter"/>
                <a:sym typeface="Inter"/>
              </a:rPr>
            </a:br>
            <a:r>
              <a:rPr lang="en-US" sz="700" b="0">
                <a:solidFill>
                  <a:srgbClr val="64748B"/>
                </a:solidFill>
                <a:latin typeface="Inter"/>
                <a:ea typeface="Inter"/>
                <a:cs typeface="Inter"/>
                <a:sym typeface="Inter"/>
              </a:rPr>
              <a:t>Public Docs</a:t>
            </a:r>
            <a:endParaRPr sz="740" b="1">
              <a:solidFill>
                <a:srgbClr val="334155"/>
              </a:solidFill>
              <a:latin typeface="Inter"/>
              <a:ea typeface="Inter"/>
              <a:cs typeface="Inter"/>
              <a:sym typeface="Inter"/>
            </a:endParaRPr>
          </a:p>
        </p:txBody>
      </p:sp>
      <p:sp>
        <p:nvSpPr>
          <p:cNvPr id="527" name="Google Shape;527;p25"/>
          <p:cNvSpPr txBox="1"/>
          <p:nvPr/>
        </p:nvSpPr>
        <p:spPr>
          <a:xfrm>
            <a:off x="10706100" y="3333750"/>
            <a:ext cx="5715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0">
                <a:solidFill>
                  <a:srgbClr val="334155"/>
                </a:solidFill>
                <a:latin typeface="Inter Medium"/>
                <a:ea typeface="Inter Medium"/>
                <a:cs typeface="Inter Medium"/>
                <a:sym typeface="Inter Medium"/>
              </a:rPr>
              <a:t>Compliance Monitoring base</a:t>
            </a:r>
            <a:endParaRPr sz="740" b="0">
              <a:solidFill>
                <a:srgbClr val="334155"/>
              </a:solidFill>
              <a:latin typeface="Inter Medium"/>
              <a:ea typeface="Inter Medium"/>
              <a:cs typeface="Inter Medium"/>
              <a:sym typeface="Inter Medium"/>
            </a:endParaRPr>
          </a:p>
        </p:txBody>
      </p:sp>
      <p:sp>
        <p:nvSpPr>
          <p:cNvPr id="528" name="Google Shape;528;p25"/>
          <p:cNvSpPr/>
          <p:nvPr/>
        </p:nvSpPr>
        <p:spPr>
          <a:xfrm>
            <a:off x="8991600" y="3800475"/>
            <a:ext cx="2381400" cy="4572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529" name="Google Shape;529;p25"/>
          <p:cNvCxnSpPr/>
          <p:nvPr/>
        </p:nvCxnSpPr>
        <p:spPr>
          <a:xfrm>
            <a:off x="8991600" y="4257675"/>
            <a:ext cx="23814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530" name="Google Shape;530;p25"/>
          <p:cNvSpPr txBox="1"/>
          <p:nvPr/>
        </p:nvSpPr>
        <p:spPr>
          <a:xfrm>
            <a:off x="9086850" y="3800475"/>
            <a:ext cx="8574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0">
                <a:solidFill>
                  <a:srgbClr val="334155"/>
                </a:solidFill>
                <a:latin typeface="Inter Medium"/>
                <a:ea typeface="Inter Medium"/>
                <a:cs typeface="Inter Medium"/>
                <a:sym typeface="Inter Medium"/>
              </a:rPr>
              <a:t>Synthetic Policies (Enterprise)</a:t>
            </a:r>
            <a:endParaRPr sz="740" b="0">
              <a:solidFill>
                <a:srgbClr val="334155"/>
              </a:solidFill>
              <a:latin typeface="Inter Medium"/>
              <a:ea typeface="Inter Medium"/>
              <a:cs typeface="Inter Medium"/>
              <a:sym typeface="Inter Medium"/>
            </a:endParaRPr>
          </a:p>
        </p:txBody>
      </p:sp>
      <p:sp>
        <p:nvSpPr>
          <p:cNvPr id="531" name="Google Shape;531;p25"/>
          <p:cNvSpPr txBox="1"/>
          <p:nvPr/>
        </p:nvSpPr>
        <p:spPr>
          <a:xfrm>
            <a:off x="10039350" y="3800475"/>
            <a:ext cx="5715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1">
                <a:solidFill>
                  <a:srgbClr val="334155"/>
                </a:solidFill>
                <a:latin typeface="Inter"/>
                <a:ea typeface="Inter"/>
                <a:cs typeface="Inter"/>
                <a:sym typeface="Inter"/>
              </a:rPr>
              <a:t>Custom</a:t>
            </a:r>
            <a:br>
              <a:rPr lang="en-US" sz="740" b="1">
                <a:solidFill>
                  <a:srgbClr val="334155"/>
                </a:solidFill>
                <a:latin typeface="Inter"/>
                <a:ea typeface="Inter"/>
                <a:cs typeface="Inter"/>
                <a:sym typeface="Inter"/>
              </a:rPr>
            </a:br>
            <a:r>
              <a:rPr lang="en-US" sz="700" b="0">
                <a:solidFill>
                  <a:srgbClr val="64748B"/>
                </a:solidFill>
                <a:latin typeface="Inter"/>
                <a:ea typeface="Inter"/>
                <a:cs typeface="Inter"/>
                <a:sym typeface="Inter"/>
              </a:rPr>
              <a:t>Mock banks</a:t>
            </a:r>
            <a:endParaRPr sz="740" b="1">
              <a:solidFill>
                <a:srgbClr val="334155"/>
              </a:solidFill>
              <a:latin typeface="Inter"/>
              <a:ea typeface="Inter"/>
              <a:cs typeface="Inter"/>
              <a:sym typeface="Inter"/>
            </a:endParaRPr>
          </a:p>
        </p:txBody>
      </p:sp>
      <p:sp>
        <p:nvSpPr>
          <p:cNvPr id="532" name="Google Shape;532;p25"/>
          <p:cNvSpPr txBox="1"/>
          <p:nvPr/>
        </p:nvSpPr>
        <p:spPr>
          <a:xfrm>
            <a:off x="10706100" y="3800475"/>
            <a:ext cx="5715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40" b="0">
                <a:solidFill>
                  <a:srgbClr val="334155"/>
                </a:solidFill>
                <a:latin typeface="Inter Medium"/>
                <a:ea typeface="Inter Medium"/>
                <a:cs typeface="Inter Medium"/>
                <a:sym typeface="Inter Medium"/>
              </a:rPr>
              <a:t>Isolated Enterprise Evaluation</a:t>
            </a:r>
            <a:endParaRPr sz="740" b="0">
              <a:solidFill>
                <a:srgbClr val="334155"/>
              </a:solidFill>
              <a:latin typeface="Inter Medium"/>
              <a:ea typeface="Inter Medium"/>
              <a:cs typeface="Inter Medium"/>
              <a:sym typeface="Inter Medium"/>
            </a:endParaRPr>
          </a:p>
        </p:txBody>
      </p:sp>
      <p:sp>
        <p:nvSpPr>
          <p:cNvPr id="533" name="Google Shape;533;p25"/>
          <p:cNvSpPr txBox="1"/>
          <p:nvPr/>
        </p:nvSpPr>
        <p:spPr>
          <a:xfrm>
            <a:off x="8991600" y="4381500"/>
            <a:ext cx="2381400" cy="171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50" b="1">
                <a:solidFill>
                  <a:srgbClr val="0F766E"/>
                </a:solidFill>
                <a:latin typeface="Poppins"/>
                <a:ea typeface="Poppins"/>
                <a:cs typeface="Poppins"/>
                <a:sym typeface="Poppins"/>
              </a:rPr>
              <a:t>DATA DECOUPLING ADVANTAGE</a:t>
            </a:r>
            <a:endParaRPr sz="850" b="1">
              <a:solidFill>
                <a:srgbClr val="0F766E"/>
              </a:solidFill>
              <a:latin typeface="Poppins"/>
              <a:ea typeface="Poppins"/>
              <a:cs typeface="Poppins"/>
              <a:sym typeface="Poppins"/>
            </a:endParaRPr>
          </a:p>
        </p:txBody>
      </p:sp>
      <p:sp>
        <p:nvSpPr>
          <p:cNvPr id="534" name="Google Shape;534;p25"/>
          <p:cNvSpPr txBox="1"/>
          <p:nvPr/>
        </p:nvSpPr>
        <p:spPr>
          <a:xfrm>
            <a:off x="8991600" y="4591050"/>
            <a:ext cx="2381400" cy="157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20" b="0">
                <a:solidFill>
                  <a:srgbClr val="475569"/>
                </a:solidFill>
                <a:latin typeface="Inter"/>
                <a:ea typeface="Inter"/>
                <a:cs typeface="Inter"/>
                <a:sym typeface="Inter"/>
              </a:rPr>
              <a:t>• </a:t>
            </a:r>
            <a:r>
              <a:rPr lang="en-US" sz="820" b="1">
                <a:solidFill>
                  <a:srgbClr val="475569"/>
                </a:solidFill>
                <a:latin typeface="Inter"/>
                <a:ea typeface="Inter"/>
                <a:cs typeface="Inter"/>
                <a:sym typeface="Inter"/>
              </a:rPr>
              <a:t>Legal-BERT Fine-Tuning:</a:t>
            </a:r>
            <a:r>
              <a:rPr lang="en-US" sz="820" b="0">
                <a:solidFill>
                  <a:srgbClr val="475569"/>
                </a:solidFill>
                <a:latin typeface="Inter"/>
                <a:ea typeface="Inter"/>
                <a:cs typeface="Inter"/>
                <a:sym typeface="Inter"/>
              </a:rPr>
              <a:t> Enabled by precise token boundaries of the CUAD answer segments.</a:t>
            </a:r>
            <a:endParaRPr sz="820" b="0">
              <a:solidFill>
                <a:srgbClr val="475569"/>
              </a:solidFill>
              <a:latin typeface="Inter"/>
              <a:ea typeface="Inter"/>
              <a:cs typeface="Inter"/>
              <a:sym typeface="Inter"/>
            </a:endParaRPr>
          </a:p>
          <a:p>
            <a:pPr marL="0" lvl="0" indent="0" algn="l" rtl="0">
              <a:spcBef>
                <a:spcPts val="450"/>
              </a:spcBef>
              <a:spcAft>
                <a:spcPts val="0"/>
              </a:spcAft>
              <a:buNone/>
            </a:pPr>
            <a:r>
              <a:rPr lang="en-US" sz="820" b="0">
                <a:solidFill>
                  <a:srgbClr val="475569"/>
                </a:solidFill>
                <a:latin typeface="Inter"/>
                <a:ea typeface="Inter"/>
                <a:cs typeface="Inter"/>
                <a:sym typeface="Inter"/>
              </a:rPr>
              <a:t>• </a:t>
            </a:r>
            <a:r>
              <a:rPr lang="en-US" sz="820" b="1">
                <a:solidFill>
                  <a:srgbClr val="475569"/>
                </a:solidFill>
                <a:latin typeface="Inter"/>
                <a:ea typeface="Inter"/>
                <a:cs typeface="Inter"/>
                <a:sym typeface="Inter"/>
              </a:rPr>
              <a:t>Document Intelligence:</a:t>
            </a:r>
            <a:r>
              <a:rPr lang="en-US" sz="820" b="0">
                <a:solidFill>
                  <a:srgbClr val="475569"/>
                </a:solidFill>
                <a:latin typeface="Inter"/>
                <a:ea typeface="Inter"/>
                <a:cs typeface="Inter"/>
                <a:sym typeface="Inter"/>
              </a:rPr>
              <a:t> Visual bounding boxes trained over DocLayNet's multi-class pages.</a:t>
            </a:r>
            <a:endParaRPr sz="820" b="0">
              <a:solidFill>
                <a:srgbClr val="475569"/>
              </a:solidFill>
              <a:latin typeface="Inter"/>
              <a:ea typeface="Inter"/>
              <a:cs typeface="Inter"/>
              <a:sym typeface="Inter"/>
            </a:endParaRPr>
          </a:p>
          <a:p>
            <a:pPr marL="0" lvl="0" indent="0" algn="l" rtl="0">
              <a:spcBef>
                <a:spcPts val="450"/>
              </a:spcBef>
              <a:spcAft>
                <a:spcPts val="0"/>
              </a:spcAft>
              <a:buNone/>
            </a:pPr>
            <a:r>
              <a:rPr lang="en-US" sz="820" b="0">
                <a:solidFill>
                  <a:srgbClr val="475569"/>
                </a:solidFill>
                <a:latin typeface="Inter"/>
                <a:ea typeface="Inter"/>
                <a:cs typeface="Inter"/>
                <a:sym typeface="Inter"/>
              </a:rPr>
              <a:t>• </a:t>
            </a:r>
            <a:r>
              <a:rPr lang="en-US" sz="820" b="1">
                <a:solidFill>
                  <a:srgbClr val="475569"/>
                </a:solidFill>
                <a:latin typeface="Inter"/>
                <a:ea typeface="Inter"/>
                <a:cs typeface="Inter"/>
                <a:sym typeface="Inter"/>
              </a:rPr>
              <a:t>RAG Alignment Layer:</a:t>
            </a:r>
            <a:r>
              <a:rPr lang="en-US" sz="820" b="0">
                <a:solidFill>
                  <a:srgbClr val="475569"/>
                </a:solidFill>
                <a:latin typeface="Inter"/>
                <a:ea typeface="Inter"/>
                <a:cs typeface="Inter"/>
                <a:sym typeface="Inter"/>
              </a:rPr>
              <a:t> Live context retrieval evaluated over synthetic internal enterprise policy constraints.</a:t>
            </a:r>
            <a:endParaRPr sz="820" b="0">
              <a:solidFill>
                <a:srgbClr val="475569"/>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66"/>
        <p:cNvGrpSpPr/>
        <p:nvPr/>
      </p:nvGrpSpPr>
      <p:grpSpPr>
        <a:xfrm>
          <a:off x="0" y="0"/>
          <a:ext cx="0" cy="0"/>
          <a:chOff x="0" y="0"/>
          <a:chExt cx="0" cy="0"/>
        </a:xfrm>
      </p:grpSpPr>
      <p:pic>
        <p:nvPicPr>
          <p:cNvPr id="667" name="Google Shape;667;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68" name="Google Shape;668;p36" descr="image.png"/>
          <p:cNvPicPr preferRelativeResize="0"/>
          <p:nvPr/>
        </p:nvPicPr>
        <p:blipFill rotWithShape="1">
          <a:blip r:embed="rId4">
            <a:alphaModFix/>
          </a:blip>
          <a:srcRect/>
          <a:stretch/>
        </p:blipFill>
        <p:spPr>
          <a:xfrm>
            <a:off x="590550" y="1114425"/>
            <a:ext cx="11010900" cy="5248275"/>
          </a:xfrm>
          <a:prstGeom prst="rect">
            <a:avLst/>
          </a:prstGeom>
          <a:noFill/>
          <a:ln>
            <a:noFill/>
          </a:ln>
        </p:spPr>
      </p:pic>
      <p:sp>
        <p:nvSpPr>
          <p:cNvPr id="669" name="Google Shape;669;p36"/>
          <p:cNvSpPr txBox="1"/>
          <p:nvPr/>
        </p:nvSpPr>
        <p:spPr>
          <a:xfrm>
            <a:off x="590550" y="1114425"/>
            <a:ext cx="110109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LegalBERT was fine-tuned on the CUAD dataset (41 clause types). The best checkpoint achieved a validation loss of 0.5088.</a:t>
            </a:r>
            <a:endParaRPr/>
          </a:p>
        </p:txBody>
      </p:sp>
      <p:sp>
        <p:nvSpPr>
          <p:cNvPr id="670" name="Google Shape;670;p36"/>
          <p:cNvSpPr txBox="1"/>
          <p:nvPr/>
        </p:nvSpPr>
        <p:spPr>
          <a:xfrm>
            <a:off x="590550" y="3990975"/>
            <a:ext cx="110109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LegalBERT significantly outperforms rule-based systems (high false negatives) and generic NLP models lacking domain-specific legal vocabulary.</a:t>
            </a:r>
            <a:endParaRPr/>
          </a:p>
        </p:txBody>
      </p:sp>
      <p:sp>
        <p:nvSpPr>
          <p:cNvPr id="671" name="Google Shape;671;p36"/>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Model Evaluation (LegalBERT)</a:t>
            </a:r>
            <a:endParaRPr/>
          </a:p>
        </p:txBody>
      </p:sp>
      <p:sp>
        <p:nvSpPr>
          <p:cNvPr id="672" name="Google Shape;672;p36"/>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76"/>
        <p:cNvGrpSpPr/>
        <p:nvPr/>
      </p:nvGrpSpPr>
      <p:grpSpPr>
        <a:xfrm>
          <a:off x="0" y="0"/>
          <a:ext cx="0" cy="0"/>
          <a:chOff x="0" y="0"/>
          <a:chExt cx="0" cy="0"/>
        </a:xfrm>
      </p:grpSpPr>
      <p:pic>
        <p:nvPicPr>
          <p:cNvPr id="677" name="Google Shape;677;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78" name="Google Shape;678;p37"/>
          <p:cNvSpPr txBox="1"/>
          <p:nvPr/>
        </p:nvSpPr>
        <p:spPr>
          <a:xfrm>
            <a:off x="590550" y="1114425"/>
            <a:ext cx="110109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Quantifying the contribution of each major component to overall system performance.</a:t>
            </a:r>
            <a:endParaRPr/>
          </a:p>
        </p:txBody>
      </p:sp>
      <p:sp>
        <p:nvSpPr>
          <p:cNvPr id="679" name="Google Shape;679;p37"/>
          <p:cNvSpPr txBox="1"/>
          <p:nvPr/>
        </p:nvSpPr>
        <p:spPr>
          <a:xfrm>
            <a:off x="590550" y="4857750"/>
            <a:ext cx="110109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334155"/>
                </a:solidFill>
                <a:latin typeface="Urbanist"/>
                <a:ea typeface="Urbanist"/>
                <a:cs typeface="Urbanist"/>
                <a:sym typeface="Urbanist"/>
              </a:rPr>
              <a:t>Key finding: RAG handles hallucination reduction, LayoutLMv3 handles clause accuracy (19-point drop without it), and Guardrails acts as the final safety net.</a:t>
            </a:r>
            <a:endParaRPr/>
          </a:p>
        </p:txBody>
      </p:sp>
      <p:sp>
        <p:nvSpPr>
          <p:cNvPr id="680" name="Google Shape;680;p37"/>
          <p:cNvSpPr/>
          <p:nvPr/>
        </p:nvSpPr>
        <p:spPr>
          <a:xfrm>
            <a:off x="590550" y="1609725"/>
            <a:ext cx="11010900" cy="310515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681" name="Google Shape;681;p37"/>
          <p:cNvGraphicFramePr/>
          <p:nvPr/>
        </p:nvGraphicFramePr>
        <p:xfrm>
          <a:off x="590550" y="1609725"/>
          <a:ext cx="11001400" cy="3105125"/>
        </p:xfrm>
        <a:graphic>
          <a:graphicData uri="http://schemas.openxmlformats.org/drawingml/2006/table">
            <a:tbl>
              <a:tblPr firstRow="1" bandRow="1">
                <a:noFill/>
                <a:tableStyleId>{FC249B67-7DB8-415B-95D0-D5DF70AE9054}</a:tableStyleId>
              </a:tblPr>
              <a:tblGrid>
                <a:gridCol w="2128550"/>
                <a:gridCol w="1614350"/>
                <a:gridCol w="2135100"/>
                <a:gridCol w="2655825"/>
                <a:gridCol w="2467575"/>
              </a:tblGrid>
              <a:tr h="621025">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Configuration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Clause F1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Retrieval Prec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Hallucination Rate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Urbanist"/>
                          <a:ea typeface="Urbanist"/>
                          <a:cs typeface="Urbanist"/>
                          <a:sym typeface="Urbanist"/>
                        </a:rPr>
                        <a:t>Report Accuracy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r>
              <a:tr h="621025">
                <a:tc>
                  <a:txBody>
                    <a:bodyPr/>
                    <a:lstStyle/>
                    <a:p>
                      <a:pPr marL="0" marR="0" lvl="0" indent="0" algn="l" rtl="0">
                        <a:spcBef>
                          <a:spcPts val="0"/>
                        </a:spcBef>
                        <a:spcAft>
                          <a:spcPts val="0"/>
                        </a:spcAft>
                        <a:buNone/>
                      </a:pPr>
                      <a:r>
                        <a:rPr lang="en-US" sz="1500" b="1" i="0" u="none" strike="noStrike" cap="none">
                          <a:solidFill>
                            <a:srgbClr val="0D9488"/>
                          </a:solidFill>
                          <a:latin typeface="Urbanist"/>
                          <a:ea typeface="Urbanist"/>
                          <a:cs typeface="Urbanist"/>
                          <a:sym typeface="Urbanist"/>
                        </a:rPr>
                        <a:t>Full System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DF4"/>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0.88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DF4"/>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0.94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DF4"/>
                    </a:solidFill>
                  </a:tcPr>
                </a:tc>
                <a:tc>
                  <a:txBody>
                    <a:bodyPr/>
                    <a:lstStyle/>
                    <a:p>
                      <a:pPr marL="0" marR="0" lvl="0" indent="0" algn="l" rtl="0">
                        <a:spcBef>
                          <a:spcPts val="0"/>
                        </a:spcBef>
                        <a:spcAft>
                          <a:spcPts val="0"/>
                        </a:spcAft>
                        <a:buNone/>
                      </a:pPr>
                      <a:r>
                        <a:rPr lang="en-US" sz="1500" b="0" i="0" u="none" strike="noStrike" cap="none">
                          <a:solidFill>
                            <a:srgbClr val="10B981"/>
                          </a:solidFill>
                          <a:latin typeface="Urbanist"/>
                          <a:ea typeface="Urbanist"/>
                          <a:cs typeface="Urbanist"/>
                          <a:sym typeface="Urbanist"/>
                        </a:rPr>
                        <a:t>0.8%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DF4"/>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92.5%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DF4"/>
                    </a:solidFill>
                  </a:tcPr>
                </a:tc>
              </a:tr>
              <a:tr h="621025">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 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0.71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0.61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EF4444"/>
                          </a:solidFill>
                          <a:latin typeface="Urbanist"/>
                          <a:ea typeface="Urbanist"/>
                          <a:cs typeface="Urbanist"/>
                          <a:sym typeface="Urbanist"/>
                        </a:rPr>
                        <a:t>4.5%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68.2%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1025">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 LayoutLMv3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EF4444"/>
                          </a:solidFill>
                          <a:latin typeface="Urbanist"/>
                          <a:ea typeface="Urbanist"/>
                          <a:cs typeface="Urbanist"/>
                          <a:sym typeface="Urbanist"/>
                        </a:rPr>
                        <a:t>0.69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0.82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1.2%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78.4%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1025">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 Guardrails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0.88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0.94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EF4444"/>
                          </a:solidFill>
                          <a:latin typeface="Urbanist"/>
                          <a:ea typeface="Urbanist"/>
                          <a:cs typeface="Urbanist"/>
                          <a:sym typeface="Urbanist"/>
                        </a:rPr>
                        <a:t>4.2%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85.3%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682" name="Google Shape;682;p37"/>
          <p:cNvSpPr/>
          <p:nvPr/>
        </p:nvSpPr>
        <p:spPr>
          <a:xfrm>
            <a:off x="595312" y="2224087"/>
            <a:ext cx="212853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83" name="Google Shape;683;p37"/>
          <p:cNvSpPr/>
          <p:nvPr/>
        </p:nvSpPr>
        <p:spPr>
          <a:xfrm>
            <a:off x="2723852" y="2224087"/>
            <a:ext cx="161433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84" name="Google Shape;684;p37"/>
          <p:cNvSpPr/>
          <p:nvPr/>
        </p:nvSpPr>
        <p:spPr>
          <a:xfrm>
            <a:off x="4338191" y="2224087"/>
            <a:ext cx="213508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85" name="Google Shape;685;p37"/>
          <p:cNvSpPr/>
          <p:nvPr/>
        </p:nvSpPr>
        <p:spPr>
          <a:xfrm>
            <a:off x="6473279" y="2224087"/>
            <a:ext cx="26558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86" name="Google Shape;686;p37"/>
          <p:cNvSpPr/>
          <p:nvPr/>
        </p:nvSpPr>
        <p:spPr>
          <a:xfrm>
            <a:off x="9129117" y="2224087"/>
            <a:ext cx="246757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87" name="Google Shape;687;p37"/>
          <p:cNvSpPr/>
          <p:nvPr/>
        </p:nvSpPr>
        <p:spPr>
          <a:xfrm>
            <a:off x="595312" y="2843212"/>
            <a:ext cx="212853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88" name="Google Shape;688;p37"/>
          <p:cNvSpPr/>
          <p:nvPr/>
        </p:nvSpPr>
        <p:spPr>
          <a:xfrm>
            <a:off x="2723852" y="2843212"/>
            <a:ext cx="161433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89" name="Google Shape;689;p37"/>
          <p:cNvSpPr/>
          <p:nvPr/>
        </p:nvSpPr>
        <p:spPr>
          <a:xfrm>
            <a:off x="4338191" y="2843212"/>
            <a:ext cx="213508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0" name="Google Shape;690;p37"/>
          <p:cNvSpPr/>
          <p:nvPr/>
        </p:nvSpPr>
        <p:spPr>
          <a:xfrm>
            <a:off x="6473279" y="2843212"/>
            <a:ext cx="26558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1" name="Google Shape;691;p37"/>
          <p:cNvSpPr/>
          <p:nvPr/>
        </p:nvSpPr>
        <p:spPr>
          <a:xfrm>
            <a:off x="9129117" y="2843212"/>
            <a:ext cx="246757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2" name="Google Shape;692;p37"/>
          <p:cNvSpPr/>
          <p:nvPr/>
        </p:nvSpPr>
        <p:spPr>
          <a:xfrm>
            <a:off x="595312" y="3462337"/>
            <a:ext cx="212853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3" name="Google Shape;693;p37"/>
          <p:cNvSpPr/>
          <p:nvPr/>
        </p:nvSpPr>
        <p:spPr>
          <a:xfrm>
            <a:off x="2723852" y="3462337"/>
            <a:ext cx="161433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4" name="Google Shape;694;p37"/>
          <p:cNvSpPr/>
          <p:nvPr/>
        </p:nvSpPr>
        <p:spPr>
          <a:xfrm>
            <a:off x="4338191" y="3462337"/>
            <a:ext cx="213508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5" name="Google Shape;695;p37"/>
          <p:cNvSpPr/>
          <p:nvPr/>
        </p:nvSpPr>
        <p:spPr>
          <a:xfrm>
            <a:off x="6473279" y="3462337"/>
            <a:ext cx="26558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6" name="Google Shape;696;p37"/>
          <p:cNvSpPr/>
          <p:nvPr/>
        </p:nvSpPr>
        <p:spPr>
          <a:xfrm>
            <a:off x="9129117" y="3462337"/>
            <a:ext cx="246757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7" name="Google Shape;697;p37"/>
          <p:cNvSpPr/>
          <p:nvPr/>
        </p:nvSpPr>
        <p:spPr>
          <a:xfrm>
            <a:off x="595312" y="4081462"/>
            <a:ext cx="212853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8" name="Google Shape;698;p37"/>
          <p:cNvSpPr/>
          <p:nvPr/>
        </p:nvSpPr>
        <p:spPr>
          <a:xfrm>
            <a:off x="2723852" y="4081462"/>
            <a:ext cx="161433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9" name="Google Shape;699;p37"/>
          <p:cNvSpPr/>
          <p:nvPr/>
        </p:nvSpPr>
        <p:spPr>
          <a:xfrm>
            <a:off x="4338191" y="4081462"/>
            <a:ext cx="213508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00" name="Google Shape;700;p37"/>
          <p:cNvSpPr/>
          <p:nvPr/>
        </p:nvSpPr>
        <p:spPr>
          <a:xfrm>
            <a:off x="6473279" y="4081462"/>
            <a:ext cx="26558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01" name="Google Shape;701;p37"/>
          <p:cNvSpPr/>
          <p:nvPr/>
        </p:nvSpPr>
        <p:spPr>
          <a:xfrm>
            <a:off x="9129117" y="4081462"/>
            <a:ext cx="246757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02" name="Google Shape;702;p37"/>
          <p:cNvSpPr txBox="1"/>
          <p:nvPr/>
        </p:nvSpPr>
        <p:spPr>
          <a:xfrm>
            <a:off x="590550" y="495300"/>
            <a:ext cx="11561445" cy="476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Urbanist"/>
                <a:ea typeface="Urbanist"/>
                <a:cs typeface="Urbanist"/>
                <a:sym typeface="Urbanist"/>
              </a:rPr>
              <a:t>Ablation Study &amp; Analysis</a:t>
            </a:r>
            <a:endParaRPr/>
          </a:p>
        </p:txBody>
      </p:sp>
      <p:sp>
        <p:nvSpPr>
          <p:cNvPr id="703" name="Google Shape;703;p37"/>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7"/>
        <p:cNvGrpSpPr/>
        <p:nvPr/>
      </p:nvGrpSpPr>
      <p:grpSpPr>
        <a:xfrm>
          <a:off x="0" y="0"/>
          <a:ext cx="0" cy="0"/>
          <a:chOff x="0" y="0"/>
          <a:chExt cx="0" cy="0"/>
        </a:xfrm>
      </p:grpSpPr>
      <p:pic>
        <p:nvPicPr>
          <p:cNvPr id="708" name="Google Shape;708;p38"/>
          <p:cNvPicPr preferRelativeResize="0"/>
          <p:nvPr/>
        </p:nvPicPr>
        <p:blipFill rotWithShape="1">
          <a:blip r:embed="rId4">
            <a:alphaModFix/>
          </a:blip>
          <a:srcRect/>
          <a:stretch/>
        </p:blipFill>
        <p:spPr>
          <a:xfrm>
            <a:off x="0" y="0"/>
            <a:ext cx="12192000" cy="6858000"/>
          </a:xfrm>
          <a:prstGeom prst="rect">
            <a:avLst/>
          </a:prstGeom>
          <a:noFill/>
          <a:ln>
            <a:noFill/>
          </a:ln>
        </p:spPr>
      </p:pic>
      <p:grpSp>
        <p:nvGrpSpPr>
          <p:cNvPr id="709" name="Google Shape;709;p38"/>
          <p:cNvGrpSpPr/>
          <p:nvPr/>
        </p:nvGrpSpPr>
        <p:grpSpPr>
          <a:xfrm>
            <a:off x="590550" y="495300"/>
            <a:ext cx="11010900" cy="619275"/>
            <a:chOff x="590550" y="495300"/>
            <a:chExt cx="11010900" cy="619275"/>
          </a:xfrm>
        </p:grpSpPr>
        <p:sp>
          <p:nvSpPr>
            <p:cNvPr id="710" name="Google Shape;710;p38"/>
            <p:cNvSpPr txBox="1"/>
            <p:nvPr/>
          </p:nvSpPr>
          <p:spPr>
            <a:xfrm>
              <a:off x="590550" y="495300"/>
              <a:ext cx="11010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300"/>
                </a:spcAft>
                <a:buNone/>
              </a:pPr>
              <a:r>
                <a:rPr lang="en-US" sz="3000" b="1">
                  <a:solidFill>
                    <a:srgbClr val="0F172A"/>
                  </a:solidFill>
                  <a:latin typeface="Urbanist"/>
                  <a:ea typeface="Urbanist"/>
                  <a:cs typeface="Urbanist"/>
                  <a:sym typeface="Urbanist"/>
                </a:rPr>
                <a:t>System Limitations</a:t>
              </a:r>
              <a:endParaRPr sz="3000" b="1">
                <a:solidFill>
                  <a:srgbClr val="0F172A"/>
                </a:solidFill>
                <a:latin typeface="Urbanist"/>
                <a:ea typeface="Urbanist"/>
                <a:cs typeface="Urbanist"/>
                <a:sym typeface="Urbanist"/>
              </a:endParaRPr>
            </a:p>
          </p:txBody>
        </p:sp>
        <p:sp>
          <p:nvSpPr>
            <p:cNvPr id="711" name="Google Shape;711;p38"/>
            <p:cNvSpPr/>
            <p:nvPr/>
          </p:nvSpPr>
          <p:spPr>
            <a:xfrm>
              <a:off x="590550" y="1095375"/>
              <a:ext cx="11010900" cy="192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712" name="Google Shape;712;p38"/>
          <p:cNvGrpSpPr/>
          <p:nvPr/>
        </p:nvGrpSpPr>
        <p:grpSpPr>
          <a:xfrm>
            <a:off x="590550" y="1381125"/>
            <a:ext cx="3476700" cy="2333700"/>
            <a:chOff x="590550" y="1381125"/>
            <a:chExt cx="3476700" cy="2333700"/>
          </a:xfrm>
        </p:grpSpPr>
        <p:sp>
          <p:nvSpPr>
            <p:cNvPr id="713" name="Google Shape;713;p38"/>
            <p:cNvSpPr/>
            <p:nvPr/>
          </p:nvSpPr>
          <p:spPr>
            <a:xfrm>
              <a:off x="590550" y="1381125"/>
              <a:ext cx="3476700" cy="2333700"/>
            </a:xfrm>
            <a:prstGeom prst="roundRect">
              <a:avLst>
                <a:gd name="adj" fmla="val 4897"/>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4" name="Google Shape;714;p38"/>
            <p:cNvSpPr/>
            <p:nvPr/>
          </p:nvSpPr>
          <p:spPr>
            <a:xfrm>
              <a:off x="590550" y="1381125"/>
              <a:ext cx="3476700" cy="400200"/>
            </a:xfrm>
            <a:prstGeom prst="roundRect">
              <a:avLst>
                <a:gd name="adj" fmla="val 28571"/>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15" name="Google Shape;715;p38"/>
            <p:cNvPicPr preferRelativeResize="0"/>
            <p:nvPr/>
          </p:nvPicPr>
          <p:blipFill rotWithShape="1">
            <a:blip r:embed="rId5">
              <a:alphaModFix/>
            </a:blip>
            <a:srcRect/>
            <a:stretch/>
          </p:blipFill>
          <p:spPr>
            <a:xfrm>
              <a:off x="590550" y="1662113"/>
              <a:ext cx="3476700" cy="9600"/>
            </a:xfrm>
            <a:prstGeom prst="rect">
              <a:avLst/>
            </a:prstGeom>
            <a:noFill/>
            <a:ln>
              <a:noFill/>
            </a:ln>
          </p:spPr>
        </p:pic>
        <p:sp>
          <p:nvSpPr>
            <p:cNvPr id="716" name="Google Shape;716;p38"/>
            <p:cNvSpPr txBox="1"/>
            <p:nvPr/>
          </p:nvSpPr>
          <p:spPr>
            <a:xfrm>
              <a:off x="781050" y="1476375"/>
              <a:ext cx="30957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300"/>
                </a:spcAft>
                <a:buNone/>
              </a:pPr>
              <a:r>
                <a:rPr lang="en-US" sz="1480" b="0">
                  <a:solidFill>
                    <a:srgbClr val="0F172A"/>
                  </a:solidFill>
                  <a:latin typeface="Urbanist SemiBold"/>
                  <a:ea typeface="Urbanist SemiBold"/>
                  <a:cs typeface="Urbanist SemiBold"/>
                  <a:sym typeface="Urbanist SemiBold"/>
                </a:rPr>
                <a:t>Data &amp; Extraction Quality</a:t>
              </a:r>
              <a:endParaRPr sz="1480" b="0">
                <a:solidFill>
                  <a:srgbClr val="0F172A"/>
                </a:solidFill>
                <a:latin typeface="Urbanist SemiBold"/>
                <a:ea typeface="Urbanist SemiBold"/>
                <a:cs typeface="Urbanist SemiBold"/>
                <a:sym typeface="Urbanist SemiBold"/>
              </a:endParaRPr>
            </a:p>
          </p:txBody>
        </p:sp>
        <p:sp>
          <p:nvSpPr>
            <p:cNvPr id="717" name="Google Shape;717;p38"/>
            <p:cNvSpPr txBox="1"/>
            <p:nvPr/>
          </p:nvSpPr>
          <p:spPr>
            <a:xfrm>
              <a:off x="781050" y="1924050"/>
              <a:ext cx="3095700" cy="1666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50" b="0">
                  <a:solidFill>
                    <a:srgbClr val="0F172A"/>
                  </a:solidFill>
                  <a:latin typeface="Urbanist SemiBold"/>
                  <a:ea typeface="Urbanist SemiBold"/>
                  <a:cs typeface="Urbanist SemiBold"/>
                  <a:sym typeface="Urbanist SemiBold"/>
                </a:rPr>
                <a:t>OCR Quality Limitations:</a:t>
              </a:r>
              <a:r>
                <a:rPr lang="en-US" sz="1150" b="0">
                  <a:solidFill>
                    <a:srgbClr val="334155"/>
                  </a:solidFill>
                  <a:latin typeface="Urbanist"/>
                  <a:ea typeface="Urbanist"/>
                  <a:cs typeface="Urbanist"/>
                  <a:sym typeface="Urbanist"/>
                </a:rPr>
                <a:t> Document understanding depends heavily on OCR accuracy, particularly for scanned or low-resolution documents.</a:t>
              </a:r>
              <a:endParaRPr sz="1150" b="0">
                <a:solidFill>
                  <a:srgbClr val="334155"/>
                </a:solidFill>
                <a:latin typeface="Urbanist"/>
                <a:ea typeface="Urbanist"/>
                <a:cs typeface="Urbanist"/>
                <a:sym typeface="Urbanist"/>
              </a:endParaRPr>
            </a:p>
            <a:p>
              <a:pPr marL="0" lvl="0" indent="0" algn="l" rtl="0">
                <a:spcBef>
                  <a:spcPts val="750"/>
                </a:spcBef>
                <a:spcAft>
                  <a:spcPts val="300"/>
                </a:spcAft>
                <a:buNone/>
              </a:pPr>
              <a:r>
                <a:rPr lang="en-US" sz="1150" b="0">
                  <a:solidFill>
                    <a:srgbClr val="0F172A"/>
                  </a:solidFill>
                  <a:latin typeface="Urbanist SemiBold"/>
                  <a:ea typeface="Urbanist SemiBold"/>
                  <a:cs typeface="Urbanist SemiBold"/>
                  <a:sym typeface="Urbanist SemiBold"/>
                </a:rPr>
                <a:t>Impact:</a:t>
              </a:r>
              <a:r>
                <a:rPr lang="en-US" sz="1150" b="0">
                  <a:solidFill>
                    <a:srgbClr val="334155"/>
                  </a:solidFill>
                  <a:latin typeface="Urbanist"/>
                  <a:ea typeface="Urbanist"/>
                  <a:cs typeface="Urbanist"/>
                  <a:sym typeface="Urbanist"/>
                </a:rPr>
                <a:t> May reduce extraction and interpretation quality for poor-quality scans.</a:t>
              </a:r>
              <a:endParaRPr sz="1150" b="0">
                <a:solidFill>
                  <a:srgbClr val="334155"/>
                </a:solidFill>
                <a:latin typeface="Urbanist"/>
                <a:ea typeface="Urbanist"/>
                <a:cs typeface="Urbanist"/>
                <a:sym typeface="Urbanist"/>
              </a:endParaRPr>
            </a:p>
          </p:txBody>
        </p:sp>
      </p:grpSp>
      <p:grpSp>
        <p:nvGrpSpPr>
          <p:cNvPr id="718" name="Google Shape;718;p38"/>
          <p:cNvGrpSpPr/>
          <p:nvPr/>
        </p:nvGrpSpPr>
        <p:grpSpPr>
          <a:xfrm>
            <a:off x="4352925" y="1381125"/>
            <a:ext cx="3476700" cy="2333700"/>
            <a:chOff x="4352925" y="1381125"/>
            <a:chExt cx="3476700" cy="2333700"/>
          </a:xfrm>
        </p:grpSpPr>
        <p:sp>
          <p:nvSpPr>
            <p:cNvPr id="719" name="Google Shape;719;p38"/>
            <p:cNvSpPr/>
            <p:nvPr/>
          </p:nvSpPr>
          <p:spPr>
            <a:xfrm>
              <a:off x="4352925" y="1381125"/>
              <a:ext cx="3476700" cy="2333700"/>
            </a:xfrm>
            <a:prstGeom prst="roundRect">
              <a:avLst>
                <a:gd name="adj" fmla="val 4897"/>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0" name="Google Shape;720;p38"/>
            <p:cNvSpPr/>
            <p:nvPr/>
          </p:nvSpPr>
          <p:spPr>
            <a:xfrm>
              <a:off x="4352925" y="1381125"/>
              <a:ext cx="3476700" cy="400200"/>
            </a:xfrm>
            <a:prstGeom prst="roundRect">
              <a:avLst>
                <a:gd name="adj" fmla="val 28571"/>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21" name="Google Shape;721;p38"/>
            <p:cNvPicPr preferRelativeResize="0"/>
            <p:nvPr/>
          </p:nvPicPr>
          <p:blipFill rotWithShape="1">
            <a:blip r:embed="rId5">
              <a:alphaModFix/>
            </a:blip>
            <a:srcRect/>
            <a:stretch/>
          </p:blipFill>
          <p:spPr>
            <a:xfrm>
              <a:off x="4352925" y="1662113"/>
              <a:ext cx="3476700" cy="9600"/>
            </a:xfrm>
            <a:prstGeom prst="rect">
              <a:avLst/>
            </a:prstGeom>
            <a:noFill/>
            <a:ln>
              <a:noFill/>
            </a:ln>
          </p:spPr>
        </p:pic>
        <p:sp>
          <p:nvSpPr>
            <p:cNvPr id="722" name="Google Shape;722;p38"/>
            <p:cNvSpPr txBox="1"/>
            <p:nvPr/>
          </p:nvSpPr>
          <p:spPr>
            <a:xfrm>
              <a:off x="4543425" y="1476375"/>
              <a:ext cx="30957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300"/>
                </a:spcAft>
                <a:buNone/>
              </a:pPr>
              <a:r>
                <a:rPr lang="en-US" sz="1480" b="0">
                  <a:solidFill>
                    <a:srgbClr val="0F172A"/>
                  </a:solidFill>
                  <a:latin typeface="Urbanist SemiBold"/>
                  <a:ea typeface="Urbanist SemiBold"/>
                  <a:cs typeface="Urbanist SemiBold"/>
                  <a:sym typeface="Urbanist SemiBold"/>
                </a:rPr>
                <a:t>Regulatory &amp; Integration Scope</a:t>
              </a:r>
              <a:endParaRPr sz="1480" b="0">
                <a:solidFill>
                  <a:srgbClr val="0F172A"/>
                </a:solidFill>
                <a:latin typeface="Urbanist SemiBold"/>
                <a:ea typeface="Urbanist SemiBold"/>
                <a:cs typeface="Urbanist SemiBold"/>
                <a:sym typeface="Urbanist SemiBold"/>
              </a:endParaRPr>
            </a:p>
          </p:txBody>
        </p:sp>
        <p:sp>
          <p:nvSpPr>
            <p:cNvPr id="723" name="Google Shape;723;p38"/>
            <p:cNvSpPr txBox="1"/>
            <p:nvPr/>
          </p:nvSpPr>
          <p:spPr>
            <a:xfrm>
              <a:off x="4543425" y="1924050"/>
              <a:ext cx="3095700" cy="1666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50" b="0">
                  <a:solidFill>
                    <a:srgbClr val="0F172A"/>
                  </a:solidFill>
                  <a:latin typeface="Urbanist SemiBold"/>
                  <a:ea typeface="Urbanist SemiBold"/>
                  <a:cs typeface="Urbanist SemiBold"/>
                  <a:sym typeface="Urbanist SemiBold"/>
                </a:rPr>
                <a:t>Single Regulatory Context:</a:t>
              </a:r>
              <a:r>
                <a:rPr lang="en-US" sz="1150" b="0">
                  <a:solidFill>
                    <a:srgbClr val="334155"/>
                  </a:solidFill>
                  <a:latin typeface="Urbanist"/>
                  <a:ea typeface="Urbanist"/>
                  <a:cs typeface="Urbanist"/>
                  <a:sym typeface="Urbanist"/>
                </a:rPr>
                <a:t> Current implementation focuses strictly on RBI regulations (Indian context).</a:t>
              </a:r>
              <a:endParaRPr sz="1150" b="0">
                <a:solidFill>
                  <a:srgbClr val="334155"/>
                </a:solidFill>
                <a:latin typeface="Urbanist"/>
                <a:ea typeface="Urbanist"/>
                <a:cs typeface="Urbanist"/>
                <a:sym typeface="Urbanist"/>
              </a:endParaRPr>
            </a:p>
            <a:p>
              <a:pPr marL="0" lvl="0" indent="0" algn="l" rtl="0">
                <a:spcBef>
                  <a:spcPts val="750"/>
                </a:spcBef>
                <a:spcAft>
                  <a:spcPts val="0"/>
                </a:spcAft>
                <a:buNone/>
              </a:pPr>
              <a:r>
                <a:rPr lang="en-US" sz="1150" b="0">
                  <a:solidFill>
                    <a:srgbClr val="0F172A"/>
                  </a:solidFill>
                  <a:latin typeface="Urbanist SemiBold"/>
                  <a:ea typeface="Urbanist SemiBold"/>
                  <a:cs typeface="Urbanist SemiBold"/>
                  <a:sym typeface="Urbanist SemiBold"/>
                </a:rPr>
                <a:t>MCP Tool Coverage:</a:t>
              </a:r>
              <a:r>
                <a:rPr lang="en-US" sz="1150" b="0">
                  <a:solidFill>
                    <a:srgbClr val="334155"/>
                  </a:solidFill>
                  <a:latin typeface="Urbanist"/>
                  <a:ea typeface="Urbanist"/>
                  <a:cs typeface="Urbanist"/>
                  <a:sym typeface="Urbanist"/>
                </a:rPr>
                <a:t> Enterprise tools rely on simulated policy data and public RBI feeds.</a:t>
              </a:r>
              <a:endParaRPr sz="1150" b="0">
                <a:solidFill>
                  <a:srgbClr val="334155"/>
                </a:solidFill>
                <a:latin typeface="Urbanist"/>
                <a:ea typeface="Urbanist"/>
                <a:cs typeface="Urbanist"/>
                <a:sym typeface="Urbanist"/>
              </a:endParaRPr>
            </a:p>
            <a:p>
              <a:pPr marL="0" lvl="0" indent="0" algn="l" rtl="0">
                <a:spcBef>
                  <a:spcPts val="750"/>
                </a:spcBef>
                <a:spcAft>
                  <a:spcPts val="300"/>
                </a:spcAft>
                <a:buNone/>
              </a:pPr>
              <a:r>
                <a:rPr lang="en-US" sz="1150" b="0">
                  <a:solidFill>
                    <a:srgbClr val="0F172A"/>
                  </a:solidFill>
                  <a:latin typeface="Urbanist SemiBold"/>
                  <a:ea typeface="Urbanist SemiBold"/>
                  <a:cs typeface="Urbanist SemiBold"/>
                  <a:sym typeface="Urbanist SemiBold"/>
                </a:rPr>
                <a:t>Impact:</a:t>
              </a:r>
              <a:r>
                <a:rPr lang="en-US" sz="1150" b="0">
                  <a:solidFill>
                    <a:srgbClr val="334155"/>
                  </a:solidFill>
                  <a:latin typeface="Urbanist"/>
                  <a:ea typeface="Urbanist"/>
                  <a:cs typeface="Urbanist"/>
                  <a:sym typeface="Urbanist"/>
                </a:rPr>
                <a:t> Adaptation is required for other jurisdictions (EU, US, UK), and full integration needs direct internal policy connections.</a:t>
              </a:r>
              <a:endParaRPr sz="1150" b="0">
                <a:solidFill>
                  <a:srgbClr val="334155"/>
                </a:solidFill>
                <a:latin typeface="Urbanist"/>
                <a:ea typeface="Urbanist"/>
                <a:cs typeface="Urbanist"/>
                <a:sym typeface="Urbanist"/>
              </a:endParaRPr>
            </a:p>
          </p:txBody>
        </p:sp>
      </p:grpSp>
      <p:grpSp>
        <p:nvGrpSpPr>
          <p:cNvPr id="724" name="Google Shape;724;p38"/>
          <p:cNvGrpSpPr/>
          <p:nvPr/>
        </p:nvGrpSpPr>
        <p:grpSpPr>
          <a:xfrm>
            <a:off x="8115300" y="1381125"/>
            <a:ext cx="3486300" cy="2333700"/>
            <a:chOff x="8115300" y="1381125"/>
            <a:chExt cx="3486300" cy="2333700"/>
          </a:xfrm>
        </p:grpSpPr>
        <p:sp>
          <p:nvSpPr>
            <p:cNvPr id="725" name="Google Shape;725;p38"/>
            <p:cNvSpPr/>
            <p:nvPr/>
          </p:nvSpPr>
          <p:spPr>
            <a:xfrm>
              <a:off x="8115300" y="1381125"/>
              <a:ext cx="3486300" cy="2333700"/>
            </a:xfrm>
            <a:prstGeom prst="roundRect">
              <a:avLst>
                <a:gd name="adj" fmla="val 4897"/>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6" name="Google Shape;726;p38"/>
            <p:cNvSpPr/>
            <p:nvPr/>
          </p:nvSpPr>
          <p:spPr>
            <a:xfrm>
              <a:off x="8115300" y="1381125"/>
              <a:ext cx="3486300" cy="400200"/>
            </a:xfrm>
            <a:prstGeom prst="roundRect">
              <a:avLst>
                <a:gd name="adj" fmla="val 28571"/>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27" name="Google Shape;727;p38"/>
            <p:cNvPicPr preferRelativeResize="0"/>
            <p:nvPr/>
          </p:nvPicPr>
          <p:blipFill rotWithShape="1">
            <a:blip r:embed="rId6">
              <a:alphaModFix/>
            </a:blip>
            <a:srcRect/>
            <a:stretch/>
          </p:blipFill>
          <p:spPr>
            <a:xfrm>
              <a:off x="8115300" y="1662113"/>
              <a:ext cx="3486300" cy="9600"/>
            </a:xfrm>
            <a:prstGeom prst="rect">
              <a:avLst/>
            </a:prstGeom>
            <a:noFill/>
            <a:ln>
              <a:noFill/>
            </a:ln>
          </p:spPr>
        </p:pic>
        <p:sp>
          <p:nvSpPr>
            <p:cNvPr id="728" name="Google Shape;728;p38"/>
            <p:cNvSpPr txBox="1"/>
            <p:nvPr/>
          </p:nvSpPr>
          <p:spPr>
            <a:xfrm>
              <a:off x="8305800" y="1476375"/>
              <a:ext cx="31053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300"/>
                </a:spcAft>
                <a:buNone/>
              </a:pPr>
              <a:r>
                <a:rPr lang="en-US" sz="1480" b="0">
                  <a:solidFill>
                    <a:srgbClr val="0F172A"/>
                  </a:solidFill>
                  <a:latin typeface="Urbanist SemiBold"/>
                  <a:ea typeface="Urbanist SemiBold"/>
                  <a:cs typeface="Urbanist SemiBold"/>
                  <a:sym typeface="Urbanist SemiBold"/>
                </a:rPr>
                <a:t>Scale &amp; Deployment</a:t>
              </a:r>
              <a:endParaRPr sz="1480" b="0">
                <a:solidFill>
                  <a:srgbClr val="0F172A"/>
                </a:solidFill>
                <a:latin typeface="Urbanist SemiBold"/>
                <a:ea typeface="Urbanist SemiBold"/>
                <a:cs typeface="Urbanist SemiBold"/>
                <a:sym typeface="Urbanist SemiBold"/>
              </a:endParaRPr>
            </a:p>
          </p:txBody>
        </p:sp>
        <p:sp>
          <p:nvSpPr>
            <p:cNvPr id="729" name="Google Shape;729;p38"/>
            <p:cNvSpPr txBox="1"/>
            <p:nvPr/>
          </p:nvSpPr>
          <p:spPr>
            <a:xfrm>
              <a:off x="8305800" y="1924050"/>
              <a:ext cx="3105300" cy="1666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50" b="0">
                  <a:solidFill>
                    <a:srgbClr val="0F172A"/>
                  </a:solidFill>
                  <a:latin typeface="Urbanist SemiBold"/>
                  <a:ea typeface="Urbanist SemiBold"/>
                  <a:cs typeface="Urbanist SemiBold"/>
                  <a:sym typeface="Urbanist SemiBold"/>
                </a:rPr>
                <a:t>Production Deployment:</a:t>
              </a:r>
              <a:r>
                <a:rPr lang="en-US" sz="1150" b="0">
                  <a:solidFill>
                    <a:srgbClr val="334155"/>
                  </a:solidFill>
                  <a:latin typeface="Urbanist"/>
                  <a:ea typeface="Urbanist"/>
                  <a:cs typeface="Urbanist"/>
                  <a:sym typeface="Urbanist"/>
                </a:rPr>
                <a:t> Platform has not been deployed in a live, production banking environment.</a:t>
              </a:r>
              <a:endParaRPr sz="1150" b="0">
                <a:solidFill>
                  <a:srgbClr val="334155"/>
                </a:solidFill>
                <a:latin typeface="Urbanist"/>
                <a:ea typeface="Urbanist"/>
                <a:cs typeface="Urbanist"/>
                <a:sym typeface="Urbanist"/>
              </a:endParaRPr>
            </a:p>
            <a:p>
              <a:pPr marL="0" lvl="0" indent="0" algn="l" rtl="0">
                <a:spcBef>
                  <a:spcPts val="750"/>
                </a:spcBef>
                <a:spcAft>
                  <a:spcPts val="0"/>
                </a:spcAft>
                <a:buNone/>
              </a:pPr>
              <a:r>
                <a:rPr lang="en-US" sz="1150" b="0">
                  <a:solidFill>
                    <a:srgbClr val="0F172A"/>
                  </a:solidFill>
                  <a:latin typeface="Urbanist SemiBold"/>
                  <a:ea typeface="Urbanist SemiBold"/>
                  <a:cs typeface="Urbanist SemiBold"/>
                  <a:sym typeface="Urbanist SemiBold"/>
                </a:rPr>
                <a:t>Evaluation Scale:</a:t>
              </a:r>
              <a:r>
                <a:rPr lang="en-US" sz="1150" b="0">
                  <a:solidFill>
                    <a:srgbClr val="334155"/>
                  </a:solidFill>
                  <a:latin typeface="Urbanist"/>
                  <a:ea typeface="Urbanist"/>
                  <a:cs typeface="Urbanist"/>
                  <a:sym typeface="Urbanist"/>
                </a:rPr>
                <a:t> Benchmarks relied on publicly available or synthetic data, with limited access to proprietary files.</a:t>
              </a:r>
              <a:endParaRPr sz="1150" b="0">
                <a:solidFill>
                  <a:srgbClr val="334155"/>
                </a:solidFill>
                <a:latin typeface="Urbanist"/>
                <a:ea typeface="Urbanist"/>
                <a:cs typeface="Urbanist"/>
                <a:sym typeface="Urbanist"/>
              </a:endParaRPr>
            </a:p>
            <a:p>
              <a:pPr marL="0" lvl="0" indent="0" algn="l" rtl="0">
                <a:spcBef>
                  <a:spcPts val="750"/>
                </a:spcBef>
                <a:spcAft>
                  <a:spcPts val="300"/>
                </a:spcAft>
                <a:buNone/>
              </a:pPr>
              <a:r>
                <a:rPr lang="en-US" sz="1150" b="0">
                  <a:solidFill>
                    <a:srgbClr val="0F172A"/>
                  </a:solidFill>
                  <a:latin typeface="Urbanist SemiBold"/>
                  <a:ea typeface="Urbanist SemiBold"/>
                  <a:cs typeface="Urbanist SemiBold"/>
                  <a:sym typeface="Urbanist SemiBold"/>
                </a:rPr>
                <a:t>Impact:</a:t>
              </a:r>
              <a:r>
                <a:rPr lang="en-US" sz="1150" b="0">
                  <a:solidFill>
                    <a:srgbClr val="334155"/>
                  </a:solidFill>
                  <a:latin typeface="Urbanist"/>
                  <a:ea typeface="Urbanist"/>
                  <a:cs typeface="Urbanist"/>
                  <a:sym typeface="Urbanist"/>
                </a:rPr>
                <a:t> Live system performance and behavior may differ from experimental results.</a:t>
              </a:r>
              <a:endParaRPr sz="1150" b="0">
                <a:solidFill>
                  <a:srgbClr val="334155"/>
                </a:solidFill>
                <a:latin typeface="Urbanist"/>
                <a:ea typeface="Urbanist"/>
                <a:cs typeface="Urbanist"/>
                <a:sym typeface="Urbanist"/>
              </a:endParaRPr>
            </a:p>
          </p:txBody>
        </p:sp>
      </p:grpSp>
      <p:grpSp>
        <p:nvGrpSpPr>
          <p:cNvPr id="730" name="Google Shape;730;p38"/>
          <p:cNvGrpSpPr/>
          <p:nvPr/>
        </p:nvGrpSpPr>
        <p:grpSpPr>
          <a:xfrm>
            <a:off x="590550" y="3952875"/>
            <a:ext cx="11010900" cy="2333700"/>
            <a:chOff x="590550" y="3952875"/>
            <a:chExt cx="11010900" cy="2333700"/>
          </a:xfrm>
        </p:grpSpPr>
        <p:sp>
          <p:nvSpPr>
            <p:cNvPr id="731" name="Google Shape;731;p38"/>
            <p:cNvSpPr/>
            <p:nvPr/>
          </p:nvSpPr>
          <p:spPr>
            <a:xfrm>
              <a:off x="590550" y="3952875"/>
              <a:ext cx="11010900" cy="2333700"/>
            </a:xfrm>
            <a:prstGeom prst="roundRect">
              <a:avLst>
                <a:gd name="adj" fmla="val 4897"/>
              </a:avLst>
            </a:prstGeom>
            <a:solidFill>
              <a:srgbClr val="FFFBEB"/>
            </a:solidFill>
            <a:ln w="14300" cap="flat" cmpd="sng">
              <a:solidFill>
                <a:srgbClr val="FDE68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2" name="Google Shape;732;p38"/>
            <p:cNvSpPr/>
            <p:nvPr/>
          </p:nvSpPr>
          <p:spPr>
            <a:xfrm>
              <a:off x="590550" y="3952875"/>
              <a:ext cx="11010900" cy="400200"/>
            </a:xfrm>
            <a:prstGeom prst="roundRect">
              <a:avLst>
                <a:gd name="adj" fmla="val 28571"/>
              </a:avLst>
            </a:prstGeom>
            <a:solidFill>
              <a:srgbClr val="FEF3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33" name="Google Shape;733;p38"/>
            <p:cNvPicPr preferRelativeResize="0"/>
            <p:nvPr/>
          </p:nvPicPr>
          <p:blipFill rotWithShape="1">
            <a:blip r:embed="rId7">
              <a:alphaModFix/>
            </a:blip>
            <a:srcRect/>
            <a:stretch/>
          </p:blipFill>
          <p:spPr>
            <a:xfrm>
              <a:off x="590550" y="4229100"/>
              <a:ext cx="11010900" cy="19200"/>
            </a:xfrm>
            <a:prstGeom prst="rect">
              <a:avLst/>
            </a:prstGeom>
            <a:noFill/>
            <a:ln>
              <a:noFill/>
            </a:ln>
          </p:spPr>
        </p:pic>
        <p:sp>
          <p:nvSpPr>
            <p:cNvPr id="734" name="Google Shape;734;p38"/>
            <p:cNvSpPr txBox="1"/>
            <p:nvPr/>
          </p:nvSpPr>
          <p:spPr>
            <a:xfrm>
              <a:off x="781050" y="4038600"/>
              <a:ext cx="10629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300"/>
                </a:spcAft>
                <a:buNone/>
              </a:pPr>
              <a:r>
                <a:rPr lang="en-US" sz="1480" b="0">
                  <a:solidFill>
                    <a:srgbClr val="92400E"/>
                  </a:solidFill>
                  <a:latin typeface="Urbanist SemiBold"/>
                  <a:ea typeface="Urbanist SemiBold"/>
                  <a:cs typeface="Urbanist SemiBold"/>
                  <a:sym typeface="Urbanist SemiBold"/>
                </a:rPr>
                <a:t>System Latency &amp; Performance Bottleneck</a:t>
              </a:r>
              <a:endParaRPr sz="1480" b="0">
                <a:solidFill>
                  <a:srgbClr val="92400E"/>
                </a:solidFill>
                <a:latin typeface="Urbanist SemiBold"/>
                <a:ea typeface="Urbanist SemiBold"/>
                <a:cs typeface="Urbanist SemiBold"/>
                <a:sym typeface="Urbanist SemiBold"/>
              </a:endParaRPr>
            </a:p>
          </p:txBody>
        </p:sp>
        <p:sp>
          <p:nvSpPr>
            <p:cNvPr id="735" name="Google Shape;735;p38"/>
            <p:cNvSpPr txBox="1"/>
            <p:nvPr/>
          </p:nvSpPr>
          <p:spPr>
            <a:xfrm>
              <a:off x="781050" y="4495800"/>
              <a:ext cx="10629900" cy="161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50" b="0">
                  <a:solidFill>
                    <a:srgbClr val="0F172A"/>
                  </a:solidFill>
                  <a:latin typeface="Urbanist SemiBold"/>
                  <a:ea typeface="Urbanist SemiBold"/>
                  <a:cs typeface="Urbanist SemiBold"/>
                  <a:sym typeface="Urbanist SemiBold"/>
                </a:rPr>
                <a:t>Key Performance Limitation:</a:t>
              </a:r>
              <a:r>
                <a:rPr lang="en-US" sz="1150" b="0">
                  <a:solidFill>
                    <a:srgbClr val="78350F"/>
                  </a:solidFill>
                  <a:latin typeface="Urbanist"/>
                  <a:ea typeface="Urbanist"/>
                  <a:cs typeface="Urbanist"/>
                  <a:sym typeface="Urbanist"/>
                </a:rPr>
                <a:t> Agent reasoning processes dominate the end-to-end processing pipeline, requiring an average of </a:t>
              </a:r>
              <a:r>
                <a:rPr lang="en-US" sz="1150">
                  <a:solidFill>
                    <a:srgbClr val="0F172A"/>
                  </a:solidFill>
                  <a:latin typeface="Urbanist SemiBold"/>
                  <a:ea typeface="Urbanist SemiBold"/>
                  <a:cs typeface="Urbanist SemiBold"/>
                  <a:sym typeface="Urbanist SemiBold"/>
                </a:rPr>
                <a:t>5 minutes</a:t>
              </a:r>
              <a:r>
                <a:rPr lang="en-US" sz="1150" b="0">
                  <a:solidFill>
                    <a:srgbClr val="78350F"/>
                  </a:solidFill>
                  <a:latin typeface="Urbanist"/>
                  <a:ea typeface="Urbanist"/>
                  <a:cs typeface="Urbanist"/>
                  <a:sym typeface="Urbanist"/>
                </a:rPr>
                <a:t> to complete analysis.</a:t>
              </a:r>
              <a:endParaRPr sz="1150" b="0">
                <a:solidFill>
                  <a:srgbClr val="78350F"/>
                </a:solidFill>
                <a:latin typeface="Urbanist"/>
                <a:ea typeface="Urbanist"/>
                <a:cs typeface="Urbanist"/>
                <a:sym typeface="Urbanist"/>
              </a:endParaRPr>
            </a:p>
            <a:p>
              <a:pPr marL="0" lvl="0" indent="0" algn="l" rtl="0">
                <a:spcBef>
                  <a:spcPts val="900"/>
                </a:spcBef>
                <a:spcAft>
                  <a:spcPts val="0"/>
                </a:spcAft>
                <a:buNone/>
              </a:pPr>
              <a:r>
                <a:rPr lang="en-US" sz="1150" b="0">
                  <a:solidFill>
                    <a:srgbClr val="0F172A"/>
                  </a:solidFill>
                  <a:latin typeface="Urbanist SemiBold"/>
                  <a:ea typeface="Urbanist SemiBold"/>
                  <a:cs typeface="Urbanist SemiBold"/>
                  <a:sym typeface="Urbanist SemiBold"/>
                </a:rPr>
                <a:t>Strategic Impact:</a:t>
              </a:r>
              <a:endParaRPr sz="1150" b="0">
                <a:solidFill>
                  <a:srgbClr val="78350F"/>
                </a:solidFill>
                <a:latin typeface="Urbanist"/>
                <a:ea typeface="Urbanist"/>
                <a:cs typeface="Urbanist"/>
                <a:sym typeface="Urbanist"/>
              </a:endParaRPr>
            </a:p>
            <a:p>
              <a:pPr marL="457200" lvl="0" indent="-301625" algn="l" rtl="0">
                <a:spcBef>
                  <a:spcPts val="300"/>
                </a:spcBef>
                <a:spcAft>
                  <a:spcPts val="0"/>
                </a:spcAft>
                <a:buClr>
                  <a:srgbClr val="78350F"/>
                </a:buClr>
                <a:buSzPts val="1150"/>
                <a:buFont typeface="Urbanist"/>
                <a:buChar char="●"/>
              </a:pPr>
              <a:r>
                <a:rPr lang="en-US" sz="1150" b="0">
                  <a:solidFill>
                    <a:srgbClr val="78350F"/>
                  </a:solidFill>
                  <a:latin typeface="Urbanist"/>
                  <a:ea typeface="Urbanist"/>
                  <a:cs typeface="Urbanist"/>
                  <a:sym typeface="Urbanist"/>
                </a:rPr>
                <a:t>May restrict the system's suitability for real-time compliance checks or immediate transaction authorization.</a:t>
              </a:r>
              <a:endParaRPr sz="1150" b="0">
                <a:solidFill>
                  <a:srgbClr val="78350F"/>
                </a:solidFill>
                <a:latin typeface="Urbanist"/>
                <a:ea typeface="Urbanist"/>
                <a:cs typeface="Urbanist"/>
                <a:sym typeface="Urbanist"/>
              </a:endParaRPr>
            </a:p>
            <a:p>
              <a:pPr marL="457200" lvl="0" indent="-301625" algn="l" rtl="0">
                <a:spcBef>
                  <a:spcPts val="450"/>
                </a:spcBef>
                <a:spcAft>
                  <a:spcPts val="450"/>
                </a:spcAft>
                <a:buClr>
                  <a:srgbClr val="78350F"/>
                </a:buClr>
                <a:buSzPts val="1150"/>
                <a:buFont typeface="Urbanist"/>
                <a:buChar char="●"/>
              </a:pPr>
              <a:r>
                <a:rPr lang="en-US" sz="1150" b="0">
                  <a:solidFill>
                    <a:srgbClr val="78350F"/>
                  </a:solidFill>
                  <a:latin typeface="Urbanist"/>
                  <a:ea typeface="Urbanist"/>
                  <a:cs typeface="Urbanist"/>
                  <a:sym typeface="Urbanist"/>
                </a:rPr>
                <a:t>Requires architectural optimizations, such as query parallelization or prompt caching, to make live deployment feasible.</a:t>
              </a:r>
              <a:endParaRPr sz="1150" b="0">
                <a:solidFill>
                  <a:srgbClr val="78350F"/>
                </a:solidFill>
                <a:latin typeface="Urbanist"/>
                <a:ea typeface="Urbanist"/>
                <a:cs typeface="Urbanist"/>
                <a:sym typeface="Urbanist"/>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29"/>
          <p:cNvSpPr/>
          <p:nvPr/>
        </p:nvSpPr>
        <p:spPr>
          <a:xfrm>
            <a:off x="0" y="0"/>
            <a:ext cx="12192000" cy="68580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9" name="Google Shape;719;p29"/>
          <p:cNvSpPr txBox="1"/>
          <p:nvPr/>
        </p:nvSpPr>
        <p:spPr>
          <a:xfrm>
            <a:off x="671512" y="507206"/>
            <a:ext cx="10629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dirty="0">
                <a:solidFill>
                  <a:srgbClr val="0F172A"/>
                </a:solidFill>
                <a:latin typeface="Poppins"/>
                <a:ea typeface="Poppins"/>
                <a:cs typeface="Poppins"/>
                <a:sym typeface="Poppins"/>
              </a:rPr>
              <a:t>Dissertation </a:t>
            </a:r>
            <a:r>
              <a:rPr lang="en-US" sz="2400" b="1" dirty="0">
                <a:solidFill>
                  <a:srgbClr val="0F766E"/>
                </a:solidFill>
                <a:latin typeface="Poppins"/>
                <a:ea typeface="Poppins"/>
                <a:cs typeface="Poppins"/>
                <a:sym typeface="Poppins"/>
              </a:rPr>
              <a:t>Conclusion</a:t>
            </a:r>
            <a:endParaRPr sz="2400" b="1" dirty="0">
              <a:solidFill>
                <a:srgbClr val="0F172A"/>
              </a:solidFill>
              <a:latin typeface="Poppins"/>
              <a:ea typeface="Poppins"/>
              <a:cs typeface="Poppins"/>
              <a:sym typeface="Poppins"/>
            </a:endParaRPr>
          </a:p>
        </p:txBody>
      </p:sp>
      <p:sp>
        <p:nvSpPr>
          <p:cNvPr id="720" name="Google Shape;720;p29"/>
          <p:cNvSpPr txBox="1"/>
          <p:nvPr/>
        </p:nvSpPr>
        <p:spPr>
          <a:xfrm>
            <a:off x="676275" y="971550"/>
            <a:ext cx="108396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475569"/>
                </a:solidFill>
                <a:latin typeface="Inter"/>
                <a:ea typeface="Inter"/>
                <a:cs typeface="Inter"/>
                <a:sym typeface="Inter"/>
              </a:rPr>
              <a:t>This dissertation proposes an Explainable, Guardrailed Agentic AI platform that combines multimodal document understanding, autonomous reasoning, secure enterprise integration, and trustworthy AI to automate banking contract review and regulatory lifecycle management.</a:t>
            </a:r>
            <a:endParaRPr sz="1100" b="0">
              <a:solidFill>
                <a:srgbClr val="475569"/>
              </a:solidFill>
              <a:latin typeface="Inter"/>
              <a:ea typeface="Inter"/>
              <a:cs typeface="Inter"/>
              <a:sym typeface="Inter"/>
            </a:endParaRPr>
          </a:p>
        </p:txBody>
      </p:sp>
      <p:grpSp>
        <p:nvGrpSpPr>
          <p:cNvPr id="2" name="Google Shape;721;p29"/>
          <p:cNvGrpSpPr/>
          <p:nvPr/>
        </p:nvGrpSpPr>
        <p:grpSpPr>
          <a:xfrm>
            <a:off x="1026319" y="1621631"/>
            <a:ext cx="2000100" cy="3238500"/>
            <a:chOff x="676275" y="1571625"/>
            <a:chExt cx="2000100" cy="3238500"/>
          </a:xfrm>
        </p:grpSpPr>
        <p:sp>
          <p:nvSpPr>
            <p:cNvPr id="722" name="Google Shape;722;p29"/>
            <p:cNvSpPr/>
            <p:nvPr/>
          </p:nvSpPr>
          <p:spPr>
            <a:xfrm>
              <a:off x="676275" y="1571625"/>
              <a:ext cx="2000100" cy="3238500"/>
            </a:xfrm>
            <a:prstGeom prst="roundRect">
              <a:avLst>
                <a:gd name="adj" fmla="val 3809"/>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3" name="Google Shape;723;p29"/>
            <p:cNvSpPr/>
            <p:nvPr/>
          </p:nvSpPr>
          <p:spPr>
            <a:xfrm>
              <a:off x="676275" y="1571625"/>
              <a:ext cx="2000100" cy="342900"/>
            </a:xfrm>
            <a:prstGeom prst="roundRect">
              <a:avLst>
                <a:gd name="adj" fmla="val 22222"/>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4" name="Google Shape;724;p29"/>
            <p:cNvSpPr/>
            <p:nvPr/>
          </p:nvSpPr>
          <p:spPr>
            <a:xfrm>
              <a:off x="676275" y="1819275"/>
              <a:ext cx="2000100" cy="954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5" name="Google Shape;725;p29"/>
            <p:cNvSpPr txBox="1"/>
            <p:nvPr/>
          </p:nvSpPr>
          <p:spPr>
            <a:xfrm>
              <a:off x="819150" y="1647825"/>
              <a:ext cx="17145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50" b="1" dirty="0" smtClean="0">
                  <a:solidFill>
                    <a:srgbClr val="334155"/>
                  </a:solidFill>
                  <a:latin typeface="Poppins"/>
                  <a:ea typeface="Poppins"/>
                  <a:cs typeface="Poppins"/>
                  <a:sym typeface="Poppins"/>
                </a:rPr>
                <a:t>🎯  </a:t>
              </a:r>
              <a:r>
                <a:rPr lang="en-US" sz="950" b="1" dirty="0">
                  <a:solidFill>
                    <a:srgbClr val="334155"/>
                  </a:solidFill>
                  <a:latin typeface="Poppins"/>
                  <a:ea typeface="Poppins"/>
                  <a:cs typeface="Poppins"/>
                  <a:sym typeface="Poppins"/>
                </a:rPr>
                <a:t>RESEARCH PROBLEM</a:t>
              </a:r>
              <a:endParaRPr sz="950" b="1" dirty="0">
                <a:solidFill>
                  <a:srgbClr val="334155"/>
                </a:solidFill>
                <a:latin typeface="Poppins"/>
                <a:ea typeface="Poppins"/>
                <a:cs typeface="Poppins"/>
                <a:sym typeface="Poppins"/>
              </a:endParaRPr>
            </a:p>
          </p:txBody>
        </p:sp>
        <p:sp>
          <p:nvSpPr>
            <p:cNvPr id="726" name="Google Shape;726;p29"/>
            <p:cNvSpPr txBox="1"/>
            <p:nvPr/>
          </p:nvSpPr>
          <p:spPr>
            <a:xfrm>
              <a:off x="819150" y="2047875"/>
              <a:ext cx="1714500" cy="2619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Traditional manual banking contract review is extremely:</a:t>
              </a:r>
              <a:endParaRPr sz="900" b="0">
                <a:solidFill>
                  <a:srgbClr val="475569"/>
                </a:solidFill>
                <a:latin typeface="Inter"/>
                <a:ea typeface="Inter"/>
                <a:cs typeface="Inter"/>
                <a:sym typeface="Inter"/>
              </a:endParaRPr>
            </a:p>
            <a:p>
              <a:pPr marL="0" lvl="0" indent="0" algn="l" rtl="0">
                <a:spcBef>
                  <a:spcPts val="600"/>
                </a:spcBef>
                <a:spcAft>
                  <a:spcPts val="0"/>
                </a:spcAft>
                <a:buNone/>
              </a:pPr>
              <a:r>
                <a:rPr lang="en-US" sz="820" b="0">
                  <a:solidFill>
                    <a:srgbClr val="475569"/>
                  </a:solidFill>
                  <a:latin typeface="Inter"/>
                  <a:ea typeface="Inter"/>
                  <a:cs typeface="Inter"/>
                  <a:sym typeface="Inter"/>
                </a:rPr>
                <a:t>• </a:t>
              </a:r>
              <a:r>
                <a:rPr lang="en-US" sz="820" b="1">
                  <a:solidFill>
                    <a:srgbClr val="0F172A"/>
                  </a:solidFill>
                  <a:latin typeface="Inter"/>
                  <a:ea typeface="Inter"/>
                  <a:cs typeface="Inter"/>
                  <a:sym typeface="Inter"/>
                </a:rPr>
                <a:t>Time-consuming:</a:t>
              </a:r>
              <a:r>
                <a:rPr lang="en-US" sz="820" b="0">
                  <a:solidFill>
                    <a:srgbClr val="475569"/>
                  </a:solidFill>
                  <a:latin typeface="Inter"/>
                  <a:ea typeface="Inter"/>
                  <a:cs typeface="Inter"/>
                  <a:sym typeface="Inter"/>
                </a:rPr>
                <a:t> loops take hours or days.</a:t>
              </a:r>
              <a:endParaRPr sz="820" b="0">
                <a:solidFill>
                  <a:srgbClr val="475569"/>
                </a:solidFill>
                <a:latin typeface="Inter"/>
                <a:ea typeface="Inter"/>
                <a:cs typeface="Inter"/>
                <a:sym typeface="Inter"/>
              </a:endParaRPr>
            </a:p>
            <a:p>
              <a:pPr marL="0" lvl="0" indent="0" algn="l" rtl="0">
                <a:spcBef>
                  <a:spcPts val="450"/>
                </a:spcBef>
                <a:spcAft>
                  <a:spcPts val="0"/>
                </a:spcAft>
                <a:buNone/>
              </a:pPr>
              <a:r>
                <a:rPr lang="en-US" sz="820" b="0">
                  <a:solidFill>
                    <a:srgbClr val="475569"/>
                  </a:solidFill>
                  <a:latin typeface="Inter"/>
                  <a:ea typeface="Inter"/>
                  <a:cs typeface="Inter"/>
                  <a:sym typeface="Inter"/>
                </a:rPr>
                <a:t>• </a:t>
              </a:r>
              <a:r>
                <a:rPr lang="en-US" sz="820" b="1">
                  <a:solidFill>
                    <a:srgbClr val="0F172A"/>
                  </a:solidFill>
                  <a:latin typeface="Inter"/>
                  <a:ea typeface="Inter"/>
                  <a:cs typeface="Inter"/>
                  <a:sym typeface="Inter"/>
                </a:rPr>
                <a:t>Expensive:</a:t>
              </a:r>
              <a:r>
                <a:rPr lang="en-US" sz="820" b="0">
                  <a:solidFill>
                    <a:srgbClr val="475569"/>
                  </a:solidFill>
                  <a:latin typeface="Inter"/>
                  <a:ea typeface="Inter"/>
                  <a:cs typeface="Inter"/>
                  <a:sym typeface="Inter"/>
                </a:rPr>
                <a:t> requires expert legal resources.</a:t>
              </a:r>
              <a:endParaRPr sz="820" b="0">
                <a:solidFill>
                  <a:srgbClr val="475569"/>
                </a:solidFill>
                <a:latin typeface="Inter"/>
                <a:ea typeface="Inter"/>
                <a:cs typeface="Inter"/>
                <a:sym typeface="Inter"/>
              </a:endParaRPr>
            </a:p>
            <a:p>
              <a:pPr marL="0" lvl="0" indent="0" algn="l" rtl="0">
                <a:spcBef>
                  <a:spcPts val="450"/>
                </a:spcBef>
                <a:spcAft>
                  <a:spcPts val="450"/>
                </a:spcAft>
                <a:buNone/>
              </a:pPr>
              <a:r>
                <a:rPr lang="en-US" sz="820" b="0">
                  <a:solidFill>
                    <a:srgbClr val="475569"/>
                  </a:solidFill>
                  <a:latin typeface="Inter"/>
                  <a:ea typeface="Inter"/>
                  <a:cs typeface="Inter"/>
                  <a:sym typeface="Inter"/>
                </a:rPr>
                <a:t>• </a:t>
              </a:r>
              <a:r>
                <a:rPr lang="en-US" sz="820" b="1">
                  <a:solidFill>
                    <a:srgbClr val="0F172A"/>
                  </a:solidFill>
                  <a:latin typeface="Inter"/>
                  <a:ea typeface="Inter"/>
                  <a:cs typeface="Inter"/>
                  <a:sym typeface="Inter"/>
                </a:rPr>
                <a:t>Risk-prone:</a:t>
              </a:r>
              <a:r>
                <a:rPr lang="en-US" sz="820" b="0">
                  <a:solidFill>
                    <a:srgbClr val="475569"/>
                  </a:solidFill>
                  <a:latin typeface="Inter"/>
                  <a:ea typeface="Inter"/>
                  <a:cs typeface="Inter"/>
                  <a:sym typeface="Inter"/>
                </a:rPr>
                <a:t> susceptible to costly compliance gaps.</a:t>
              </a:r>
              <a:endParaRPr sz="820" b="0">
                <a:solidFill>
                  <a:srgbClr val="475569"/>
                </a:solidFill>
                <a:latin typeface="Inter"/>
                <a:ea typeface="Inter"/>
                <a:cs typeface="Inter"/>
                <a:sym typeface="Inter"/>
              </a:endParaRPr>
            </a:p>
          </p:txBody>
        </p:sp>
      </p:grpSp>
      <p:grpSp>
        <p:nvGrpSpPr>
          <p:cNvPr id="3" name="Google Shape;727;p29"/>
          <p:cNvGrpSpPr/>
          <p:nvPr/>
        </p:nvGrpSpPr>
        <p:grpSpPr>
          <a:xfrm>
            <a:off x="3719513" y="1614488"/>
            <a:ext cx="2095500" cy="3238500"/>
            <a:chOff x="2819400" y="1571625"/>
            <a:chExt cx="2095500" cy="3238500"/>
          </a:xfrm>
        </p:grpSpPr>
        <p:sp>
          <p:nvSpPr>
            <p:cNvPr id="728" name="Google Shape;728;p29"/>
            <p:cNvSpPr/>
            <p:nvPr/>
          </p:nvSpPr>
          <p:spPr>
            <a:xfrm>
              <a:off x="2819400" y="1571625"/>
              <a:ext cx="2095500" cy="3238500"/>
            </a:xfrm>
            <a:prstGeom prst="roundRect">
              <a:avLst>
                <a:gd name="adj" fmla="val 363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9" name="Google Shape;729;p29"/>
            <p:cNvSpPr/>
            <p:nvPr/>
          </p:nvSpPr>
          <p:spPr>
            <a:xfrm>
              <a:off x="2819400" y="1571625"/>
              <a:ext cx="2095500" cy="342900"/>
            </a:xfrm>
            <a:prstGeom prst="roundRect">
              <a:avLst>
                <a:gd name="adj" fmla="val 22222"/>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0" name="Google Shape;730;p29"/>
            <p:cNvSpPr/>
            <p:nvPr/>
          </p:nvSpPr>
          <p:spPr>
            <a:xfrm>
              <a:off x="2819400" y="1819275"/>
              <a:ext cx="2095500" cy="954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1" name="Google Shape;731;p29"/>
            <p:cNvSpPr txBox="1"/>
            <p:nvPr/>
          </p:nvSpPr>
          <p:spPr>
            <a:xfrm>
              <a:off x="2962275" y="1647825"/>
              <a:ext cx="18096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50" b="1" dirty="0">
                  <a:solidFill>
                    <a:srgbClr val="334155"/>
                  </a:solidFill>
                  <a:latin typeface="Poppins"/>
                  <a:ea typeface="Poppins"/>
                  <a:cs typeface="Poppins"/>
                  <a:sym typeface="Poppins"/>
                </a:rPr>
                <a:t>🤖 </a:t>
              </a:r>
              <a:r>
                <a:rPr lang="en-US" sz="950" b="1" dirty="0" smtClean="0">
                  <a:solidFill>
                    <a:srgbClr val="334155"/>
                  </a:solidFill>
                  <a:latin typeface="Poppins"/>
                  <a:ea typeface="Poppins"/>
                  <a:cs typeface="Poppins"/>
                  <a:sym typeface="Poppins"/>
                </a:rPr>
                <a:t> PROPOSED </a:t>
              </a:r>
              <a:r>
                <a:rPr lang="en-US" sz="950" b="1" dirty="0">
                  <a:solidFill>
                    <a:srgbClr val="334155"/>
                  </a:solidFill>
                  <a:latin typeface="Poppins"/>
                  <a:ea typeface="Poppins"/>
                  <a:cs typeface="Poppins"/>
                  <a:sym typeface="Poppins"/>
                </a:rPr>
                <a:t>SOLUTION</a:t>
              </a:r>
              <a:endParaRPr sz="950" b="1" dirty="0">
                <a:solidFill>
                  <a:srgbClr val="334155"/>
                </a:solidFill>
                <a:latin typeface="Poppins"/>
                <a:ea typeface="Poppins"/>
                <a:cs typeface="Poppins"/>
                <a:sym typeface="Poppins"/>
              </a:endParaRPr>
            </a:p>
          </p:txBody>
        </p:sp>
        <p:sp>
          <p:nvSpPr>
            <p:cNvPr id="732" name="Google Shape;732;p29"/>
            <p:cNvSpPr txBox="1"/>
            <p:nvPr/>
          </p:nvSpPr>
          <p:spPr>
            <a:xfrm>
              <a:off x="2962275" y="2047875"/>
              <a:ext cx="1809600" cy="2619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An Explainable Agentic AI platform integrating:</a:t>
              </a:r>
              <a:endParaRPr sz="900" b="0">
                <a:solidFill>
                  <a:srgbClr val="475569"/>
                </a:solidFill>
                <a:latin typeface="Inter"/>
                <a:ea typeface="Inter"/>
                <a:cs typeface="Inter"/>
                <a:sym typeface="Inter"/>
              </a:endParaRPr>
            </a:p>
            <a:p>
              <a:pPr marL="457200" lvl="0" indent="-280670" algn="l" rtl="0">
                <a:spcBef>
                  <a:spcPts val="600"/>
                </a:spcBef>
                <a:spcAft>
                  <a:spcPts val="0"/>
                </a:spcAft>
                <a:buClr>
                  <a:srgbClr val="475569"/>
                </a:buClr>
                <a:buSzPts val="820"/>
                <a:buFont typeface="Inter"/>
                <a:buChar char="●"/>
              </a:pPr>
              <a:r>
                <a:rPr lang="en-US" sz="820" b="1">
                  <a:solidFill>
                    <a:srgbClr val="0F172A"/>
                  </a:solidFill>
                  <a:latin typeface="Inter"/>
                  <a:ea typeface="Inter"/>
                  <a:cs typeface="Inter"/>
                  <a:sym typeface="Inter"/>
                </a:rPr>
                <a:t>LayoutLMv3</a:t>
              </a:r>
              <a:r>
                <a:rPr lang="en-US" sz="820" b="0">
                  <a:solidFill>
                    <a:srgbClr val="475569"/>
                  </a:solidFill>
                  <a:latin typeface="Inter"/>
                  <a:ea typeface="Inter"/>
                  <a:cs typeface="Inter"/>
                  <a:sym typeface="Inter"/>
                </a:rPr>
                <a:t> </a:t>
              </a:r>
              <a:r>
                <a:rPr lang="en-US" sz="750" b="0">
                  <a:solidFill>
                    <a:srgbClr val="64748B"/>
                  </a:solidFill>
                  <a:latin typeface="Inter"/>
                  <a:ea typeface="Inter"/>
                  <a:cs typeface="Inter"/>
                  <a:sym typeface="Inter"/>
                </a:rPr>
                <a:t>(Layout)</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Legal-BERT</a:t>
              </a:r>
              <a:r>
                <a:rPr lang="en-US" sz="820" b="0">
                  <a:solidFill>
                    <a:srgbClr val="475569"/>
                  </a:solidFill>
                  <a:latin typeface="Inter"/>
                  <a:ea typeface="Inter"/>
                  <a:cs typeface="Inter"/>
                  <a:sym typeface="Inter"/>
                </a:rPr>
                <a:t> </a:t>
              </a:r>
              <a:r>
                <a:rPr lang="en-US" sz="750" b="0">
                  <a:solidFill>
                    <a:srgbClr val="64748B"/>
                  </a:solidFill>
                  <a:latin typeface="Inter"/>
                  <a:ea typeface="Inter"/>
                  <a:cs typeface="Inter"/>
                  <a:sym typeface="Inter"/>
                </a:rPr>
                <a:t>(Semantic)</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LangGraph</a:t>
              </a:r>
              <a:r>
                <a:rPr lang="en-US" sz="820" b="0">
                  <a:solidFill>
                    <a:srgbClr val="475569"/>
                  </a:solidFill>
                  <a:latin typeface="Inter"/>
                  <a:ea typeface="Inter"/>
                  <a:cs typeface="Inter"/>
                  <a:sym typeface="Inter"/>
                </a:rPr>
                <a:t> </a:t>
              </a:r>
              <a:r>
                <a:rPr lang="en-US" sz="750" b="0">
                  <a:solidFill>
                    <a:srgbClr val="64748B"/>
                  </a:solidFill>
                  <a:latin typeface="Inter"/>
                  <a:ea typeface="Inter"/>
                  <a:cs typeface="Inter"/>
                  <a:sym typeface="Inter"/>
                </a:rPr>
                <a:t>(Workflow)</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MCP</a:t>
              </a:r>
              <a:r>
                <a:rPr lang="en-US" sz="820" b="0">
                  <a:solidFill>
                    <a:srgbClr val="475569"/>
                  </a:solidFill>
                  <a:latin typeface="Inter"/>
                  <a:ea typeface="Inter"/>
                  <a:cs typeface="Inter"/>
                  <a:sym typeface="Inter"/>
                </a:rPr>
                <a:t> </a:t>
              </a:r>
              <a:r>
                <a:rPr lang="en-US" sz="750" b="0">
                  <a:solidFill>
                    <a:srgbClr val="64748B"/>
                  </a:solidFill>
                  <a:latin typeface="Inter"/>
                  <a:ea typeface="Inter"/>
                  <a:cs typeface="Inter"/>
                  <a:sym typeface="Inter"/>
                </a:rPr>
                <a:t>(Enterprise Tools)</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SHAP</a:t>
              </a:r>
              <a:r>
                <a:rPr lang="en-US" sz="820" b="0">
                  <a:solidFill>
                    <a:srgbClr val="475569"/>
                  </a:solidFill>
                  <a:latin typeface="Inter"/>
                  <a:ea typeface="Inter"/>
                  <a:cs typeface="Inter"/>
                  <a:sym typeface="Inter"/>
                </a:rPr>
                <a:t> </a:t>
              </a:r>
              <a:r>
                <a:rPr lang="en-US" sz="750" b="0">
                  <a:solidFill>
                    <a:srgbClr val="64748B"/>
                  </a:solidFill>
                  <a:latin typeface="Inter"/>
                  <a:ea typeface="Inter"/>
                  <a:cs typeface="Inter"/>
                  <a:sym typeface="Inter"/>
                </a:rPr>
                <a:t>(Explainability)</a:t>
              </a:r>
              <a:endParaRPr sz="820" b="0">
                <a:solidFill>
                  <a:srgbClr val="475569"/>
                </a:solidFill>
                <a:latin typeface="Inter"/>
                <a:ea typeface="Inter"/>
                <a:cs typeface="Inter"/>
                <a:sym typeface="Inter"/>
              </a:endParaRPr>
            </a:p>
            <a:p>
              <a:pPr marL="457200" lvl="0" indent="-280670" algn="l" rtl="0">
                <a:spcBef>
                  <a:spcPts val="375"/>
                </a:spcBef>
                <a:spcAft>
                  <a:spcPts val="375"/>
                </a:spcAft>
                <a:buClr>
                  <a:srgbClr val="475569"/>
                </a:buClr>
                <a:buSzPts val="820"/>
                <a:buFont typeface="Inter"/>
                <a:buChar char="●"/>
              </a:pPr>
              <a:r>
                <a:rPr lang="en-US" sz="820" b="1">
                  <a:solidFill>
                    <a:srgbClr val="0F172A"/>
                  </a:solidFill>
                  <a:latin typeface="Inter"/>
                  <a:ea typeface="Inter"/>
                  <a:cs typeface="Inter"/>
                  <a:sym typeface="Inter"/>
                </a:rPr>
                <a:t>Guardrails AI</a:t>
              </a:r>
              <a:r>
                <a:rPr lang="en-US" sz="820" b="0">
                  <a:solidFill>
                    <a:srgbClr val="475569"/>
                  </a:solidFill>
                  <a:latin typeface="Inter"/>
                  <a:ea typeface="Inter"/>
                  <a:cs typeface="Inter"/>
                  <a:sym typeface="Inter"/>
                </a:rPr>
                <a:t> </a:t>
              </a:r>
              <a:r>
                <a:rPr lang="en-US" sz="750" b="0">
                  <a:solidFill>
                    <a:srgbClr val="64748B"/>
                  </a:solidFill>
                  <a:latin typeface="Inter"/>
                  <a:ea typeface="Inter"/>
                  <a:cs typeface="Inter"/>
                  <a:sym typeface="Inter"/>
                </a:rPr>
                <a:t>(Safety)</a:t>
              </a:r>
              <a:endParaRPr sz="820" b="0">
                <a:solidFill>
                  <a:srgbClr val="475569"/>
                </a:solidFill>
                <a:latin typeface="Inter"/>
                <a:ea typeface="Inter"/>
                <a:cs typeface="Inter"/>
                <a:sym typeface="Inter"/>
              </a:endParaRPr>
            </a:p>
          </p:txBody>
        </p:sp>
      </p:grpSp>
      <p:grpSp>
        <p:nvGrpSpPr>
          <p:cNvPr id="5" name="Google Shape;739;p29"/>
          <p:cNvGrpSpPr/>
          <p:nvPr/>
        </p:nvGrpSpPr>
        <p:grpSpPr>
          <a:xfrm>
            <a:off x="6479381" y="1600201"/>
            <a:ext cx="2000100" cy="3238500"/>
            <a:chOff x="7200900" y="1571625"/>
            <a:chExt cx="2000100" cy="3238500"/>
          </a:xfrm>
        </p:grpSpPr>
        <p:sp>
          <p:nvSpPr>
            <p:cNvPr id="740" name="Google Shape;740;p29"/>
            <p:cNvSpPr/>
            <p:nvPr/>
          </p:nvSpPr>
          <p:spPr>
            <a:xfrm>
              <a:off x="7200900" y="1571625"/>
              <a:ext cx="2000100" cy="3238500"/>
            </a:xfrm>
            <a:prstGeom prst="roundRect">
              <a:avLst>
                <a:gd name="adj" fmla="val 3809"/>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1" name="Google Shape;741;p29"/>
            <p:cNvSpPr/>
            <p:nvPr/>
          </p:nvSpPr>
          <p:spPr>
            <a:xfrm>
              <a:off x="7200900" y="1571625"/>
              <a:ext cx="2000100" cy="342900"/>
            </a:xfrm>
            <a:prstGeom prst="roundRect">
              <a:avLst>
                <a:gd name="adj" fmla="val 22222"/>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2" name="Google Shape;742;p29"/>
            <p:cNvSpPr/>
            <p:nvPr/>
          </p:nvSpPr>
          <p:spPr>
            <a:xfrm>
              <a:off x="7200900" y="1819275"/>
              <a:ext cx="2000100" cy="954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3" name="Google Shape;743;p29"/>
            <p:cNvSpPr txBox="1"/>
            <p:nvPr/>
          </p:nvSpPr>
          <p:spPr>
            <a:xfrm>
              <a:off x="7343775" y="1647825"/>
              <a:ext cx="17145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50" b="1" dirty="0">
                  <a:solidFill>
                    <a:srgbClr val="334155"/>
                  </a:solidFill>
                  <a:latin typeface="Poppins"/>
                  <a:ea typeface="Poppins"/>
                  <a:cs typeface="Poppins"/>
                  <a:sym typeface="Poppins"/>
                </a:rPr>
                <a:t>🏦 </a:t>
              </a:r>
              <a:r>
                <a:rPr lang="en-US" sz="950" b="1" dirty="0" smtClean="0">
                  <a:solidFill>
                    <a:srgbClr val="334155"/>
                  </a:solidFill>
                  <a:latin typeface="Poppins"/>
                  <a:ea typeface="Poppins"/>
                  <a:cs typeface="Poppins"/>
                  <a:sym typeface="Poppins"/>
                </a:rPr>
                <a:t> EXPECTED </a:t>
              </a:r>
              <a:r>
                <a:rPr lang="en-US" sz="950" b="1" dirty="0">
                  <a:solidFill>
                    <a:srgbClr val="334155"/>
                  </a:solidFill>
                  <a:latin typeface="Poppins"/>
                  <a:ea typeface="Poppins"/>
                  <a:cs typeface="Poppins"/>
                  <a:sym typeface="Poppins"/>
                </a:rPr>
                <a:t>IMPACT</a:t>
              </a:r>
              <a:endParaRPr sz="950" b="1" dirty="0">
                <a:solidFill>
                  <a:srgbClr val="334155"/>
                </a:solidFill>
                <a:latin typeface="Poppins"/>
                <a:ea typeface="Poppins"/>
                <a:cs typeface="Poppins"/>
                <a:sym typeface="Poppins"/>
              </a:endParaRPr>
            </a:p>
          </p:txBody>
        </p:sp>
        <p:sp>
          <p:nvSpPr>
            <p:cNvPr id="744" name="Google Shape;744;p29"/>
            <p:cNvSpPr txBox="1"/>
            <p:nvPr/>
          </p:nvSpPr>
          <p:spPr>
            <a:xfrm>
              <a:off x="7343775" y="2047875"/>
              <a:ext cx="1714500" cy="2619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20" b="0">
                  <a:solidFill>
                    <a:srgbClr val="475569"/>
                  </a:solidFill>
                  <a:latin typeface="Inter"/>
                  <a:ea typeface="Inter"/>
                  <a:cs typeface="Inter"/>
                  <a:sym typeface="Inter"/>
                </a:rPr>
                <a:t>✔️ </a:t>
              </a:r>
              <a:r>
                <a:rPr lang="en-US" sz="820" b="1">
                  <a:solidFill>
                    <a:srgbClr val="0F172A"/>
                  </a:solidFill>
                  <a:latin typeface="Inter"/>
                  <a:ea typeface="Inter"/>
                  <a:cs typeface="Inter"/>
                  <a:sym typeface="Inter"/>
                </a:rPr>
                <a:t>Faster Review:</a:t>
              </a:r>
              <a:r>
                <a:rPr lang="en-US" sz="820" b="0">
                  <a:solidFill>
                    <a:srgbClr val="475569"/>
                  </a:solidFill>
                  <a:latin typeface="Inter"/>
                  <a:ea typeface="Inter"/>
                  <a:cs typeface="Inter"/>
                  <a:sym typeface="Inter"/>
                </a:rPr>
                <a:t/>
              </a:r>
              <a:br>
                <a:rPr lang="en-US" sz="820" b="0">
                  <a:solidFill>
                    <a:srgbClr val="475569"/>
                  </a:solidFill>
                  <a:latin typeface="Inter"/>
                  <a:ea typeface="Inter"/>
                  <a:cs typeface="Inter"/>
                  <a:sym typeface="Inter"/>
                </a:rPr>
              </a:br>
              <a:r>
                <a:rPr lang="en-US" sz="820" b="0">
                  <a:solidFill>
                    <a:srgbClr val="64748B"/>
                  </a:solidFill>
                  <a:latin typeface="Inter"/>
                  <a:ea typeface="Inter"/>
                  <a:cs typeface="Inter"/>
                  <a:sym typeface="Inter"/>
                </a:rPr>
                <a:t>Shrinks loops from days to minutes.</a:t>
              </a:r>
              <a:endParaRPr sz="820" b="0">
                <a:solidFill>
                  <a:srgbClr val="475569"/>
                </a:solidFill>
                <a:latin typeface="Inter"/>
                <a:ea typeface="Inter"/>
                <a:cs typeface="Inter"/>
                <a:sym typeface="Inter"/>
              </a:endParaRPr>
            </a:p>
            <a:p>
              <a:pPr marL="0" lvl="0" indent="0" algn="l" rtl="0">
                <a:spcBef>
                  <a:spcPts val="900"/>
                </a:spcBef>
                <a:spcAft>
                  <a:spcPts val="0"/>
                </a:spcAft>
                <a:buNone/>
              </a:pPr>
              <a:r>
                <a:rPr lang="en-US" sz="820" b="0">
                  <a:solidFill>
                    <a:srgbClr val="475569"/>
                  </a:solidFill>
                  <a:latin typeface="Inter"/>
                  <a:ea typeface="Inter"/>
                  <a:cs typeface="Inter"/>
                  <a:sym typeface="Inter"/>
                </a:rPr>
                <a:t>✔️ </a:t>
              </a:r>
              <a:r>
                <a:rPr lang="en-US" sz="820" b="1">
                  <a:solidFill>
                    <a:srgbClr val="0F172A"/>
                  </a:solidFill>
                  <a:latin typeface="Inter"/>
                  <a:ea typeface="Inter"/>
                  <a:cs typeface="Inter"/>
                  <a:sym typeface="Inter"/>
                </a:rPr>
                <a:t>Better Transparency:</a:t>
              </a:r>
              <a:r>
                <a:rPr lang="en-US" sz="820" b="0">
                  <a:solidFill>
                    <a:srgbClr val="475569"/>
                  </a:solidFill>
                  <a:latin typeface="Inter"/>
                  <a:ea typeface="Inter"/>
                  <a:cs typeface="Inter"/>
                  <a:sym typeface="Inter"/>
                </a:rPr>
                <a:t/>
              </a:r>
              <a:br>
                <a:rPr lang="en-US" sz="820" b="0">
                  <a:solidFill>
                    <a:srgbClr val="475569"/>
                  </a:solidFill>
                  <a:latin typeface="Inter"/>
                  <a:ea typeface="Inter"/>
                  <a:cs typeface="Inter"/>
                  <a:sym typeface="Inter"/>
                </a:rPr>
              </a:br>
              <a:r>
                <a:rPr lang="en-US" sz="820" b="0">
                  <a:solidFill>
                    <a:srgbClr val="64748B"/>
                  </a:solidFill>
                  <a:latin typeface="Inter"/>
                  <a:ea typeface="Inter"/>
                  <a:cs typeface="Inter"/>
                  <a:sym typeface="Inter"/>
                </a:rPr>
                <a:t>Explains visual &amp; semantic features.</a:t>
              </a:r>
              <a:endParaRPr sz="820" b="0">
                <a:solidFill>
                  <a:srgbClr val="475569"/>
                </a:solidFill>
                <a:latin typeface="Inter"/>
                <a:ea typeface="Inter"/>
                <a:cs typeface="Inter"/>
                <a:sym typeface="Inter"/>
              </a:endParaRPr>
            </a:p>
            <a:p>
              <a:pPr marL="0" lvl="0" indent="0" algn="l" rtl="0">
                <a:spcBef>
                  <a:spcPts val="900"/>
                </a:spcBef>
                <a:spcAft>
                  <a:spcPts val="0"/>
                </a:spcAft>
                <a:buNone/>
              </a:pPr>
              <a:r>
                <a:rPr lang="en-US" sz="820" b="0">
                  <a:solidFill>
                    <a:srgbClr val="475569"/>
                  </a:solidFill>
                  <a:latin typeface="Inter"/>
                  <a:ea typeface="Inter"/>
                  <a:cs typeface="Inter"/>
                  <a:sym typeface="Inter"/>
                </a:rPr>
                <a:t>✔️ </a:t>
              </a:r>
              <a:r>
                <a:rPr lang="en-US" sz="820" b="1">
                  <a:solidFill>
                    <a:srgbClr val="0F172A"/>
                  </a:solidFill>
                  <a:latin typeface="Inter"/>
                  <a:ea typeface="Inter"/>
                  <a:cs typeface="Inter"/>
                  <a:sym typeface="Inter"/>
                </a:rPr>
                <a:t>Reduced Effort:</a:t>
              </a:r>
              <a:r>
                <a:rPr lang="en-US" sz="820" b="0">
                  <a:solidFill>
                    <a:srgbClr val="475569"/>
                  </a:solidFill>
                  <a:latin typeface="Inter"/>
                  <a:ea typeface="Inter"/>
                  <a:cs typeface="Inter"/>
                  <a:sym typeface="Inter"/>
                </a:rPr>
                <a:t/>
              </a:r>
              <a:br>
                <a:rPr lang="en-US" sz="820" b="0">
                  <a:solidFill>
                    <a:srgbClr val="475569"/>
                  </a:solidFill>
                  <a:latin typeface="Inter"/>
                  <a:ea typeface="Inter"/>
                  <a:cs typeface="Inter"/>
                  <a:sym typeface="Inter"/>
                </a:rPr>
              </a:br>
              <a:r>
                <a:rPr lang="en-US" sz="820" b="0">
                  <a:solidFill>
                    <a:srgbClr val="64748B"/>
                  </a:solidFill>
                  <a:latin typeface="Inter"/>
                  <a:ea typeface="Inter"/>
                  <a:cs typeface="Inter"/>
                  <a:sym typeface="Inter"/>
                </a:rPr>
                <a:t>Cuts down manual audit fatigue.</a:t>
              </a:r>
              <a:endParaRPr sz="820" b="0">
                <a:solidFill>
                  <a:srgbClr val="475569"/>
                </a:solidFill>
                <a:latin typeface="Inter"/>
                <a:ea typeface="Inter"/>
                <a:cs typeface="Inter"/>
                <a:sym typeface="Inter"/>
              </a:endParaRPr>
            </a:p>
            <a:p>
              <a:pPr marL="0" lvl="0" indent="0" algn="l" rtl="0">
                <a:spcBef>
                  <a:spcPts val="900"/>
                </a:spcBef>
                <a:spcAft>
                  <a:spcPts val="900"/>
                </a:spcAft>
                <a:buNone/>
              </a:pPr>
              <a:r>
                <a:rPr lang="en-US" sz="820" b="0">
                  <a:solidFill>
                    <a:srgbClr val="475569"/>
                  </a:solidFill>
                  <a:latin typeface="Inter"/>
                  <a:ea typeface="Inter"/>
                  <a:cs typeface="Inter"/>
                  <a:sym typeface="Inter"/>
                </a:rPr>
                <a:t>✔️ </a:t>
              </a:r>
              <a:r>
                <a:rPr lang="en-US" sz="820" b="1">
                  <a:solidFill>
                    <a:srgbClr val="0F172A"/>
                  </a:solidFill>
                  <a:latin typeface="Inter"/>
                  <a:ea typeface="Inter"/>
                  <a:cs typeface="Inter"/>
                  <a:sym typeface="Inter"/>
                </a:rPr>
                <a:t>AI Governance:</a:t>
              </a:r>
              <a:r>
                <a:rPr lang="en-US" sz="820" b="0">
                  <a:solidFill>
                    <a:srgbClr val="475569"/>
                  </a:solidFill>
                  <a:latin typeface="Inter"/>
                  <a:ea typeface="Inter"/>
                  <a:cs typeface="Inter"/>
                  <a:sym typeface="Inter"/>
                </a:rPr>
                <a:t/>
              </a:r>
              <a:br>
                <a:rPr lang="en-US" sz="820" b="0">
                  <a:solidFill>
                    <a:srgbClr val="475569"/>
                  </a:solidFill>
                  <a:latin typeface="Inter"/>
                  <a:ea typeface="Inter"/>
                  <a:cs typeface="Inter"/>
                  <a:sym typeface="Inter"/>
                </a:rPr>
              </a:br>
              <a:r>
                <a:rPr lang="en-US" sz="820" b="0">
                  <a:solidFill>
                    <a:srgbClr val="64748B"/>
                  </a:solidFill>
                  <a:latin typeface="Inter"/>
                  <a:ea typeface="Inter"/>
                  <a:cs typeface="Inter"/>
                  <a:sym typeface="Inter"/>
                </a:rPr>
                <a:t>Enterprise-ready guardrail limits.</a:t>
              </a:r>
              <a:endParaRPr sz="820" b="0">
                <a:solidFill>
                  <a:srgbClr val="475569"/>
                </a:solidFill>
                <a:latin typeface="Inter"/>
                <a:ea typeface="Inter"/>
                <a:cs typeface="Inter"/>
                <a:sym typeface="Inter"/>
              </a:endParaRPr>
            </a:p>
          </p:txBody>
        </p:sp>
      </p:grpSp>
      <p:grpSp>
        <p:nvGrpSpPr>
          <p:cNvPr id="6" name="Google Shape;745;p29"/>
          <p:cNvGrpSpPr/>
          <p:nvPr/>
        </p:nvGrpSpPr>
        <p:grpSpPr>
          <a:xfrm>
            <a:off x="9115425" y="1578769"/>
            <a:ext cx="2171700" cy="3238500"/>
            <a:chOff x="9344025" y="1571625"/>
            <a:chExt cx="2171700" cy="3238500"/>
          </a:xfrm>
        </p:grpSpPr>
        <p:sp>
          <p:nvSpPr>
            <p:cNvPr id="746" name="Google Shape;746;p29"/>
            <p:cNvSpPr/>
            <p:nvPr/>
          </p:nvSpPr>
          <p:spPr>
            <a:xfrm>
              <a:off x="9344025" y="1571625"/>
              <a:ext cx="2171700" cy="3238500"/>
            </a:xfrm>
            <a:prstGeom prst="roundRect">
              <a:avLst>
                <a:gd name="adj" fmla="val 3508"/>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7" name="Google Shape;747;p29"/>
            <p:cNvSpPr/>
            <p:nvPr/>
          </p:nvSpPr>
          <p:spPr>
            <a:xfrm>
              <a:off x="9344025" y="1571625"/>
              <a:ext cx="2171700" cy="342900"/>
            </a:xfrm>
            <a:prstGeom prst="roundRect">
              <a:avLst>
                <a:gd name="adj" fmla="val 22222"/>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8" name="Google Shape;748;p29"/>
            <p:cNvSpPr/>
            <p:nvPr/>
          </p:nvSpPr>
          <p:spPr>
            <a:xfrm>
              <a:off x="9344025" y="1819275"/>
              <a:ext cx="2171700" cy="954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9" name="Google Shape;749;p29"/>
            <p:cNvSpPr txBox="1"/>
            <p:nvPr/>
          </p:nvSpPr>
          <p:spPr>
            <a:xfrm>
              <a:off x="9486900" y="1647825"/>
              <a:ext cx="18861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50" b="1" dirty="0">
                  <a:solidFill>
                    <a:srgbClr val="334155"/>
                  </a:solidFill>
                  <a:latin typeface="Poppins"/>
                  <a:ea typeface="Poppins"/>
                  <a:cs typeface="Poppins"/>
                  <a:sym typeface="Poppins"/>
                </a:rPr>
                <a:t>🎓 </a:t>
              </a:r>
              <a:r>
                <a:rPr lang="en-US" sz="950" b="1" dirty="0" smtClean="0">
                  <a:solidFill>
                    <a:srgbClr val="334155"/>
                  </a:solidFill>
                  <a:latin typeface="Poppins"/>
                  <a:ea typeface="Poppins"/>
                  <a:cs typeface="Poppins"/>
                  <a:sym typeface="Poppins"/>
                </a:rPr>
                <a:t> CONTRIBUTIONS</a:t>
              </a:r>
              <a:endParaRPr sz="950" b="1" dirty="0">
                <a:solidFill>
                  <a:srgbClr val="334155"/>
                </a:solidFill>
                <a:latin typeface="Poppins"/>
                <a:ea typeface="Poppins"/>
                <a:cs typeface="Poppins"/>
                <a:sym typeface="Poppins"/>
              </a:endParaRPr>
            </a:p>
          </p:txBody>
        </p:sp>
        <p:sp>
          <p:nvSpPr>
            <p:cNvPr id="750" name="Google Shape;750;p29"/>
            <p:cNvSpPr txBox="1"/>
            <p:nvPr/>
          </p:nvSpPr>
          <p:spPr>
            <a:xfrm>
              <a:off x="9486900" y="2047875"/>
              <a:ext cx="1886100" cy="2619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A unified framework integrating:</a:t>
              </a:r>
              <a:endParaRPr sz="900" b="0">
                <a:solidFill>
                  <a:srgbClr val="475569"/>
                </a:solidFill>
                <a:latin typeface="Inter"/>
                <a:ea typeface="Inter"/>
                <a:cs typeface="Inter"/>
                <a:sym typeface="Inter"/>
              </a:endParaRPr>
            </a:p>
            <a:p>
              <a:pPr marL="457200" lvl="0" indent="-280670" algn="l" rtl="0">
                <a:spcBef>
                  <a:spcPts val="600"/>
                </a:spcBef>
                <a:spcAft>
                  <a:spcPts val="0"/>
                </a:spcAft>
                <a:buClr>
                  <a:srgbClr val="475569"/>
                </a:buClr>
                <a:buSzPts val="820"/>
                <a:buFont typeface="Inter"/>
                <a:buChar char="●"/>
              </a:pPr>
              <a:r>
                <a:rPr lang="en-US" sz="820" b="1">
                  <a:solidFill>
                    <a:srgbClr val="0F172A"/>
                  </a:solidFill>
                  <a:latin typeface="Inter"/>
                  <a:ea typeface="Inter"/>
                  <a:cs typeface="Inter"/>
                  <a:sym typeface="Inter"/>
                </a:rPr>
                <a:t>Document AI</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Legal NLP</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Agentic AI</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Explainable AI</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AI Safety</a:t>
              </a:r>
              <a:endParaRPr sz="820" b="0">
                <a:solidFill>
                  <a:srgbClr val="475569"/>
                </a:solidFill>
                <a:latin typeface="Inter"/>
                <a:ea typeface="Inter"/>
                <a:cs typeface="Inter"/>
                <a:sym typeface="Inter"/>
              </a:endParaRPr>
            </a:p>
            <a:p>
              <a:pPr marL="457200" lvl="0" indent="-280670" algn="l" rtl="0">
                <a:spcBef>
                  <a:spcPts val="375"/>
                </a:spcBef>
                <a:spcAft>
                  <a:spcPts val="0"/>
                </a:spcAft>
                <a:buClr>
                  <a:srgbClr val="475569"/>
                </a:buClr>
                <a:buSzPts val="820"/>
                <a:buFont typeface="Inter"/>
                <a:buChar char="●"/>
              </a:pPr>
              <a:r>
                <a:rPr lang="en-US" sz="820" b="1">
                  <a:solidFill>
                    <a:srgbClr val="0F172A"/>
                  </a:solidFill>
                  <a:latin typeface="Inter"/>
                  <a:ea typeface="Inter"/>
                  <a:cs typeface="Inter"/>
                  <a:sym typeface="Inter"/>
                </a:rPr>
                <a:t>Regulatory Lifecycle</a:t>
              </a:r>
              <a:endParaRPr sz="820" b="0">
                <a:solidFill>
                  <a:srgbClr val="475569"/>
                </a:solidFill>
                <a:latin typeface="Inter"/>
                <a:ea typeface="Inter"/>
                <a:cs typeface="Inter"/>
                <a:sym typeface="Inter"/>
              </a:endParaRPr>
            </a:p>
            <a:p>
              <a:pPr marL="0" lvl="0" indent="0" algn="l" rtl="0">
                <a:spcBef>
                  <a:spcPts val="750"/>
                </a:spcBef>
                <a:spcAft>
                  <a:spcPts val="0"/>
                </a:spcAft>
                <a:buNone/>
              </a:pPr>
              <a:r>
                <a:rPr lang="en-US" sz="780" b="0">
                  <a:solidFill>
                    <a:srgbClr val="0F766E"/>
                  </a:solidFill>
                  <a:latin typeface="Inter SemiBold"/>
                  <a:ea typeface="Inter SemiBold"/>
                  <a:cs typeface="Inter SemiBold"/>
                  <a:sym typeface="Inter SemiBold"/>
                </a:rPr>
                <a:t>Coordinated into a single enterprise banking platform.</a:t>
              </a:r>
              <a:endParaRPr sz="780" b="0">
                <a:solidFill>
                  <a:srgbClr val="0F766E"/>
                </a:solidFill>
                <a:latin typeface="Inter SemiBold"/>
                <a:ea typeface="Inter SemiBold"/>
                <a:cs typeface="Inter SemiBold"/>
                <a:sym typeface="Inter SemiBold"/>
              </a:endParaRPr>
            </a:p>
          </p:txBody>
        </p:sp>
      </p:grpSp>
      <p:grpSp>
        <p:nvGrpSpPr>
          <p:cNvPr id="7" name="Google Shape;751;p29"/>
          <p:cNvGrpSpPr/>
          <p:nvPr/>
        </p:nvGrpSpPr>
        <p:grpSpPr>
          <a:xfrm>
            <a:off x="676275" y="5048250"/>
            <a:ext cx="10839600" cy="1143000"/>
            <a:chOff x="676275" y="5048250"/>
            <a:chExt cx="10839600" cy="1143000"/>
          </a:xfrm>
        </p:grpSpPr>
        <p:sp>
          <p:nvSpPr>
            <p:cNvPr id="752" name="Google Shape;752;p29"/>
            <p:cNvSpPr/>
            <p:nvPr/>
          </p:nvSpPr>
          <p:spPr>
            <a:xfrm>
              <a:off x="676275" y="5048250"/>
              <a:ext cx="10839600" cy="1143000"/>
            </a:xfrm>
            <a:prstGeom prst="roundRect">
              <a:avLst>
                <a:gd name="adj" fmla="val 6666"/>
              </a:avLst>
            </a:prstGeom>
            <a:solidFill>
              <a:srgbClr val="0F76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3" name="Google Shape;753;p29"/>
            <p:cNvSpPr txBox="1"/>
            <p:nvPr/>
          </p:nvSpPr>
          <p:spPr>
            <a:xfrm>
              <a:off x="866775" y="5191125"/>
              <a:ext cx="10458600" cy="857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500" b="1">
                  <a:solidFill>
                    <a:srgbClr val="FFFFFF"/>
                  </a:solidFill>
                  <a:latin typeface="Poppins"/>
                  <a:ea typeface="Poppins"/>
                  <a:cs typeface="Poppins"/>
                  <a:sym typeface="Poppins"/>
                </a:rPr>
                <a:t>"Building Trustworthy AI for the Future of Banking Compliance."</a:t>
              </a:r>
              <a:endParaRPr sz="1500" b="1">
                <a:solidFill>
                  <a:srgbClr val="FFFFFF"/>
                </a:solidFill>
                <a:latin typeface="Poppins"/>
                <a:ea typeface="Poppins"/>
                <a:cs typeface="Poppins"/>
                <a:sym typeface="Poppi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39"/>
        <p:cNvGrpSpPr/>
        <p:nvPr/>
      </p:nvGrpSpPr>
      <p:grpSpPr>
        <a:xfrm>
          <a:off x="0" y="0"/>
          <a:ext cx="0" cy="0"/>
          <a:chOff x="0" y="0"/>
          <a:chExt cx="0" cy="0"/>
        </a:xfrm>
      </p:grpSpPr>
      <p:pic>
        <p:nvPicPr>
          <p:cNvPr id="740" name="Google Shape;740;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741" name="Google Shape;741;p39"/>
          <p:cNvSpPr txBox="1"/>
          <p:nvPr/>
        </p:nvSpPr>
        <p:spPr>
          <a:xfrm>
            <a:off x="590550" y="1114425"/>
            <a:ext cx="5580697"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E293B"/>
                </a:solidFill>
                <a:latin typeface="Urbanist SemiBold"/>
                <a:ea typeface="Urbanist SemiBold"/>
                <a:cs typeface="Urbanist SemiBold"/>
                <a:sym typeface="Urbanist SemiBold"/>
              </a:rPr>
              <a:t>Key Contributions</a:t>
            </a:r>
            <a:endParaRPr/>
          </a:p>
        </p:txBody>
      </p:sp>
      <p:sp>
        <p:nvSpPr>
          <p:cNvPr id="742" name="Google Shape;742;p39"/>
          <p:cNvSpPr txBox="1"/>
          <p:nvPr/>
        </p:nvSpPr>
        <p:spPr>
          <a:xfrm>
            <a:off x="6286500" y="1114425"/>
            <a:ext cx="5580697"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E293B"/>
                </a:solidFill>
                <a:latin typeface="Urbanist SemiBold"/>
                <a:ea typeface="Urbanist SemiBold"/>
                <a:cs typeface="Urbanist SemiBold"/>
                <a:sym typeface="Urbanist SemiBold"/>
              </a:rPr>
              <a:t>Future Research Directions</a:t>
            </a:r>
            <a:endParaRPr/>
          </a:p>
        </p:txBody>
      </p:sp>
      <p:sp>
        <p:nvSpPr>
          <p:cNvPr id="743" name="Google Shape;743;p39"/>
          <p:cNvSpPr txBox="1"/>
          <p:nvPr/>
        </p:nvSpPr>
        <p:spPr>
          <a:xfrm>
            <a:off x="971550" y="15144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Unified Architecture:</a:t>
            </a:r>
            <a:r>
              <a:rPr lang="en-US" sz="1500" b="0" i="0" u="none" strike="noStrike" cap="none">
                <a:solidFill>
                  <a:srgbClr val="334155"/>
                </a:solidFill>
                <a:latin typeface="Urbanist"/>
                <a:ea typeface="Urbanist"/>
                <a:cs typeface="Urbanist"/>
                <a:sym typeface="Urbanist"/>
              </a:rPr>
              <a:t> Integrating Document AI, Agentic AI, MCP, Guardrails, and SHAP.</a:t>
            </a:r>
            <a:endParaRPr/>
          </a:p>
        </p:txBody>
      </p:sp>
      <p:sp>
        <p:nvSpPr>
          <p:cNvPr id="744" name="Google Shape;744;p39"/>
          <p:cNvSpPr txBox="1"/>
          <p:nvPr/>
        </p:nvSpPr>
        <p:spPr>
          <a:xfrm>
            <a:off x="971550" y="23145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Operational Efficiency:</a:t>
            </a:r>
            <a:r>
              <a:rPr lang="en-US" sz="1500" b="0" i="0" u="none" strike="noStrike" cap="none">
                <a:solidFill>
                  <a:srgbClr val="334155"/>
                </a:solidFill>
                <a:latin typeface="Urbanist"/>
                <a:ea typeface="Urbanist"/>
                <a:cs typeface="Urbanist"/>
                <a:sym typeface="Urbanist"/>
              </a:rPr>
              <a:t> Shrinks assessment loops from days to automated verification cycles.</a:t>
            </a:r>
            <a:endParaRPr/>
          </a:p>
        </p:txBody>
      </p:sp>
      <p:sp>
        <p:nvSpPr>
          <p:cNvPr id="745" name="Google Shape;745;p39"/>
          <p:cNvSpPr txBox="1"/>
          <p:nvPr/>
        </p:nvSpPr>
        <p:spPr>
          <a:xfrm>
            <a:off x="971550" y="31146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Trust &amp; Auditability:</a:t>
            </a:r>
            <a:r>
              <a:rPr lang="en-US" sz="1500" b="0" i="0" u="none" strike="noStrike" cap="none">
                <a:solidFill>
                  <a:srgbClr val="334155"/>
                </a:solidFill>
                <a:latin typeface="Urbanist"/>
                <a:ea typeface="Urbanist"/>
                <a:cs typeface="Urbanist"/>
                <a:sym typeface="Urbanist"/>
              </a:rPr>
              <a:t> Mathematical proof via SHAP and strict Guardrail enforcement.</a:t>
            </a:r>
            <a:endParaRPr/>
          </a:p>
        </p:txBody>
      </p:sp>
      <p:sp>
        <p:nvSpPr>
          <p:cNvPr id="746" name="Google Shape;746;p39"/>
          <p:cNvSpPr txBox="1"/>
          <p:nvPr/>
        </p:nvSpPr>
        <p:spPr>
          <a:xfrm>
            <a:off x="6667500" y="15144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Multi-Jurisdictional Scaling:</a:t>
            </a:r>
            <a:r>
              <a:rPr lang="en-US" sz="1500" b="0" i="0" u="none" strike="noStrike" cap="none">
                <a:solidFill>
                  <a:srgbClr val="334155"/>
                </a:solidFill>
                <a:latin typeface="Urbanist"/>
                <a:ea typeface="Urbanist"/>
                <a:cs typeface="Urbanist"/>
                <a:sym typeface="Urbanist"/>
              </a:rPr>
              <a:t> Extending LRR to monitor FCA (UK) and Fed (US).</a:t>
            </a:r>
            <a:endParaRPr/>
          </a:p>
        </p:txBody>
      </p:sp>
      <p:sp>
        <p:nvSpPr>
          <p:cNvPr id="747" name="Google Shape;747;p39"/>
          <p:cNvSpPr txBox="1"/>
          <p:nvPr/>
        </p:nvSpPr>
        <p:spPr>
          <a:xfrm>
            <a:off x="6667500" y="23145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Advanced Architectures:</a:t>
            </a:r>
            <a:r>
              <a:rPr lang="en-US" sz="1500" b="0" i="0" u="none" strike="noStrike" cap="none">
                <a:solidFill>
                  <a:srgbClr val="334155"/>
                </a:solidFill>
                <a:latin typeface="Urbanist"/>
                <a:ea typeface="Urbanist"/>
                <a:cs typeface="Urbanist"/>
                <a:sym typeface="Urbanist"/>
              </a:rPr>
              <a:t> Meta-learning for adaptive agent behavior.</a:t>
            </a:r>
            <a:endParaRPr/>
          </a:p>
        </p:txBody>
      </p:sp>
      <p:sp>
        <p:nvSpPr>
          <p:cNvPr id="748" name="Google Shape;748;p39"/>
          <p:cNvSpPr txBox="1"/>
          <p:nvPr/>
        </p:nvSpPr>
        <p:spPr>
          <a:xfrm>
            <a:off x="6667500" y="3114675"/>
            <a:ext cx="4933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F172A"/>
                </a:solidFill>
                <a:latin typeface="Urbanist SemiBold"/>
                <a:ea typeface="Urbanist SemiBold"/>
                <a:cs typeface="Urbanist SemiBold"/>
                <a:sym typeface="Urbanist SemiBold"/>
              </a:rPr>
              <a:t>Continuous Learning:</a:t>
            </a:r>
            <a:r>
              <a:rPr lang="en-US" sz="1500" b="0" i="0" u="none" strike="noStrike" cap="none">
                <a:solidFill>
                  <a:srgbClr val="334155"/>
                </a:solidFill>
                <a:latin typeface="Urbanist"/>
                <a:ea typeface="Urbanist"/>
                <a:cs typeface="Urbanist"/>
                <a:sym typeface="Urbanist"/>
              </a:rPr>
              <a:t> Updating vector weights dynamically based on user feedback.</a:t>
            </a:r>
            <a:endParaRPr/>
          </a:p>
        </p:txBody>
      </p:sp>
      <p:sp>
        <p:nvSpPr>
          <p:cNvPr id="749" name="Google Shape;749;p39"/>
          <p:cNvSpPr txBox="1"/>
          <p:nvPr/>
        </p:nvSpPr>
        <p:spPr>
          <a:xfrm>
            <a:off x="590550" y="495300"/>
            <a:ext cx="11561445"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dirty="0" smtClean="0">
                <a:solidFill>
                  <a:srgbClr val="0F172A"/>
                </a:solidFill>
                <a:latin typeface="Urbanist"/>
                <a:ea typeface="Urbanist"/>
                <a:cs typeface="Urbanist"/>
                <a:sym typeface="Urbanist"/>
              </a:rPr>
              <a:t>Future </a:t>
            </a:r>
            <a:r>
              <a:rPr lang="en-US" sz="3000" b="1" i="0" u="none" strike="noStrike" cap="none" dirty="0">
                <a:solidFill>
                  <a:srgbClr val="0F172A"/>
                </a:solidFill>
                <a:latin typeface="Urbanist"/>
                <a:ea typeface="Urbanist"/>
                <a:cs typeface="Urbanist"/>
                <a:sym typeface="Urbanist"/>
              </a:rPr>
              <a:t>Work</a:t>
            </a:r>
            <a:endParaRPr dirty="0"/>
          </a:p>
        </p:txBody>
      </p:sp>
      <p:sp>
        <p:nvSpPr>
          <p:cNvPr id="750" name="Google Shape;750;p39"/>
          <p:cNvSpPr/>
          <p:nvPr/>
        </p:nvSpPr>
        <p:spPr>
          <a:xfrm>
            <a:off x="590550" y="1095375"/>
            <a:ext cx="110109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54"/>
        <p:cNvGrpSpPr/>
        <p:nvPr/>
      </p:nvGrpSpPr>
      <p:grpSpPr>
        <a:xfrm>
          <a:off x="0" y="0"/>
          <a:ext cx="0" cy="0"/>
          <a:chOff x="0" y="0"/>
          <a:chExt cx="0" cy="0"/>
        </a:xfrm>
      </p:grpSpPr>
      <p:pic>
        <p:nvPicPr>
          <p:cNvPr id="755" name="Google Shape;755;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56" name="Google Shape;756;p40" descr="image.png"/>
          <p:cNvPicPr preferRelativeResize="0"/>
          <p:nvPr/>
        </p:nvPicPr>
        <p:blipFill rotWithShape="1">
          <a:blip r:embed="rId4">
            <a:alphaModFix/>
          </a:blip>
          <a:srcRect/>
          <a:stretch/>
        </p:blipFill>
        <p:spPr>
          <a:xfrm>
            <a:off x="2085975" y="3648075"/>
            <a:ext cx="8020050" cy="1759744"/>
          </a:xfrm>
          <a:prstGeom prst="rect">
            <a:avLst/>
          </a:prstGeom>
          <a:noFill/>
          <a:ln>
            <a:noFill/>
          </a:ln>
        </p:spPr>
      </p:pic>
      <p:sp>
        <p:nvSpPr>
          <p:cNvPr id="757" name="Google Shape;757;p40"/>
          <p:cNvSpPr txBox="1"/>
          <p:nvPr/>
        </p:nvSpPr>
        <p:spPr>
          <a:xfrm>
            <a:off x="1885473" y="1674614"/>
            <a:ext cx="8421052" cy="9144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b="1" i="0" u="none" strike="noStrike" cap="none">
                <a:solidFill>
                  <a:srgbClr val="FFFFFF"/>
                </a:solidFill>
                <a:latin typeface="Urbanist"/>
                <a:ea typeface="Urbanist"/>
                <a:cs typeface="Urbanist"/>
                <a:sym typeface="Urbanist"/>
              </a:rPr>
              <a:t>THANK YOU</a:t>
            </a:r>
            <a:endParaRPr/>
          </a:p>
        </p:txBody>
      </p:sp>
      <p:sp>
        <p:nvSpPr>
          <p:cNvPr id="758" name="Google Shape;758;p40"/>
          <p:cNvSpPr txBox="1"/>
          <p:nvPr/>
        </p:nvSpPr>
        <p:spPr>
          <a:xfrm>
            <a:off x="2085975" y="2779514"/>
            <a:ext cx="802005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a:solidFill>
                  <a:srgbClr val="BAE6FD"/>
                </a:solidFill>
                <a:latin typeface="Urbanist Medium"/>
                <a:ea typeface="Urbanist Medium"/>
                <a:cs typeface="Urbanist Medium"/>
                <a:sym typeface="Urbanist Medium"/>
              </a:rPr>
              <a:t>QUESTIONS &amp; DISCUSSION</a:t>
            </a:r>
            <a:endParaRPr/>
          </a:p>
        </p:txBody>
      </p:sp>
      <p:sp>
        <p:nvSpPr>
          <p:cNvPr id="759" name="Google Shape;759;p40"/>
          <p:cNvSpPr txBox="1"/>
          <p:nvPr/>
        </p:nvSpPr>
        <p:spPr>
          <a:xfrm>
            <a:off x="2476500" y="3848100"/>
            <a:ext cx="7239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1" u="none" strike="noStrike" cap="none" dirty="0">
                <a:solidFill>
                  <a:srgbClr val="FFFFFF"/>
                </a:solidFill>
                <a:latin typeface="Urbanist"/>
                <a:ea typeface="Urbanist"/>
                <a:cs typeface="Urbanist"/>
                <a:sym typeface="Urbanist"/>
              </a:rPr>
              <a:t>"AI is most valuable when it is Explainable, Trustworthy, and Responsible."</a:t>
            </a:r>
            <a:endParaRPr dirty="0"/>
          </a:p>
        </p:txBody>
      </p:sp>
      <p:sp>
        <p:nvSpPr>
          <p:cNvPr id="760" name="Google Shape;760;p40"/>
          <p:cNvSpPr txBox="1"/>
          <p:nvPr/>
        </p:nvSpPr>
        <p:spPr>
          <a:xfrm>
            <a:off x="2469356" y="4582864"/>
            <a:ext cx="723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dirty="0" err="1">
                <a:solidFill>
                  <a:srgbClr val="FFFFFF"/>
                </a:solidFill>
                <a:latin typeface="Urbanist"/>
                <a:ea typeface="Urbanist"/>
                <a:cs typeface="Urbanist"/>
                <a:sym typeface="Urbanist"/>
              </a:rPr>
              <a:t>Kattamuri</a:t>
            </a:r>
            <a:r>
              <a:rPr lang="en-US" sz="1500" b="1" i="0" u="none" strike="noStrike" cap="none" dirty="0">
                <a:solidFill>
                  <a:srgbClr val="FFFFFF"/>
                </a:solidFill>
                <a:latin typeface="Urbanist"/>
                <a:ea typeface="Urbanist"/>
                <a:cs typeface="Urbanist"/>
                <a:sym typeface="Urbanist"/>
              </a:rPr>
              <a:t> Sunil Kumar</a:t>
            </a:r>
            <a:endParaRPr dirty="0"/>
          </a:p>
        </p:txBody>
      </p:sp>
      <p:sp>
        <p:nvSpPr>
          <p:cNvPr id="761" name="Google Shape;761;p40"/>
          <p:cNvSpPr txBox="1"/>
          <p:nvPr/>
        </p:nvSpPr>
        <p:spPr>
          <a:xfrm>
            <a:off x="2490788" y="4844802"/>
            <a:ext cx="723900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dirty="0" err="1">
                <a:solidFill>
                  <a:srgbClr val="94A3B8"/>
                </a:solidFill>
                <a:latin typeface="Urbanist"/>
                <a:ea typeface="Urbanist"/>
                <a:cs typeface="Urbanist"/>
                <a:sym typeface="Urbanist"/>
              </a:rPr>
              <a:t>M.Tech</a:t>
            </a:r>
            <a:r>
              <a:rPr lang="en-US" sz="1350" b="0" i="0" u="none" strike="noStrike" cap="none" dirty="0">
                <a:solidFill>
                  <a:srgbClr val="94A3B8"/>
                </a:solidFill>
                <a:latin typeface="Urbanist"/>
                <a:ea typeface="Urbanist"/>
                <a:cs typeface="Urbanist"/>
                <a:sym typeface="Urbanist"/>
              </a:rPr>
              <a:t> (AI &amp; ML) • BITS </a:t>
            </a:r>
            <a:r>
              <a:rPr lang="en-US" sz="1350" b="0" i="0" u="none" strike="noStrike" cap="none" dirty="0" err="1">
                <a:solidFill>
                  <a:srgbClr val="94A3B8"/>
                </a:solidFill>
                <a:latin typeface="Urbanist"/>
                <a:ea typeface="Urbanist"/>
                <a:cs typeface="Urbanist"/>
                <a:sym typeface="Urbanist"/>
              </a:rPr>
              <a:t>Pilani</a:t>
            </a:r>
            <a:r>
              <a:rPr lang="en-US" sz="1350" b="0" i="0" u="none" strike="noStrike" cap="none" dirty="0">
                <a:solidFill>
                  <a:srgbClr val="94A3B8"/>
                </a:solidFill>
                <a:latin typeface="Urbanist"/>
                <a:ea typeface="Urbanist"/>
                <a:cs typeface="Urbanist"/>
                <a:sym typeface="Urbanist"/>
              </a:rPr>
              <a:t> • ID: 2024AA05522</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3654</Words>
  <Application>Microsoft Office PowerPoint</Application>
  <PresentationFormat>Custom</PresentationFormat>
  <Paragraphs>680</Paragraphs>
  <Slides>32</Slides>
  <Notes>32</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32</vt:i4>
      </vt:variant>
    </vt:vector>
  </HeadingPairs>
  <TitlesOfParts>
    <vt:vector size="48" baseType="lpstr">
      <vt:lpstr>Arial</vt:lpstr>
      <vt:lpstr>Urbanist ExtraBold</vt:lpstr>
      <vt:lpstr>Urbanist Medium</vt:lpstr>
      <vt:lpstr>Urbanist</vt:lpstr>
      <vt:lpstr>Calibri</vt:lpstr>
      <vt:lpstr>Poppins</vt:lpstr>
      <vt:lpstr>Inter SemiBold</vt:lpstr>
      <vt:lpstr>Inter</vt:lpstr>
      <vt:lpstr>Poppins SemiBold</vt:lpstr>
      <vt:lpstr>Poppins ExtraBold</vt:lpstr>
      <vt:lpstr>Inter Medium</vt:lpstr>
      <vt:lpstr>Urbanist SemiBold</vt:lpstr>
      <vt:lpstr>Fira Code Medium</vt:lpstr>
      <vt:lpstr>Fira Code</vt:lpstr>
      <vt:lpstr>Fira Code SemiBold</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Sunil Kumar Kattamuri</cp:lastModifiedBy>
  <cp:revision>6</cp:revision>
  <dcterms:modified xsi:type="dcterms:W3CDTF">2026-07-26T15:25:07Z</dcterms:modified>
</cp:coreProperties>
</file>